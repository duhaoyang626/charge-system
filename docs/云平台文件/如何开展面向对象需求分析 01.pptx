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64" r:id="rId4"/>
  </p:sldMasterIdLst>
  <p:notesMasterIdLst>
    <p:notesMasterId r:id="rId10"/>
  </p:notesMasterIdLst>
  <p:handoutMasterIdLst>
    <p:handoutMasterId r:id="rId34"/>
  </p:handoutMasterIdLst>
  <p:sldIdLst>
    <p:sldId id="261" r:id="rId5"/>
    <p:sldId id="263" r:id="rId6"/>
    <p:sldId id="262" r:id="rId7"/>
    <p:sldId id="264" r:id="rId8"/>
    <p:sldId id="266" r:id="rId9"/>
    <p:sldId id="272" r:id="rId11"/>
    <p:sldId id="275" r:id="rId12"/>
    <p:sldId id="276" r:id="rId13"/>
    <p:sldId id="277" r:id="rId14"/>
    <p:sldId id="278" r:id="rId15"/>
    <p:sldId id="279" r:id="rId16"/>
    <p:sldId id="280" r:id="rId17"/>
    <p:sldId id="281" r:id="rId18"/>
    <p:sldId id="273" r:id="rId19"/>
    <p:sldId id="269" r:id="rId20"/>
    <p:sldId id="270" r:id="rId21"/>
    <p:sldId id="271" r:id="rId22"/>
    <p:sldId id="274" r:id="rId23"/>
    <p:sldId id="265" r:id="rId24"/>
    <p:sldId id="295" r:id="rId25"/>
    <p:sldId id="282" r:id="rId26"/>
    <p:sldId id="291" r:id="rId27"/>
    <p:sldId id="283" r:id="rId28"/>
    <p:sldId id="294" r:id="rId29"/>
    <p:sldId id="285" r:id="rId30"/>
    <p:sldId id="288" r:id="rId31"/>
    <p:sldId id="290" r:id="rId32"/>
    <p:sldId id="293" r:id="rId33"/>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08"/>
        <p:guide pos="3803"/>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E44EBE-441B-481F-9A2F-52D8EEBCC3AF}"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6AC9295-AD7A-4408-BD5B-C1A9FF526276}"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6AC9295-AD7A-4408-BD5B-C1A9FF526276}"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A2DC6B7A-D6CD-44A6-B4BE-D387DF76AB1B}" type="datetime1">
              <a:rPr lang="zh-CN" altLang="en-US" smtClean="0"/>
            </a:fld>
            <a:endParaRPr lang="en-US" altLang="zh-CN"/>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US" altLang="zh-CN"/>
              <a:t>© 2014-2018 BUPT TSEG</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D4CBECFB-BAAF-4F60-B969-B6634AA3C49B}" type="slidenum">
              <a:rPr lang="en-US" altLang="zh-CN" smtClean="0"/>
            </a:fld>
            <a:endParaRPr lang="en-US" altLang="zh-CN"/>
          </a:p>
        </p:txBody>
      </p:sp>
      <p:sp>
        <p:nvSpPr>
          <p:cNvPr id="11" name="标题 10"/>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charset="-122"/>
                <a:ea typeface="微软雅黑" panose="020B0503020204020204" charset="-122"/>
              </a:defRPr>
            </a:lvl1pPr>
            <a:lvl2pPr>
              <a:lnSpc>
                <a:spcPct val="100000"/>
              </a:lnSpc>
              <a:spcAft>
                <a:spcPts val="450"/>
              </a:spcAft>
              <a:defRPr sz="2200" baseline="0">
                <a:solidFill>
                  <a:schemeClr val="tx1"/>
                </a:solidFill>
                <a:latin typeface="微软雅黑" panose="020B0503020204020204" charset="-122"/>
                <a:ea typeface="微软雅黑" panose="020B0503020204020204" charset="-122"/>
              </a:defRPr>
            </a:lvl2pPr>
            <a:lvl3pPr>
              <a:lnSpc>
                <a:spcPct val="100000"/>
              </a:lnSpc>
              <a:spcAft>
                <a:spcPts val="450"/>
              </a:spcAft>
              <a:defRPr sz="2000" baseline="0">
                <a:solidFill>
                  <a:schemeClr val="tx1"/>
                </a:solidFill>
                <a:latin typeface="微软雅黑" panose="020B0503020204020204" charset="-122"/>
                <a:ea typeface="微软雅黑" panose="020B0503020204020204" charset="-122"/>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4A36B72C-6881-4DBC-AC71-D6B58B2491DD}" type="datetime1">
              <a:rPr lang="zh-CN" altLang="en-US" smtClean="0"/>
            </a:fld>
            <a:endParaRPr lang="en-US" altLang="zh-CN"/>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US" altLang="zh-CN"/>
              <a:t>© 2014-2018 BUPT TSEG</a:t>
            </a:r>
            <a:endParaRPr lang="en-US" altLang="zh-CN"/>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43E70546-1504-4506-BA88-2CC53EE42F44}" type="slidenum">
              <a:rPr lang="en-US" altLang="zh-CN" smtClean="0"/>
            </a:fld>
            <a:endParaRPr lang="en-US" altLang="zh-CN"/>
          </a:p>
        </p:txBody>
      </p:sp>
      <p:sp>
        <p:nvSpPr>
          <p:cNvPr id="7" name="文本框 6"/>
          <p:cNvSpPr txBox="1"/>
          <p:nvPr/>
        </p:nvSpPr>
        <p:spPr>
          <a:xfrm>
            <a:off x="2" y="1"/>
            <a:ext cx="1019175" cy="646331"/>
          </a:xfrm>
          <a:prstGeom prst="rect">
            <a:avLst/>
          </a:prstGeom>
          <a:noFill/>
        </p:spPr>
        <p:txBody>
          <a:bodyPr wrap="square" rtlCol="0">
            <a:spAutoFit/>
          </a:bodyPr>
          <a:lstStyle/>
          <a:p>
            <a:r>
              <a:rPr lang="en-US" altLang="zh-CN" sz="1800" dirty="0">
                <a:solidFill>
                  <a:schemeClr val="tx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a:solidFill>
                  <a:schemeClr val="tx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tx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tx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0910040-1E61-49D9-ACD5-766D80333E29}"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a:t>© 2014-2018 BUPT TSEG</a:t>
            </a:r>
            <a:endParaRPr lang="en-US" altLang="zh-CN"/>
          </a:p>
        </p:txBody>
      </p:sp>
      <p:sp>
        <p:nvSpPr>
          <p:cNvPr id="7" name="灯片编号占位符 6"/>
          <p:cNvSpPr>
            <a:spLocks noGrp="1"/>
          </p:cNvSpPr>
          <p:nvPr>
            <p:ph type="sldNum" sz="quarter" idx="12"/>
          </p:nvPr>
        </p:nvSpPr>
        <p:spPr/>
        <p:txBody>
          <a:bodyPr/>
          <a:lstStyle/>
          <a:p>
            <a:fld id="{1785D4AB-BEF3-44A7-80A9-70F15845910A}" type="slidenum">
              <a:rPr lang="en-US" altLang="zh-CN" smtClean="0"/>
            </a:fld>
            <a:endParaRPr lang="en-US" altLang="zh-CN"/>
          </a:p>
        </p:txBody>
      </p:sp>
    </p:spTree>
  </p:cSld>
  <p:clrMapOvr>
    <a:masterClrMapping/>
  </p:clrMapOvr>
  <p:transition>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A24DA28-3541-405B-80D3-8DF15E268B4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a:t>© 2014-2018 BUPT TSEG</a:t>
            </a:r>
            <a:endParaRPr lang="en-US" altLang="zh-CN"/>
          </a:p>
        </p:txBody>
      </p:sp>
      <p:sp>
        <p:nvSpPr>
          <p:cNvPr id="9" name="灯片编号占位符 8"/>
          <p:cNvSpPr>
            <a:spLocks noGrp="1"/>
          </p:cNvSpPr>
          <p:nvPr>
            <p:ph type="sldNum" sz="quarter" idx="12"/>
          </p:nvPr>
        </p:nvSpPr>
        <p:spPr/>
        <p:txBody>
          <a:bodyPr/>
          <a:lstStyle/>
          <a:p>
            <a:fld id="{C97E3893-382F-40D2-A136-F7A947AAA86A}" type="slidenum">
              <a:rPr lang="en-US" altLang="zh-CN" smtClean="0"/>
            </a:fld>
            <a:endParaRPr lang="en-US" altLang="zh-CN"/>
          </a:p>
        </p:txBody>
      </p:sp>
    </p:spTree>
  </p:cSld>
  <p:clrMapOvr>
    <a:masterClrMapping/>
  </p:clrMapOvr>
  <p:transition>
    <p:push/>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7D0DD016-A2FD-4897-84DB-14D1F2195E11}"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smtClean="0"/>
              <a:t>© 2014-2018  BUPT TSEG</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83501" y="142153"/>
            <a:ext cx="10334625" cy="645258"/>
          </a:xfrm>
        </p:spPr>
        <p:txBody>
          <a:bodyPr>
            <a:normAutofit/>
          </a:bodyPr>
          <a:lstStyle>
            <a:lvl1pPr algn="r">
              <a:defRPr sz="3200" b="1" baseline="0">
                <a:solidFill>
                  <a:schemeClr val="bg1"/>
                </a:solidFill>
                <a:latin typeface="微软雅黑" panose="020B0503020204020204" charset="-122"/>
                <a:ea typeface="微软雅黑" panose="020B050302020402020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160000" cy="4980840"/>
          </a:xfrm>
        </p:spPr>
        <p:txBody>
          <a:bodyPr/>
          <a:lstStyle>
            <a:lvl1pPr marL="230505" indent="-230505">
              <a:lnSpc>
                <a:spcPct val="100000"/>
              </a:lnSpc>
              <a:spcBef>
                <a:spcPts val="1000"/>
              </a:spcBef>
              <a:spcAft>
                <a:spcPts val="600"/>
              </a:spcAft>
              <a:defRPr baseline="0">
                <a:solidFill>
                  <a:schemeClr val="bg1"/>
                </a:solidFill>
                <a:latin typeface="微软雅黑" panose="020B0503020204020204" charset="-122"/>
                <a:ea typeface="微软雅黑" panose="020B0503020204020204" charset="-122"/>
              </a:defRPr>
            </a:lvl1pPr>
            <a:lvl2pPr marL="687705" indent="-230505">
              <a:lnSpc>
                <a:spcPct val="100000"/>
              </a:lnSpc>
              <a:spcBef>
                <a:spcPts val="500"/>
              </a:spcBef>
              <a:spcAft>
                <a:spcPts val="600"/>
              </a:spcAft>
              <a:defRPr baseline="0">
                <a:solidFill>
                  <a:schemeClr val="bg1"/>
                </a:solidFill>
                <a:latin typeface="微软雅黑" panose="020B0503020204020204" charset="-122"/>
                <a:ea typeface="微软雅黑" panose="020B0503020204020204" charset="-122"/>
              </a:defRPr>
            </a:lvl2pPr>
            <a:lvl3pPr marL="1144905" indent="-230505">
              <a:lnSpc>
                <a:spcPct val="100000"/>
              </a:lnSpc>
              <a:spcBef>
                <a:spcPts val="500"/>
              </a:spcBef>
              <a:spcAft>
                <a:spcPts val="600"/>
              </a:spcAft>
              <a:defRPr baseline="0">
                <a:solidFill>
                  <a:schemeClr val="bg1"/>
                </a:solidFill>
                <a:latin typeface="微软雅黑" panose="020B0503020204020204" charset="-122"/>
                <a:ea typeface="微软雅黑" panose="020B050302020402020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3"/>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EC1AA1E8-9D7C-424B-B8AC-A6CDA4BD12E4}" type="datetime1">
              <a:rPr lang="zh-CN" altLang="en-US" smtClean="0"/>
            </a:fld>
            <a:endParaRPr lang="zh-CN" altLang="en-US" dirty="0"/>
          </a:p>
        </p:txBody>
      </p:sp>
      <p:sp>
        <p:nvSpPr>
          <p:cNvPr id="5" name="页脚占位符 4"/>
          <p:cNvSpPr>
            <a:spLocks noGrp="1"/>
          </p:cNvSpPr>
          <p:nvPr>
            <p:ph type="ftr" sz="quarter" idx="11"/>
          </p:nvPr>
        </p:nvSpPr>
        <p:spPr>
          <a:xfrm>
            <a:off x="4129087" y="6356353"/>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7" name="文本框 6"/>
          <p:cNvSpPr txBox="1"/>
          <p:nvPr/>
        </p:nvSpPr>
        <p:spPr>
          <a:xfrm>
            <a:off x="1" y="44624"/>
            <a:ext cx="1391476" cy="525144"/>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236B65A-D005-4ED4-BBC3-8BD7D34EC9AF}" type="datetime1">
              <a:rPr lang="zh-CN" altLang="en-US" smtClean="0"/>
            </a:fld>
            <a:endParaRPr lang="zh-CN" altLang="en-US"/>
          </a:p>
        </p:txBody>
      </p:sp>
      <p:sp>
        <p:nvSpPr>
          <p:cNvPr id="6" name="页脚占位符 5"/>
          <p:cNvSpPr>
            <a:spLocks noGrp="1"/>
          </p:cNvSpPr>
          <p:nvPr>
            <p:ph type="ftr" sz="quarter" idx="11"/>
          </p:nvPr>
        </p:nvSpPr>
        <p:spPr/>
        <p:txBody>
          <a:bodyPr/>
          <a:lstStyle/>
          <a:p>
            <a:pPr>
              <a:defRPr/>
            </a:pPr>
            <a:r>
              <a:rPr lang="en-GB" altLang="en-US" smtClean="0"/>
              <a:t>© 2014-2018  BUPT TSEG</a:t>
            </a:r>
            <a:endParaRPr lang="zh-CN" altLang="en-US"/>
          </a:p>
        </p:txBody>
      </p:sp>
      <p:sp>
        <p:nvSpPr>
          <p:cNvPr id="7" name="灯片编号占位符 6"/>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2"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798FA98-60F2-4D52-85D0-0B459AC1CD80}" type="datetime1">
              <a:rPr lang="zh-CN" altLang="en-US" smtClean="0"/>
            </a:fld>
            <a:endParaRPr lang="zh-CN" altLang="en-US"/>
          </a:p>
        </p:txBody>
      </p:sp>
      <p:sp>
        <p:nvSpPr>
          <p:cNvPr id="8" name="页脚占位符 7"/>
          <p:cNvSpPr>
            <a:spLocks noGrp="1"/>
          </p:cNvSpPr>
          <p:nvPr>
            <p:ph type="ftr" sz="quarter" idx="11"/>
          </p:nvPr>
        </p:nvSpPr>
        <p:spPr/>
        <p:txBody>
          <a:bodyPr/>
          <a:lstStyle/>
          <a:p>
            <a:pPr>
              <a:defRPr/>
            </a:pPr>
            <a:r>
              <a:rPr lang="en-GB" altLang="en-US" smtClean="0"/>
              <a:t>© 2014-2018  BUPT TSEG</a:t>
            </a:r>
            <a:endParaRPr lang="zh-CN" altLang="en-US"/>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63600" y="1409700"/>
            <a:ext cx="11125200" cy="4856163"/>
          </a:xfrm>
        </p:spPr>
        <p:txBody>
          <a:bodyPr/>
          <a:lstStyle/>
          <a:p>
            <a:pPr lvl="0"/>
            <a:endParaRPr lang="zh-CN" altLang="en-US" noProof="0" smtClean="0"/>
          </a:p>
        </p:txBody>
      </p:sp>
      <p:sp>
        <p:nvSpPr>
          <p:cNvPr id="4"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636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278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E6739BF-C30C-4A35-8BEC-D7EF64F81437}" type="datetime1">
              <a:rPr lang="zh-CN" altLang="en-US" smtClean="0"/>
            </a:fld>
            <a:endParaRPr lang="en-US" altLang="zh-CN"/>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a:t>© 2014-2018 BUPT TSEG</a:t>
            </a:r>
            <a:endParaRPr lang="en-US" altLang="zh-CN"/>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8F36B6-E69B-46DC-BD69-409530B6DB32}"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4"/>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F001E572-FABF-468E-90CB-9DE2B2402BFC}" type="datetime1">
              <a:rPr lang="zh-CN" altLang="en-US" smtClean="0"/>
            </a:fld>
            <a:endParaRPr lang="zh-CN" altLang="en-US" dirty="0"/>
          </a:p>
        </p:txBody>
      </p:sp>
      <p:sp>
        <p:nvSpPr>
          <p:cNvPr id="5" name="页脚占位符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emf"/><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slideLayout" Target="../slideLayouts/slideLayout2.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8.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6.xml"/><Relationship Id="rId2" Type="http://schemas.openxmlformats.org/officeDocument/2006/relationships/image" Target="../media/image10.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fontScale="90000"/>
          </a:bodyPr>
          <a:p>
            <a:r>
              <a:rPr lang="zh-CN" altLang="en-US" sz="4400">
                <a:effectLst/>
                <a:latin typeface="微软雅黑" panose="020B0503020204020204" charset="-122"/>
                <a:ea typeface="微软雅黑" panose="020B0503020204020204" charset="-122"/>
                <a:cs typeface="微软雅黑" panose="020B0503020204020204" charset="-122"/>
              </a:rPr>
              <a:t>如何开展</a:t>
            </a:r>
            <a:br>
              <a:rPr lang="zh-CN" altLang="en-US">
                <a:effectLst/>
                <a:latin typeface="微软雅黑" panose="020B0503020204020204" charset="-122"/>
                <a:ea typeface="微软雅黑" panose="020B0503020204020204" charset="-122"/>
                <a:cs typeface="微软雅黑" panose="020B0503020204020204" charset="-122"/>
              </a:rPr>
            </a:br>
            <a:r>
              <a:rPr lang="zh-CN" altLang="en-US" sz="6600" b="1">
                <a:effectLst/>
                <a:latin typeface="微软雅黑" panose="020B0503020204020204" charset="-122"/>
                <a:ea typeface="微软雅黑" panose="020B0503020204020204" charset="-122"/>
                <a:cs typeface="微软雅黑" panose="020B0503020204020204" charset="-122"/>
              </a:rPr>
              <a:t>面向对象需求分析</a:t>
            </a:r>
            <a:endParaRPr lang="zh-CN" altLang="en-US" sz="6600" b="1">
              <a:effectLst/>
              <a:latin typeface="微软雅黑" panose="020B0503020204020204" charset="-122"/>
              <a:ea typeface="微软雅黑" panose="020B0503020204020204" charset="-122"/>
              <a:cs typeface="微软雅黑" panose="020B0503020204020204" charset="-122"/>
            </a:endParaRPr>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7392670" y="2699385"/>
            <a:ext cx="4464685" cy="40322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nvPr>
        </p:nvSpPr>
        <p:spPr>
          <a:xfrm>
            <a:off x="467995" y="258445"/>
            <a:ext cx="10695305" cy="721995"/>
          </a:xfrm>
        </p:spPr>
        <p:txBody>
          <a:bodyPr>
            <a:normAutofit/>
          </a:bodyPr>
          <a:lstStyle/>
          <a:p>
            <a:r>
              <a:rPr lang="zh-CN" altLang="en-US" sz="3200" dirty="0" smtClean="0">
                <a:effectLst/>
              </a:rPr>
              <a:t>需求分析之前的活动</a:t>
            </a:r>
            <a:endParaRPr lang="zh-CN" altLang="en-US" sz="3200" dirty="0" smtClean="0">
              <a:effectLst/>
            </a:endParaRPr>
          </a:p>
        </p:txBody>
      </p:sp>
      <p:sp>
        <p:nvSpPr>
          <p:cNvPr id="3" name="内容占位符 2"/>
          <p:cNvSpPr>
            <a:spLocks noGrp="1"/>
          </p:cNvSpPr>
          <p:nvPr>
            <p:ph idx="1"/>
          </p:nvPr>
        </p:nvSpPr>
        <p:spPr>
          <a:xfrm>
            <a:off x="467995" y="1188085"/>
            <a:ext cx="6431280" cy="5039995"/>
          </a:xfrm>
        </p:spPr>
        <p:txBody>
          <a:bodyPr/>
          <a:lstStyle/>
          <a:p>
            <a:r>
              <a:rPr lang="zh-CN" altLang="en-US" sz="2800" dirty="0" smtClean="0">
                <a:latin typeface="微软雅黑" panose="020B0503020204020204" charset="-122"/>
                <a:ea typeface="微软雅黑" panose="020B0503020204020204" charset="-122"/>
                <a:cs typeface="微软雅黑" panose="020B0503020204020204" charset="-122"/>
              </a:rPr>
              <a:t>软件的</a:t>
            </a:r>
            <a:r>
              <a:rPr lang="en-US" altLang="zh-CN" sz="2800" dirty="0" smtClean="0">
                <a:latin typeface="微软雅黑" panose="020B0503020204020204" charset="-122"/>
                <a:ea typeface="微软雅黑" panose="020B0503020204020204" charset="-122"/>
                <a:cs typeface="微软雅黑" panose="020B0503020204020204" charset="-122"/>
              </a:rPr>
              <a:t>“</a:t>
            </a:r>
            <a:r>
              <a:rPr lang="zh-CN" altLang="en-US" sz="2800" dirty="0" smtClean="0">
                <a:latin typeface="微软雅黑" panose="020B0503020204020204" charset="-122"/>
                <a:ea typeface="微软雅黑" panose="020B0503020204020204" charset="-122"/>
                <a:cs typeface="微软雅黑" panose="020B0503020204020204" charset="-122"/>
                <a:sym typeface="+mn-ea"/>
              </a:rPr>
              <a:t>系统分析</a:t>
            </a:r>
            <a:r>
              <a:rPr lang="en-US" altLang="zh-CN" sz="2800" dirty="0" smtClean="0">
                <a:latin typeface="微软雅黑" panose="020B0503020204020204" charset="-122"/>
                <a:ea typeface="微软雅黑" panose="020B0503020204020204" charset="-122"/>
                <a:cs typeface="微软雅黑" panose="020B0503020204020204" charset="-122"/>
              </a:rPr>
              <a:t>”</a:t>
            </a:r>
            <a:endParaRPr lang="en-US" altLang="zh-CN" sz="28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a:latin typeface="微软雅黑" panose="020B0503020204020204" charset="-122"/>
                <a:ea typeface="微软雅黑" panose="020B0503020204020204" charset="-122"/>
                <a:cs typeface="微软雅黑" panose="020B0503020204020204" charset="-122"/>
              </a:rPr>
              <a:t>预</a:t>
            </a:r>
            <a:r>
              <a:rPr lang="zh-CN" altLang="en-US" sz="2400" dirty="0" smtClean="0">
                <a:latin typeface="微软雅黑" panose="020B0503020204020204" charset="-122"/>
                <a:ea typeface="微软雅黑" panose="020B0503020204020204" charset="-122"/>
                <a:cs typeface="微软雅黑" panose="020B0503020204020204" charset="-122"/>
              </a:rPr>
              <a:t>研（</a:t>
            </a:r>
            <a:r>
              <a:rPr lang="en-US" altLang="zh-CN" sz="2400" dirty="0" smtClean="0">
                <a:latin typeface="微软雅黑" panose="020B0503020204020204" charset="-122"/>
                <a:ea typeface="微软雅黑" panose="020B0503020204020204" charset="-122"/>
                <a:cs typeface="微软雅黑" panose="020B0503020204020204" charset="-122"/>
              </a:rPr>
              <a:t>Pre-study</a:t>
            </a:r>
            <a:r>
              <a:rPr lang="zh-CN" altLang="en-US" sz="2400" dirty="0" smtClean="0">
                <a:latin typeface="微软雅黑" panose="020B0503020204020204" charset="-122"/>
                <a:ea typeface="微软雅黑" panose="020B0503020204020204" charset="-122"/>
                <a:cs typeface="微软雅黑" panose="020B0503020204020204" charset="-122"/>
              </a:rPr>
              <a:t>）</a:t>
            </a:r>
            <a:r>
              <a:rPr lang="en-US" altLang="zh-CN" sz="2400" dirty="0" smtClean="0">
                <a:latin typeface="微软雅黑" panose="020B0503020204020204" charset="-122"/>
                <a:ea typeface="微软雅黑" panose="020B0503020204020204" charset="-122"/>
                <a:cs typeface="微软雅黑" panose="020B0503020204020204" charset="-122"/>
              </a:rPr>
              <a:t>:</a:t>
            </a:r>
            <a:r>
              <a:rPr lang="zh-CN" altLang="en-US" sz="2400" dirty="0" smtClean="0">
                <a:latin typeface="微软雅黑" panose="020B0503020204020204" charset="-122"/>
                <a:ea typeface="微软雅黑" panose="020B0503020204020204" charset="-122"/>
                <a:cs typeface="微软雅黑" panose="020B0503020204020204" charset="-122"/>
              </a:rPr>
              <a:t>主要探索软件项目的目标、市场预期、主要的技术指标等，用于帮助决策者做出是否进行软件项目立项的决定。</a:t>
            </a:r>
            <a:endParaRPr lang="en-US" altLang="zh-CN" sz="24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smtClean="0">
                <a:latin typeface="微软雅黑" panose="020B0503020204020204" charset="-122"/>
                <a:ea typeface="微软雅黑" panose="020B0503020204020204" charset="-122"/>
                <a:cs typeface="微软雅黑" panose="020B0503020204020204" charset="-122"/>
              </a:rPr>
              <a:t>可行性分析（</a:t>
            </a:r>
            <a:r>
              <a:rPr lang="en-US" altLang="zh-CN" sz="2400" dirty="0" smtClean="0">
                <a:latin typeface="微软雅黑" panose="020B0503020204020204" charset="-122"/>
                <a:ea typeface="微软雅黑" panose="020B0503020204020204" charset="-122"/>
                <a:cs typeface="微软雅黑" panose="020B0503020204020204" charset="-122"/>
              </a:rPr>
              <a:t>Feasibility-study</a:t>
            </a:r>
            <a:r>
              <a:rPr lang="zh-CN" altLang="en-US" sz="2400" dirty="0" smtClean="0">
                <a:latin typeface="微软雅黑" panose="020B0503020204020204" charset="-122"/>
                <a:ea typeface="微软雅黑" panose="020B0503020204020204" charset="-122"/>
                <a:cs typeface="微软雅黑" panose="020B0503020204020204" charset="-122"/>
              </a:rPr>
              <a:t>）</a:t>
            </a:r>
            <a:r>
              <a:rPr lang="en-US" altLang="zh-CN" sz="2400" dirty="0" smtClean="0">
                <a:latin typeface="微软雅黑" panose="020B0503020204020204" charset="-122"/>
                <a:ea typeface="微软雅黑" panose="020B0503020204020204" charset="-122"/>
                <a:cs typeface="微软雅黑" panose="020B0503020204020204" charset="-122"/>
              </a:rPr>
              <a:t>:</a:t>
            </a:r>
            <a:r>
              <a:rPr lang="zh-CN" altLang="en-US" sz="2400" dirty="0" smtClean="0">
                <a:latin typeface="微软雅黑" panose="020B0503020204020204" charset="-122"/>
                <a:ea typeface="微软雅黑" panose="020B0503020204020204" charset="-122"/>
                <a:cs typeface="微软雅黑" panose="020B0503020204020204" charset="-122"/>
              </a:rPr>
              <a:t>针对项目的目标和范围进行概要的分析和研究，探索问题域中的核心问题及其相应的解决方案，进一步为决策者提供经济、技术甚至是法律上可行性的分析报告。</a:t>
            </a:r>
            <a:endParaRPr lang="en-US" altLang="zh-CN" sz="2400" dirty="0" smtClean="0">
              <a:latin typeface="微软雅黑" panose="020B0503020204020204" charset="-122"/>
              <a:ea typeface="微软雅黑" panose="020B0503020204020204" charset="-122"/>
              <a:cs typeface="微软雅黑" panose="020B0503020204020204" charset="-122"/>
            </a:endParaRPr>
          </a:p>
        </p:txBody>
      </p:sp>
      <p:graphicFrame>
        <p:nvGraphicFramePr>
          <p:cNvPr id="28679" name="对象 2"/>
          <p:cNvGraphicFramePr>
            <a:graphicFrameLocks noChangeAspect="1"/>
          </p:cNvGraphicFramePr>
          <p:nvPr/>
        </p:nvGraphicFramePr>
        <p:xfrm>
          <a:off x="8040370" y="981075"/>
          <a:ext cx="2747645" cy="1618615"/>
        </p:xfrm>
        <a:graphic>
          <a:graphicData uri="http://schemas.openxmlformats.org/presentationml/2006/ole">
            <mc:AlternateContent xmlns:mc="http://schemas.openxmlformats.org/markup-compatibility/2006">
              <mc:Choice xmlns:v="urn:schemas-microsoft-com:vml" Requires="v">
                <p:oleObj spid="_x0000_s28791" name="Visio" r:id="rId1" imgW="7023100" imgH="4140200" progId="Visio.Drawing.11">
                  <p:embed/>
                </p:oleObj>
              </mc:Choice>
              <mc:Fallback>
                <p:oleObj name="Visio" r:id="rId1" imgW="7023100" imgH="41402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370" y="981075"/>
                        <a:ext cx="2747645" cy="1618615"/>
                      </a:xfrm>
                      <a:prstGeom prst="rect">
                        <a:avLst/>
                      </a:prstGeom>
                      <a:noFill/>
                      <a:ln>
                        <a:noFill/>
                      </a:ln>
                    </p:spPr>
                  </p:pic>
                </p:oleObj>
              </mc:Fallback>
            </mc:AlternateContent>
          </a:graphicData>
        </a:graphic>
      </p:graphicFrame>
      <p:graphicFrame>
        <p:nvGraphicFramePr>
          <p:cNvPr id="10" name="Object 4"/>
          <p:cNvGraphicFramePr>
            <a:graphicFrameLocks noChangeAspect="1"/>
          </p:cNvGraphicFramePr>
          <p:nvPr/>
        </p:nvGraphicFramePr>
        <p:xfrm>
          <a:off x="7555230" y="2994025"/>
          <a:ext cx="4079240" cy="3484245"/>
        </p:xfrm>
        <a:graphic>
          <a:graphicData uri="http://schemas.openxmlformats.org/presentationml/2006/ole">
            <mc:AlternateContent xmlns:mc="http://schemas.openxmlformats.org/markup-compatibility/2006">
              <mc:Choice xmlns:v="urn:schemas-microsoft-com:vml" Requires="v">
                <p:oleObj spid="_x0000_s53349" name="Visio" r:id="rId3" imgW="5351145" imgH="4572000" progId="Visio.Drawing.11">
                  <p:embed/>
                </p:oleObj>
              </mc:Choice>
              <mc:Fallback>
                <p:oleObj name="Visio" r:id="rId3" imgW="5351145" imgH="4572000" progId="Visio.Drawing.11">
                  <p:embed/>
                  <p:pic>
                    <p:nvPicPr>
                      <p:cNvPr id="0" name="图片 533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230" y="2994025"/>
                        <a:ext cx="4079240" cy="3484245"/>
                      </a:xfrm>
                      <a:prstGeom prst="rect">
                        <a:avLst/>
                      </a:prstGeom>
                      <a:noFill/>
                      <a:ln>
                        <a:noFill/>
                      </a:ln>
                    </p:spPr>
                  </p:pic>
                </p:oleObj>
              </mc:Fallback>
            </mc:AlternateContent>
          </a:graphicData>
        </a:graphic>
      </p:graphicFrame>
      <p:sp>
        <p:nvSpPr>
          <p:cNvPr id="4" name="文本框 3"/>
          <p:cNvSpPr txBox="1"/>
          <p:nvPr/>
        </p:nvSpPr>
        <p:spPr>
          <a:xfrm>
            <a:off x="7626985" y="2200910"/>
            <a:ext cx="4064000" cy="398780"/>
          </a:xfrm>
          <a:prstGeom prst="rect">
            <a:avLst/>
          </a:prstGeom>
          <a:noFill/>
        </p:spPr>
        <p:txBody>
          <a:bodyPr wrap="square" rtlCol="0">
            <a:spAutoFit/>
          </a:bodyPr>
          <a:p>
            <a:r>
              <a:rPr lang="zh-CN" altLang="en-US">
                <a:solidFill>
                  <a:schemeClr val="tx1"/>
                </a:solidFill>
                <a:latin typeface="微软雅黑" panose="020B0503020204020204" charset="-122"/>
                <a:ea typeface="微软雅黑" panose="020B0503020204020204" charset="-122"/>
              </a:rPr>
              <a:t>瀑布模型</a:t>
            </a:r>
            <a:endParaRPr lang="zh-CN" altLang="en-US">
              <a:solidFill>
                <a:schemeClr val="tx1"/>
              </a:solidFill>
              <a:latin typeface="微软雅黑" panose="020B0503020204020204" charset="-122"/>
              <a:ea typeface="微软雅黑" panose="020B0503020204020204" charset="-122"/>
            </a:endParaRPr>
          </a:p>
        </p:txBody>
      </p:sp>
      <p:sp>
        <p:nvSpPr>
          <p:cNvPr id="5" name="文本框 4"/>
          <p:cNvSpPr txBox="1"/>
          <p:nvPr/>
        </p:nvSpPr>
        <p:spPr>
          <a:xfrm>
            <a:off x="7463790" y="6309360"/>
            <a:ext cx="4064000" cy="398780"/>
          </a:xfrm>
          <a:prstGeom prst="rect">
            <a:avLst/>
          </a:prstGeom>
          <a:noFill/>
        </p:spPr>
        <p:txBody>
          <a:bodyPr wrap="square" rtlCol="0">
            <a:spAutoFit/>
          </a:bodyPr>
          <a:p>
            <a:r>
              <a:rPr lang="zh-CN" altLang="en-US">
                <a:solidFill>
                  <a:schemeClr val="tx1"/>
                </a:solidFill>
                <a:latin typeface="微软雅黑" panose="020B0503020204020204" charset="-122"/>
                <a:ea typeface="微软雅黑" panose="020B0503020204020204" charset="-122"/>
              </a:rPr>
              <a:t>快速原型模型</a:t>
            </a:r>
            <a:endParaRPr lang="zh-CN" altLang="en-US">
              <a:solidFill>
                <a:schemeClr val="tx1"/>
              </a:solidFill>
              <a:latin typeface="微软雅黑" panose="020B0503020204020204" charset="-122"/>
              <a:ea typeface="微软雅黑" panose="020B0503020204020204" charset="-122"/>
            </a:endParaRPr>
          </a:p>
        </p:txBody>
      </p:sp>
      <p:sp>
        <p:nvSpPr>
          <p:cNvPr id="6" name="矩形 5"/>
          <p:cNvSpPr/>
          <p:nvPr/>
        </p:nvSpPr>
        <p:spPr>
          <a:xfrm>
            <a:off x="7823835" y="836930"/>
            <a:ext cx="1296670" cy="720090"/>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10652125" y="2924175"/>
            <a:ext cx="1038860" cy="1080770"/>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1233805" y="4944745"/>
            <a:ext cx="5578475" cy="596265"/>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lnSpc>
                <a:spcPct val="100000"/>
              </a:lnSpc>
            </a:pPr>
            <a:r>
              <a:rPr lang="zh-CN" altLang="en-US" sz="2000" b="1" smtClean="0">
                <a:solidFill>
                  <a:schemeClr val="bg1"/>
                </a:solidFill>
                <a:latin typeface="微软雅黑" panose="020B0503020204020204" charset="-122"/>
                <a:ea typeface="微软雅黑" panose="020B0503020204020204" charset="-122"/>
                <a:cs typeface="微软雅黑" panose="020B0503020204020204" charset="-122"/>
                <a:sym typeface="+mn-ea"/>
              </a:rPr>
              <a:t>可行性分析：经济、技术、法律、方案</a:t>
            </a:r>
            <a:endParaRPr lang="zh-CN" altLang="en-US" sz="2000" b="1"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 name="矩形 10"/>
          <p:cNvSpPr/>
          <p:nvPr/>
        </p:nvSpPr>
        <p:spPr>
          <a:xfrm>
            <a:off x="1233805" y="5621020"/>
            <a:ext cx="5578475" cy="596265"/>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lnSpc>
                <a:spcPct val="100000"/>
              </a:lnSpc>
            </a:pPr>
            <a:r>
              <a:rPr lang="zh-CN" altLang="en-US" sz="2000" b="1" smtClean="0">
                <a:solidFill>
                  <a:schemeClr val="bg1"/>
                </a:solidFill>
                <a:latin typeface="微软雅黑" panose="020B0503020204020204" charset="-122"/>
                <a:ea typeface="微软雅黑" panose="020B0503020204020204" charset="-122"/>
                <a:cs typeface="微软雅黑" panose="020B0503020204020204" charset="-122"/>
                <a:sym typeface="+mn-ea"/>
              </a:rPr>
              <a:t>产出物：实施计划、可行性研究报告</a:t>
            </a:r>
            <a:endParaRPr lang="zh-CN" altLang="en-US" sz="2000" b="1"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push/>
  </p:transition>
  <p:timing>
    <p:tnLst>
      <p:par>
        <p:cTn id="1" dur="indefinite" restart="never" nodeType="tmRoot"/>
      </p:par>
    </p:tnLst>
    <p:bldLst>
      <p:bldP spid="9" grpId="1" animBg="1"/>
      <p:bldP spid="1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sz="3600">
                <a:effectLst/>
                <a:latin typeface="微软雅黑" panose="020B0503020204020204" charset="-122"/>
                <a:ea typeface="微软雅黑" panose="020B0503020204020204" charset="-122"/>
                <a:sym typeface="+mn-ea"/>
              </a:rPr>
              <a:t>需求</a:t>
            </a:r>
            <a:r>
              <a:rPr lang="zh-CN" altLang="en-US" sz="3600">
                <a:effectLst/>
                <a:latin typeface="微软雅黑" panose="020B0503020204020204" charset="-122"/>
                <a:ea typeface="微软雅黑" panose="020B0503020204020204" charset="-122"/>
                <a:sym typeface="+mn-ea"/>
              </a:rPr>
              <a:t>工程</a:t>
            </a:r>
            <a:endParaRPr lang="zh-CN" altLang="en-US" sz="3600">
              <a:effectLst/>
              <a:latin typeface="微软雅黑" panose="020B0503020204020204" charset="-122"/>
              <a:ea typeface="微软雅黑" panose="020B0503020204020204" charset="-122"/>
              <a:sym typeface="+mn-ea"/>
            </a:endParaRPr>
          </a:p>
        </p:txBody>
      </p:sp>
      <p:sp>
        <p:nvSpPr>
          <p:cNvPr id="4" name="内容占位符 3"/>
          <p:cNvSpPr>
            <a:spLocks noGrp="1"/>
          </p:cNvSpPr>
          <p:nvPr>
            <p:ph idx="1"/>
          </p:nvPr>
        </p:nvSpPr>
        <p:spPr>
          <a:xfrm>
            <a:off x="647700" y="1471930"/>
            <a:ext cx="10515600" cy="4705350"/>
          </a:xfrm>
        </p:spPr>
        <p:txBody>
          <a:bodyPr/>
          <a:p>
            <a:r>
              <a:rPr lang="zh-CN" altLang="en-US" sz="2400" dirty="0">
                <a:latin typeface="微软雅黑" panose="020B0503020204020204" charset="-122"/>
                <a:ea typeface="微软雅黑" panose="020B0503020204020204" charset="-122"/>
                <a:sym typeface="+mn-ea"/>
              </a:rPr>
              <a:t>软件的需求分析是一系列复杂的软件工程活动，为了便于对需求进行更好的管理，人们把所有与需求直接相关的活动通称为需求工程。</a:t>
            </a:r>
            <a:endParaRPr lang="zh-CN" altLang="en-US" sz="2400" dirty="0">
              <a:latin typeface="微软雅黑" panose="020B0503020204020204" charset="-122"/>
              <a:ea typeface="微软雅黑" panose="020B0503020204020204" charset="-122"/>
            </a:endParaRPr>
          </a:p>
        </p:txBody>
      </p:sp>
      <p:grpSp>
        <p:nvGrpSpPr>
          <p:cNvPr id="5" name="组合 4"/>
          <p:cNvGrpSpPr/>
          <p:nvPr>
            <p:custDataLst>
              <p:tags r:id="rId1"/>
            </p:custDataLst>
          </p:nvPr>
        </p:nvGrpSpPr>
        <p:grpSpPr>
          <a:xfrm>
            <a:off x="1385512" y="2444372"/>
            <a:ext cx="9324976" cy="3743822"/>
            <a:chOff x="2208214" y="3284538"/>
            <a:chExt cx="8135937" cy="3024188"/>
          </a:xfrm>
        </p:grpSpPr>
        <p:sp>
          <p:nvSpPr>
            <p:cNvPr id="17413" name="Text Box 44"/>
            <p:cNvSpPr txBox="1">
              <a:spLocks noChangeArrowheads="1"/>
            </p:cNvSpPr>
            <p:nvPr>
              <p:custDataLst>
                <p:tags r:id="rId2"/>
              </p:custDataLst>
            </p:nvPr>
          </p:nvSpPr>
          <p:spPr bwMode="auto">
            <a:xfrm>
              <a:off x="4889501" y="3284538"/>
              <a:ext cx="3025775" cy="436562"/>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latin typeface="微软雅黑" panose="020B0503020204020204" charset="-122"/>
                  <a:ea typeface="微软雅黑" panose="020B0503020204020204" charset="-122"/>
                </a:rPr>
                <a:t>需求工程</a:t>
              </a:r>
              <a:endParaRPr lang="zh-CN" altLang="en-US" sz="1400" b="1">
                <a:latin typeface="微软雅黑" panose="020B0503020204020204" charset="-122"/>
                <a:ea typeface="微软雅黑" panose="020B0503020204020204" charset="-122"/>
              </a:endParaRPr>
            </a:p>
          </p:txBody>
        </p:sp>
        <p:sp>
          <p:nvSpPr>
            <p:cNvPr id="17414" name="Text Box 45"/>
            <p:cNvSpPr txBox="1">
              <a:spLocks noChangeArrowheads="1"/>
            </p:cNvSpPr>
            <p:nvPr>
              <p:custDataLst>
                <p:tags r:id="rId3"/>
              </p:custDataLst>
            </p:nvPr>
          </p:nvSpPr>
          <p:spPr bwMode="auto">
            <a:xfrm>
              <a:off x="4151314" y="3933826"/>
              <a:ext cx="1717675" cy="493713"/>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latin typeface="微软雅黑" panose="020B0503020204020204" charset="-122"/>
                  <a:ea typeface="微软雅黑" panose="020B0503020204020204" charset="-122"/>
                </a:rPr>
                <a:t>需求开发</a:t>
              </a:r>
              <a:endParaRPr lang="zh-CN" altLang="en-US" sz="1400" b="1">
                <a:latin typeface="微软雅黑" panose="020B0503020204020204" charset="-122"/>
                <a:ea typeface="微软雅黑" panose="020B0503020204020204" charset="-122"/>
              </a:endParaRPr>
            </a:p>
          </p:txBody>
        </p:sp>
        <p:sp>
          <p:nvSpPr>
            <p:cNvPr id="17415" name="Text Box 46"/>
            <p:cNvSpPr txBox="1">
              <a:spLocks noChangeArrowheads="1"/>
            </p:cNvSpPr>
            <p:nvPr>
              <p:custDataLst>
                <p:tags r:id="rId4"/>
              </p:custDataLst>
            </p:nvPr>
          </p:nvSpPr>
          <p:spPr bwMode="auto">
            <a:xfrm>
              <a:off x="6686550" y="5797551"/>
              <a:ext cx="1227138" cy="436563"/>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需求变更控制</a:t>
              </a:r>
              <a:endParaRPr lang="zh-CN" altLang="en-US" sz="1200" b="1">
                <a:latin typeface="微软雅黑" panose="020B0503020204020204" charset="-122"/>
                <a:ea typeface="微软雅黑" panose="020B0503020204020204" charset="-122"/>
              </a:endParaRPr>
            </a:p>
          </p:txBody>
        </p:sp>
        <p:sp>
          <p:nvSpPr>
            <p:cNvPr id="17416" name="Text Box 47"/>
            <p:cNvSpPr txBox="1">
              <a:spLocks noChangeArrowheads="1"/>
            </p:cNvSpPr>
            <p:nvPr>
              <p:custDataLst>
                <p:tags r:id="rId5"/>
              </p:custDataLst>
            </p:nvPr>
          </p:nvSpPr>
          <p:spPr bwMode="auto">
            <a:xfrm>
              <a:off x="6932614" y="3933825"/>
              <a:ext cx="1635125" cy="488950"/>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latin typeface="微软雅黑" panose="020B0503020204020204" charset="-122"/>
                  <a:ea typeface="微软雅黑" panose="020B0503020204020204" charset="-122"/>
                </a:rPr>
                <a:t>需求管理</a:t>
              </a:r>
              <a:endParaRPr lang="zh-CN" altLang="en-US" sz="1400" b="1">
                <a:latin typeface="微软雅黑" panose="020B0503020204020204" charset="-122"/>
                <a:ea typeface="微软雅黑" panose="020B0503020204020204" charset="-122"/>
              </a:endParaRPr>
            </a:p>
          </p:txBody>
        </p:sp>
        <p:sp>
          <p:nvSpPr>
            <p:cNvPr id="17417" name="Text Box 48"/>
            <p:cNvSpPr txBox="1">
              <a:spLocks noChangeArrowheads="1"/>
            </p:cNvSpPr>
            <p:nvPr>
              <p:custDataLst>
                <p:tags r:id="rId6"/>
              </p:custDataLst>
            </p:nvPr>
          </p:nvSpPr>
          <p:spPr bwMode="auto">
            <a:xfrm>
              <a:off x="6686550" y="4657726"/>
              <a:ext cx="1227138" cy="434975"/>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需求确认</a:t>
              </a:r>
              <a:endParaRPr lang="zh-CN" altLang="en-US" sz="1200" b="1">
                <a:latin typeface="微软雅黑" panose="020B0503020204020204" charset="-122"/>
                <a:ea typeface="微软雅黑" panose="020B0503020204020204" charset="-122"/>
              </a:endParaRPr>
            </a:p>
          </p:txBody>
        </p:sp>
        <p:sp>
          <p:nvSpPr>
            <p:cNvPr id="17418" name="Text Box 49"/>
            <p:cNvSpPr txBox="1">
              <a:spLocks noChangeArrowheads="1"/>
            </p:cNvSpPr>
            <p:nvPr>
              <p:custDataLst>
                <p:tags r:id="rId7"/>
              </p:custDataLst>
            </p:nvPr>
          </p:nvSpPr>
          <p:spPr bwMode="auto">
            <a:xfrm>
              <a:off x="6686550" y="5199063"/>
              <a:ext cx="1227138" cy="436562"/>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需求跟踪</a:t>
              </a:r>
              <a:endParaRPr lang="zh-CN" altLang="en-US" sz="1200" b="1">
                <a:latin typeface="微软雅黑" panose="020B0503020204020204" charset="-122"/>
                <a:ea typeface="微软雅黑" panose="020B0503020204020204" charset="-122"/>
              </a:endParaRPr>
            </a:p>
          </p:txBody>
        </p:sp>
        <p:sp>
          <p:nvSpPr>
            <p:cNvPr id="17419" name="Text Box 50"/>
            <p:cNvSpPr txBox="1">
              <a:spLocks noChangeArrowheads="1"/>
            </p:cNvSpPr>
            <p:nvPr>
              <p:custDataLst>
                <p:tags r:id="rId8"/>
              </p:custDataLst>
            </p:nvPr>
          </p:nvSpPr>
          <p:spPr bwMode="auto">
            <a:xfrm>
              <a:off x="4968875" y="4652964"/>
              <a:ext cx="1227138" cy="434975"/>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需求获取</a:t>
              </a:r>
              <a:endParaRPr lang="zh-CN" altLang="en-US" sz="1200" b="1">
                <a:latin typeface="微软雅黑" panose="020B0503020204020204" charset="-122"/>
                <a:ea typeface="微软雅黑" panose="020B0503020204020204" charset="-122"/>
              </a:endParaRPr>
            </a:p>
          </p:txBody>
        </p:sp>
        <p:sp>
          <p:nvSpPr>
            <p:cNvPr id="17420" name="Text Box 51"/>
            <p:cNvSpPr txBox="1">
              <a:spLocks noChangeArrowheads="1"/>
            </p:cNvSpPr>
            <p:nvPr>
              <p:custDataLst>
                <p:tags r:id="rId9"/>
              </p:custDataLst>
            </p:nvPr>
          </p:nvSpPr>
          <p:spPr bwMode="auto">
            <a:xfrm>
              <a:off x="4968875" y="5194301"/>
              <a:ext cx="1227138" cy="436563"/>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需求分析</a:t>
              </a:r>
              <a:endParaRPr lang="zh-CN" altLang="en-US" sz="1200" b="1">
                <a:latin typeface="微软雅黑" panose="020B0503020204020204" charset="-122"/>
                <a:ea typeface="微软雅黑" panose="020B0503020204020204" charset="-122"/>
              </a:endParaRPr>
            </a:p>
          </p:txBody>
        </p:sp>
        <p:sp>
          <p:nvSpPr>
            <p:cNvPr id="17421" name="Line 52"/>
            <p:cNvSpPr>
              <a:spLocks noChangeShapeType="1"/>
            </p:cNvSpPr>
            <p:nvPr/>
          </p:nvSpPr>
          <p:spPr bwMode="auto">
            <a:xfrm>
              <a:off x="4641850" y="4422776"/>
              <a:ext cx="0" cy="1533525"/>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2" name="Line 53"/>
            <p:cNvSpPr>
              <a:spLocks noChangeShapeType="1"/>
            </p:cNvSpPr>
            <p:nvPr>
              <p:custDataLst>
                <p:tags r:id="rId10"/>
              </p:custDataLst>
            </p:nvPr>
          </p:nvSpPr>
          <p:spPr bwMode="auto">
            <a:xfrm>
              <a:off x="4641851" y="4814888"/>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3" name="Line 54"/>
            <p:cNvSpPr>
              <a:spLocks noChangeShapeType="1"/>
            </p:cNvSpPr>
            <p:nvPr>
              <p:custDataLst>
                <p:tags r:id="rId11"/>
              </p:custDataLst>
            </p:nvPr>
          </p:nvSpPr>
          <p:spPr bwMode="auto">
            <a:xfrm>
              <a:off x="4641851" y="5467350"/>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4" name="Line 55"/>
            <p:cNvSpPr>
              <a:spLocks noChangeShapeType="1"/>
            </p:cNvSpPr>
            <p:nvPr>
              <p:custDataLst>
                <p:tags r:id="rId12"/>
              </p:custDataLst>
            </p:nvPr>
          </p:nvSpPr>
          <p:spPr bwMode="auto">
            <a:xfrm>
              <a:off x="5868989" y="4259263"/>
              <a:ext cx="1063625" cy="0"/>
            </a:xfrm>
            <a:prstGeom prst="line">
              <a:avLst/>
            </a:prstGeom>
            <a:noFill/>
            <a:ln w="9525" cmpd="sng">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7425" name="Text Box 56"/>
            <p:cNvSpPr txBox="1">
              <a:spLocks noChangeArrowheads="1"/>
            </p:cNvSpPr>
            <p:nvPr>
              <p:custDataLst>
                <p:tags r:id="rId13"/>
              </p:custDataLst>
            </p:nvPr>
          </p:nvSpPr>
          <p:spPr bwMode="auto">
            <a:xfrm>
              <a:off x="4968875" y="5794376"/>
              <a:ext cx="1227138" cy="434975"/>
            </a:xfrm>
            <a:prstGeom prst="rect">
              <a:avLst/>
            </a:prstGeom>
            <a:solidFill>
              <a:schemeClr val="bg1"/>
            </a:solidFill>
            <a:ln w="9525" cmpd="sng">
              <a:solidFill>
                <a:schemeClr val="tx1"/>
              </a:solidFill>
              <a:miter lim="800000"/>
            </a:ln>
            <a:effectLst>
              <a:outerShdw dist="35921" dir="2700000" algn="ctr" rotWithShape="0">
                <a:srgbClr val="808080"/>
              </a:outerShdw>
            </a:effectLst>
          </p:spPr>
          <p:txBody>
            <a:bodyPr anchor="ctr" anchorCtr="0"/>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latin typeface="微软雅黑" panose="020B0503020204020204" charset="-122"/>
                  <a:ea typeface="微软雅黑" panose="020B0503020204020204" charset="-122"/>
                </a:rPr>
                <a:t>需求定义</a:t>
              </a:r>
              <a:endParaRPr lang="zh-CN" altLang="en-US" sz="1200" b="1">
                <a:latin typeface="微软雅黑" panose="020B0503020204020204" charset="-122"/>
                <a:ea typeface="微软雅黑" panose="020B0503020204020204" charset="-122"/>
              </a:endParaRPr>
            </a:p>
          </p:txBody>
        </p:sp>
        <p:sp>
          <p:nvSpPr>
            <p:cNvPr id="17426" name="Line 57"/>
            <p:cNvSpPr>
              <a:spLocks noChangeShapeType="1"/>
            </p:cNvSpPr>
            <p:nvPr>
              <p:custDataLst>
                <p:tags r:id="rId14"/>
              </p:custDataLst>
            </p:nvPr>
          </p:nvSpPr>
          <p:spPr bwMode="auto">
            <a:xfrm>
              <a:off x="4641851" y="5956300"/>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7" name="Line 58"/>
            <p:cNvSpPr>
              <a:spLocks noChangeShapeType="1"/>
            </p:cNvSpPr>
            <p:nvPr/>
          </p:nvSpPr>
          <p:spPr bwMode="auto">
            <a:xfrm>
              <a:off x="8240713" y="4422775"/>
              <a:ext cx="0" cy="149860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8" name="Line 59"/>
            <p:cNvSpPr>
              <a:spLocks noChangeShapeType="1"/>
            </p:cNvSpPr>
            <p:nvPr>
              <p:custDataLst>
                <p:tags r:id="rId15"/>
              </p:custDataLst>
            </p:nvPr>
          </p:nvSpPr>
          <p:spPr bwMode="auto">
            <a:xfrm>
              <a:off x="5378450" y="3770313"/>
              <a:ext cx="0" cy="163512"/>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9" name="Line 60"/>
            <p:cNvSpPr>
              <a:spLocks noChangeShapeType="1"/>
            </p:cNvSpPr>
            <p:nvPr>
              <p:custDataLst>
                <p:tags r:id="rId16"/>
              </p:custDataLst>
            </p:nvPr>
          </p:nvSpPr>
          <p:spPr bwMode="auto">
            <a:xfrm>
              <a:off x="7423150" y="3770313"/>
              <a:ext cx="0" cy="163512"/>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0" name="Line 61"/>
            <p:cNvSpPr>
              <a:spLocks noChangeShapeType="1"/>
            </p:cNvSpPr>
            <p:nvPr/>
          </p:nvSpPr>
          <p:spPr bwMode="auto">
            <a:xfrm>
              <a:off x="7913689" y="4911725"/>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1" name="Line 62"/>
            <p:cNvSpPr>
              <a:spLocks noChangeShapeType="1"/>
            </p:cNvSpPr>
            <p:nvPr/>
          </p:nvSpPr>
          <p:spPr bwMode="auto">
            <a:xfrm>
              <a:off x="7913689" y="5400675"/>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2" name="Line 63"/>
            <p:cNvSpPr>
              <a:spLocks noChangeShapeType="1"/>
            </p:cNvSpPr>
            <p:nvPr/>
          </p:nvSpPr>
          <p:spPr bwMode="auto">
            <a:xfrm>
              <a:off x="7913689" y="5921375"/>
              <a:ext cx="327025" cy="0"/>
            </a:xfrm>
            <a:prstGeom prst="line">
              <a:avLst/>
            </a:prstGeom>
            <a:noFill/>
            <a:ln w="9525" cmpd="sng">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3" name="AutoShape 64"/>
            <p:cNvSpPr/>
            <p:nvPr/>
          </p:nvSpPr>
          <p:spPr bwMode="auto">
            <a:xfrm>
              <a:off x="2208214" y="4581526"/>
              <a:ext cx="1800225" cy="360363"/>
            </a:xfrm>
            <a:prstGeom prst="accentBorderCallout1">
              <a:avLst>
                <a:gd name="adj1" fmla="val 31718"/>
                <a:gd name="adj2" fmla="val 104231"/>
                <a:gd name="adj3" fmla="val 31718"/>
                <a:gd name="adj4" fmla="val 152644"/>
              </a:avLst>
            </a:prstGeom>
            <a:solidFill>
              <a:srgbClr val="FFCC00"/>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微软雅黑" panose="020B0503020204020204" charset="-122"/>
                  <a:ea typeface="微软雅黑" panose="020B0503020204020204" charset="-122"/>
                </a:rPr>
                <a:t>用户需求说明书</a:t>
              </a:r>
              <a:endParaRPr lang="zh-CN" altLang="en-US" sz="1600">
                <a:latin typeface="微软雅黑" panose="020B0503020204020204" charset="-122"/>
                <a:ea typeface="微软雅黑" panose="020B0503020204020204" charset="-122"/>
              </a:endParaRPr>
            </a:p>
          </p:txBody>
        </p:sp>
        <p:sp>
          <p:nvSpPr>
            <p:cNvPr id="17434" name="AutoShape 65"/>
            <p:cNvSpPr/>
            <p:nvPr/>
          </p:nvSpPr>
          <p:spPr bwMode="auto">
            <a:xfrm>
              <a:off x="2208214" y="5797551"/>
              <a:ext cx="1800225" cy="511175"/>
            </a:xfrm>
            <a:prstGeom prst="accentBorderCallout1">
              <a:avLst>
                <a:gd name="adj1" fmla="val 22361"/>
                <a:gd name="adj2" fmla="val 104231"/>
                <a:gd name="adj3" fmla="val 22361"/>
                <a:gd name="adj4" fmla="val 152912"/>
              </a:avLst>
            </a:prstGeom>
            <a:solidFill>
              <a:srgbClr val="FFCC00"/>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微软雅黑" panose="020B0503020204020204" charset="-122"/>
                  <a:ea typeface="微软雅黑" panose="020B0503020204020204" charset="-122"/>
                </a:rPr>
                <a:t>软件需求</a:t>
              </a:r>
              <a:endParaRPr lang="zh-CN" altLang="en-US" sz="1600">
                <a:latin typeface="微软雅黑" panose="020B0503020204020204" charset="-122"/>
                <a:ea typeface="微软雅黑" panose="020B0503020204020204" charset="-122"/>
              </a:endParaRPr>
            </a:p>
            <a:p>
              <a:pPr algn="ctr" eaLnBrk="1" hangingPunct="1">
                <a:lnSpc>
                  <a:spcPct val="100000"/>
                </a:lnSpc>
                <a:spcBef>
                  <a:spcPct val="0"/>
                </a:spcBef>
                <a:buClrTx/>
                <a:buSzTx/>
                <a:buFont typeface="Wingdings" panose="05000000000000000000" pitchFamily="2" charset="2"/>
                <a:buNone/>
              </a:pPr>
              <a:r>
                <a:rPr lang="zh-CN" altLang="en-US" sz="1600">
                  <a:latin typeface="微软雅黑" panose="020B0503020204020204" charset="-122"/>
                  <a:ea typeface="微软雅黑" panose="020B0503020204020204" charset="-122"/>
                </a:rPr>
                <a:t>规格说明书</a:t>
              </a:r>
              <a:endParaRPr lang="zh-CN" altLang="en-US" sz="1600">
                <a:latin typeface="微软雅黑" panose="020B0503020204020204" charset="-122"/>
                <a:ea typeface="微软雅黑" panose="020B0503020204020204" charset="-122"/>
              </a:endParaRPr>
            </a:p>
          </p:txBody>
        </p:sp>
        <p:sp>
          <p:nvSpPr>
            <p:cNvPr id="17435" name="AutoShape 66"/>
            <p:cNvSpPr/>
            <p:nvPr/>
          </p:nvSpPr>
          <p:spPr bwMode="auto">
            <a:xfrm>
              <a:off x="8543926" y="5157788"/>
              <a:ext cx="1800225" cy="360362"/>
            </a:xfrm>
            <a:prstGeom prst="accentBorderCallout1">
              <a:avLst>
                <a:gd name="adj1" fmla="val 31718"/>
                <a:gd name="adj2" fmla="val -4231"/>
                <a:gd name="adj3" fmla="val 33481"/>
                <a:gd name="adj4" fmla="val -34657"/>
              </a:avLst>
            </a:prstGeom>
            <a:solidFill>
              <a:schemeClr val="bg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微软雅黑" panose="020B0503020204020204" charset="-122"/>
                  <a:ea typeface="微软雅黑" panose="020B0503020204020204" charset="-122"/>
                  <a:cs typeface="微软雅黑" panose="020B0503020204020204" charset="-122"/>
                </a:rPr>
                <a:t>需求跟踪矩阵</a:t>
              </a:r>
              <a:r>
                <a:rPr lang="zh-CN" altLang="en-US" sz="2000">
                  <a:latin typeface="微软雅黑" panose="020B0503020204020204" charset="-122"/>
                  <a:ea typeface="微软雅黑" panose="020B0503020204020204" charset="-122"/>
                  <a:cs typeface="微软雅黑" panose="020B0503020204020204" charset="-122"/>
                </a:rPr>
                <a:t> </a:t>
              </a: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7436" name="AutoShape 67"/>
            <p:cNvSpPr/>
            <p:nvPr/>
          </p:nvSpPr>
          <p:spPr bwMode="auto">
            <a:xfrm>
              <a:off x="8543926" y="4652963"/>
              <a:ext cx="1800225" cy="360362"/>
            </a:xfrm>
            <a:prstGeom prst="accentBorderCallout1">
              <a:avLst>
                <a:gd name="adj1" fmla="val 31718"/>
                <a:gd name="adj2" fmla="val -4231"/>
                <a:gd name="adj3" fmla="val 33481"/>
                <a:gd name="adj4" fmla="val -34657"/>
              </a:avLst>
            </a:prstGeom>
            <a:solidFill>
              <a:schemeClr val="bg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微软雅黑" panose="020B0503020204020204" charset="-122"/>
                  <a:ea typeface="微软雅黑" panose="020B0503020204020204" charset="-122"/>
                  <a:cs typeface="微软雅黑" panose="020B0503020204020204" charset="-122"/>
                </a:rPr>
                <a:t>需求评审报告</a:t>
              </a:r>
              <a:r>
                <a:rPr lang="zh-CN" altLang="en-US" sz="2000">
                  <a:latin typeface="微软雅黑" panose="020B0503020204020204" charset="-122"/>
                  <a:ea typeface="微软雅黑" panose="020B0503020204020204" charset="-122"/>
                  <a:cs typeface="微软雅黑" panose="020B0503020204020204" charset="-122"/>
                </a:rPr>
                <a:t> </a:t>
              </a:r>
              <a:endParaRPr lang="zh-CN" altLang="en-US" sz="2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1008380" y="258445"/>
            <a:ext cx="10154920" cy="999490"/>
          </a:xfrm>
        </p:spPr>
        <p:txBody>
          <a:bodyPr>
            <a:normAutofit/>
          </a:bodyPr>
          <a:lstStyle/>
          <a:p>
            <a:r>
              <a:rPr lang="zh-CN" altLang="en-US" sz="3200" dirty="0" smtClean="0">
                <a:effectLst/>
              </a:rPr>
              <a:t>需求</a:t>
            </a:r>
            <a:r>
              <a:rPr lang="zh-CN" altLang="en-US" sz="3200" dirty="0">
                <a:effectLst/>
              </a:rPr>
              <a:t>的定义</a:t>
            </a:r>
            <a:endParaRPr lang="zh-CN" altLang="en-US" sz="3200" dirty="0">
              <a:effectLst/>
            </a:endParaRPr>
          </a:p>
        </p:txBody>
      </p:sp>
      <p:graphicFrame>
        <p:nvGraphicFramePr>
          <p:cNvPr id="27652" name="Group 4"/>
          <p:cNvGraphicFramePr>
            <a:graphicFrameLocks noGrp="1"/>
          </p:cNvGraphicFramePr>
          <p:nvPr>
            <p:ph idx="1"/>
          </p:nvPr>
        </p:nvGraphicFramePr>
        <p:xfrm>
          <a:off x="1009015" y="1257335"/>
          <a:ext cx="10154344" cy="5030161"/>
        </p:xfrm>
        <a:graphic>
          <a:graphicData uri="http://schemas.openxmlformats.org/drawingml/2006/table">
            <a:tbl>
              <a:tblPr/>
              <a:tblGrid>
                <a:gridCol w="1821832"/>
                <a:gridCol w="8332512"/>
              </a:tblGrid>
              <a:tr h="528638">
                <a:tc>
                  <a:txBody>
                    <a:bodyPr/>
                    <a:lstStyle>
                      <a:lvl1pPr marL="450850" indent="-45085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tabLst>
                          <a:tab pos="266700" algn="r"/>
                          <a:tab pos="2636520" algn="ctr"/>
                          <a:tab pos="5273675" algn="r"/>
                        </a:tabLst>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tabLst>
                          <a:tab pos="266700" algn="r"/>
                          <a:tab pos="2636520" algn="ctr"/>
                          <a:tab pos="5273675" algn="r"/>
                        </a:tabLst>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tabLst>
                          <a:tab pos="266700" algn="r"/>
                          <a:tab pos="2636520" algn="ctr"/>
                          <a:tab pos="5273675" algn="r"/>
                        </a:tabLst>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目的</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定义准确无误的软件产品需求，产生</a:t>
                      </a:r>
                      <a:r>
                        <a:rPr kumimoji="0" 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软件需求规格说明书</a:t>
                      </a:r>
                      <a:r>
                        <a:rPr kumimoji="0" 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endPar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7050">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角色与职责</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需求分析员定义软件需求。客户与最终用户确认软件需求。</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启动准则</a:t>
                      </a:r>
                      <a:endPar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用户需求说明书</a:t>
                      </a:r>
                      <a:r>
                        <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已经撰写完成。</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输入</a:t>
                      </a:r>
                      <a:endParaRPr kumimoji="0" lang="zh-CN" altLang="en-US" sz="2000" b="1" i="0" u="none" strike="noStrike" cap="none" normalizeH="0" baseline="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用户需求说明书</a:t>
                      </a:r>
                      <a:r>
                        <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a:t>
                      </a:r>
                      <a:endPar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875">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主要步骤</a:t>
                      </a:r>
                      <a:endPar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3613" marR="83613"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第一步：细化并分析用户需求</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第二步：撰写软件需求规格说明书</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第三步：软件需求确认</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输出</a:t>
                      </a:r>
                      <a:endParaRPr kumimoji="0" lang="zh-CN" altLang="en-US" sz="2000" b="1" i="0" u="none" strike="noStrike" cap="none" normalizeH="0" baseline="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软件需求规格说明书</a:t>
                      </a:r>
                      <a:r>
                        <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rPr>
                        <a:t>》</a:t>
                      </a:r>
                      <a:endParaRPr kumimoji="0" lang="en-US" sz="2000" b="1" i="0" u="none" strike="noStrike" cap="none" normalizeH="0" baseline="0" dirty="0" smtClean="0">
                        <a:ln>
                          <a:noFill/>
                        </a:ln>
                        <a:solidFill>
                          <a:srgbClr val="C00000"/>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结束准则</a:t>
                      </a:r>
                      <a:endPar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软件需求规格说明书</a:t>
                      </a:r>
                      <a:r>
                        <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已经撰写完成。开发方和客户方已经对产品需求进行了确认。</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度量</a:t>
                      </a:r>
                      <a:endParaRPr kumimoji="0" lang="zh-CN" altLang="en-US" sz="2000" b="1" i="0" u="none" strike="noStrike" cap="none" normalizeH="0" baseline="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rPr>
                        <a:t>需求分析员统计工作量和上述文档的规模，汇报给项目经理。</a:t>
                      </a:r>
                      <a:endParaRPr kumimoji="0" lang="zh-CN" alt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67995" y="258445"/>
            <a:ext cx="10695305" cy="637540"/>
          </a:xfrm>
        </p:spPr>
        <p:txBody>
          <a:bodyPr/>
          <a:lstStyle/>
          <a:p>
            <a:r>
              <a:rPr lang="zh-CN" altLang="en-US" sz="2800" dirty="0">
                <a:solidFill>
                  <a:schemeClr val="tx1"/>
                </a:solidFill>
                <a:effectLst/>
              </a:rPr>
              <a:t>面向对象的需求分析建模</a:t>
            </a:r>
            <a:endParaRPr lang="zh-CN" altLang="en-US" sz="2800" dirty="0" smtClean="0">
              <a:solidFill>
                <a:schemeClr val="tx1"/>
              </a:solidFill>
              <a:effectLst/>
            </a:endParaRPr>
          </a:p>
        </p:txBody>
      </p:sp>
      <p:sp>
        <p:nvSpPr>
          <p:cNvPr id="16387" name="内容占位符 2"/>
          <p:cNvSpPr>
            <a:spLocks noGrp="1"/>
          </p:cNvSpPr>
          <p:nvPr>
            <p:ph idx="1"/>
          </p:nvPr>
        </p:nvSpPr>
        <p:spPr>
          <a:xfrm>
            <a:off x="468000" y="972735"/>
            <a:ext cx="11160000" cy="4980840"/>
          </a:xfrm>
        </p:spPr>
        <p:txBody>
          <a:bodyPr/>
          <a:lstStyle/>
          <a:p>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面向对象分析方法中的需求分析包含两个</a:t>
            </a:r>
            <a:r>
              <a:rPr lang="zh-CN" altLang="en-US" sz="2400" dirty="0" smtClean="0">
                <a:solidFill>
                  <a:schemeClr val="tx1"/>
                </a:solidFill>
                <a:latin typeface="微软雅黑" panose="020B0503020204020204" charset="-122"/>
                <a:ea typeface="微软雅黑" panose="020B0503020204020204" charset="-122"/>
                <a:cs typeface="微软雅黑" panose="020B0503020204020204" charset="-122"/>
              </a:rPr>
              <a:t>模型：领域</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模型和用例模型。</a:t>
            </a:r>
            <a:endParaRPr lang="en-US" altLang="zh-CN" sz="2400" dirty="0">
              <a:solidFill>
                <a:schemeClr val="tx1"/>
              </a:solidFill>
              <a:latin typeface="微软雅黑" panose="020B0503020204020204" charset="-122"/>
              <a:ea typeface="微软雅黑" panose="020B0503020204020204" charset="-122"/>
              <a:cs typeface="微软雅黑" panose="020B0503020204020204" charset="-122"/>
            </a:endParaRPr>
          </a:p>
          <a:p>
            <a:pPr lvl="1"/>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领域模型表示了需求分析阶段“当前系统”逻辑模型的静态结构及业务</a:t>
            </a:r>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流程；</a:t>
            </a:r>
            <a:endParaRPr lang="en-US" altLang="zh-CN" sz="2000" dirty="0" smtClean="0">
              <a:solidFill>
                <a:schemeClr val="tx1"/>
              </a:solidFill>
              <a:latin typeface="微软雅黑" panose="020B0503020204020204" charset="-122"/>
              <a:ea typeface="微软雅黑" panose="020B0503020204020204" charset="-122"/>
              <a:cs typeface="微软雅黑" panose="020B0503020204020204" charset="-122"/>
            </a:endParaRPr>
          </a:p>
          <a:p>
            <a:pPr lvl="1"/>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用例</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模型是“目标系统”的逻辑模型，定义了“目标系统”做什么的需求</a:t>
            </a:r>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endParaRPr>
          </a:p>
          <a:p>
            <a:pPr lvl="1"/>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p:txBody>
      </p:sp>
      <p:graphicFrame>
        <p:nvGraphicFramePr>
          <p:cNvPr id="16389" name="对象 4"/>
          <p:cNvGraphicFramePr>
            <a:graphicFrameLocks noChangeAspect="1"/>
          </p:cNvGraphicFramePr>
          <p:nvPr/>
        </p:nvGraphicFramePr>
        <p:xfrm>
          <a:off x="1489710" y="2952115"/>
          <a:ext cx="9250045" cy="3001645"/>
        </p:xfrm>
        <a:graphic>
          <a:graphicData uri="http://schemas.openxmlformats.org/presentationml/2006/ole">
            <mc:AlternateContent xmlns:mc="http://schemas.openxmlformats.org/markup-compatibility/2006">
              <mc:Choice xmlns:v="urn:schemas-microsoft-com:vml" Requires="v">
                <p:oleObj spid="_x0000_s91181" name="Visio" r:id="rId1" imgW="4813935" imgH="1569085" progId="Visio.Drawing.11">
                  <p:embed/>
                </p:oleObj>
              </mc:Choice>
              <mc:Fallback>
                <p:oleObj name="Visio" r:id="rId1" imgW="4813935" imgH="1569085" progId="Visio.Drawing.11">
                  <p:embed/>
                  <p:pic>
                    <p:nvPicPr>
                      <p:cNvPr id="0" name="图片 91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710" y="2952115"/>
                        <a:ext cx="9250045" cy="3001645"/>
                      </a:xfrm>
                      <a:prstGeom prst="rect">
                        <a:avLst/>
                      </a:prstGeom>
                      <a:noFill/>
                      <a:ln>
                        <a:noFill/>
                      </a:ln>
                    </p:spPr>
                  </p:pic>
                </p:oleObj>
              </mc:Fallback>
            </mc:AlternateContent>
          </a:graphicData>
        </a:graphic>
      </p:graphicFrame>
      <p:sp>
        <p:nvSpPr>
          <p:cNvPr id="3" name="Rectangle 3"/>
          <p:cNvSpPr>
            <a:spLocks noGrp="1" noChangeArrowheads="1"/>
          </p:cNvSpPr>
          <p:nvPr/>
        </p:nvSpPr>
        <p:spPr>
          <a:xfrm>
            <a:off x="2745740" y="3958590"/>
            <a:ext cx="979170" cy="1047750"/>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800" b="1" dirty="0">
                <a:solidFill>
                  <a:schemeClr val="bg1"/>
                </a:solidFill>
              </a:rPr>
              <a:t>业务</a:t>
            </a:r>
            <a:br>
              <a:rPr lang="zh-CN" altLang="en-US" sz="1800" b="1" dirty="0">
                <a:solidFill>
                  <a:schemeClr val="bg1"/>
                </a:solidFill>
              </a:rPr>
            </a:br>
            <a:r>
              <a:rPr lang="zh-CN" altLang="en-US" sz="1800" b="1" dirty="0">
                <a:solidFill>
                  <a:schemeClr val="bg1"/>
                </a:solidFill>
              </a:rPr>
              <a:t>需求</a:t>
            </a:r>
            <a:br>
              <a:rPr lang="zh-CN" altLang="en-US" sz="1800" b="1" dirty="0">
                <a:solidFill>
                  <a:schemeClr val="bg1"/>
                </a:solidFill>
              </a:rPr>
            </a:br>
            <a:r>
              <a:rPr lang="zh-CN" altLang="en-US" sz="1800" b="1" dirty="0">
                <a:solidFill>
                  <a:schemeClr val="bg1"/>
                </a:solidFill>
              </a:rPr>
              <a:t>描述</a:t>
            </a:r>
            <a:endParaRPr lang="zh-CN" altLang="en-US" sz="1800" b="1" dirty="0">
              <a:solidFill>
                <a:schemeClr val="bg1"/>
              </a:solidFill>
            </a:endParaRPr>
          </a:p>
        </p:txBody>
      </p:sp>
      <p:sp>
        <p:nvSpPr>
          <p:cNvPr id="5" name="Rectangle 3"/>
          <p:cNvSpPr>
            <a:spLocks noGrp="1" noChangeArrowheads="1"/>
          </p:cNvSpPr>
          <p:nvPr/>
        </p:nvSpPr>
        <p:spPr>
          <a:xfrm>
            <a:off x="4559935" y="3227070"/>
            <a:ext cx="2496820" cy="2684780"/>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800" b="1" dirty="0">
                <a:solidFill>
                  <a:schemeClr val="bg1"/>
                </a:solidFill>
              </a:rPr>
              <a:t>领域模型</a:t>
            </a:r>
            <a:endParaRPr lang="zh-CN" altLang="en-US" sz="1800" b="1" dirty="0">
              <a:solidFill>
                <a:schemeClr val="bg1"/>
              </a:solidFill>
            </a:endParaRPr>
          </a:p>
        </p:txBody>
      </p:sp>
      <p:sp>
        <p:nvSpPr>
          <p:cNvPr id="6" name="Rectangle 3"/>
          <p:cNvSpPr>
            <a:spLocks noGrp="1" noChangeArrowheads="1"/>
          </p:cNvSpPr>
          <p:nvPr/>
        </p:nvSpPr>
        <p:spPr>
          <a:xfrm>
            <a:off x="7405370" y="3227070"/>
            <a:ext cx="3333750" cy="2685415"/>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800" b="1" dirty="0">
                <a:solidFill>
                  <a:schemeClr val="bg1"/>
                </a:solidFill>
              </a:rPr>
              <a:t>用例模型</a:t>
            </a:r>
            <a:endParaRPr lang="zh-CN" altLang="en-US" sz="1800" b="1" dirty="0">
              <a:solidFill>
                <a:schemeClr val="bg1"/>
              </a:solidFill>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5" grpId="0" bldLvl="0" animBg="1"/>
      <p:bldP spid="5" grpId="1" animBg="1"/>
      <p:bldP spid="6" grpId="0" bldLvl="0" animBg="1"/>
      <p:bldP spid="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b="1">
                <a:effectLst/>
              </a:rPr>
              <a:t>业务需求描述</a:t>
            </a:r>
            <a:endParaRPr lang="zh-CN" altLang="en-US" b="1">
              <a:effectLst/>
            </a:endParaRPr>
          </a:p>
        </p:txBody>
      </p:sp>
      <p:sp>
        <p:nvSpPr>
          <p:cNvPr id="5" name="副标题 4"/>
          <p:cNvSpPr>
            <a:spLocks noGrp="1"/>
          </p:cNvSpPr>
          <p:nvPr>
            <p:ph type="subTitle" idx="1"/>
          </p:nvPr>
        </p:nvSpPr>
        <p:spPr/>
        <p:txBody>
          <a:bodyPr/>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a:t>课程大作业基本说明</a:t>
            </a:r>
            <a:endParaRPr lang="zh-CN" altLang="en-US" sz="3600" dirty="0"/>
          </a:p>
        </p:txBody>
      </p:sp>
      <p:sp>
        <p:nvSpPr>
          <p:cNvPr id="3" name="内容占位符 2"/>
          <p:cNvSpPr>
            <a:spLocks noGrp="1"/>
          </p:cNvSpPr>
          <p:nvPr>
            <p:ph idx="1"/>
          </p:nvPr>
        </p:nvSpPr>
        <p:spPr/>
        <p:txBody>
          <a:bodyPr/>
          <a:lstStyle/>
          <a:p>
            <a:r>
              <a:rPr lang="zh-CN" altLang="en-US" sz="3200" dirty="0"/>
              <a:t>基本需求     </a:t>
            </a:r>
            <a:endParaRPr lang="en-US" altLang="zh-CN" sz="3200" dirty="0"/>
          </a:p>
          <a:p>
            <a:pPr lvl="1"/>
            <a:r>
              <a:rPr lang="zh-CN" altLang="en-US" sz="2800" dirty="0"/>
              <a:t>某快捷廉价酒店响应节能绿色环保理念，推行自助计费式中央温控系统，使得入住的客户可以根据要求设定</a:t>
            </a:r>
            <a:r>
              <a:rPr lang="zh-CN" altLang="en-US" sz="2800" dirty="0">
                <a:solidFill>
                  <a:srgbClr val="FF0000"/>
                </a:solidFill>
              </a:rPr>
              <a:t>温度</a:t>
            </a:r>
            <a:r>
              <a:rPr lang="zh-CN" altLang="en-US" sz="2800" dirty="0"/>
              <a:t>和</a:t>
            </a:r>
            <a:r>
              <a:rPr lang="zh-CN" altLang="en-US" sz="2800" dirty="0">
                <a:solidFill>
                  <a:srgbClr val="FF0000"/>
                </a:solidFill>
              </a:rPr>
              <a:t>风速</a:t>
            </a:r>
            <a:r>
              <a:rPr lang="zh-CN" altLang="en-US" sz="2800" dirty="0"/>
              <a:t>的调节，同时可以</a:t>
            </a:r>
            <a:r>
              <a:rPr lang="zh-CN" altLang="en-US" sz="2800" dirty="0">
                <a:solidFill>
                  <a:srgbClr val="FF0000"/>
                </a:solidFill>
              </a:rPr>
              <a:t>显示所需支付的金额</a:t>
            </a:r>
            <a:r>
              <a:rPr lang="zh-CN" altLang="en-US" sz="2800" dirty="0"/>
              <a:t>。客户退房</a:t>
            </a:r>
            <a:r>
              <a:rPr lang="zh-CN" altLang="en-US" sz="2800"/>
              <a:t>时酒店前台须</a:t>
            </a:r>
            <a:r>
              <a:rPr lang="zh-CN" altLang="en-US" sz="2800" dirty="0"/>
              <a:t>出具空调使用的</a:t>
            </a:r>
            <a:r>
              <a:rPr lang="zh-CN" altLang="en-US" sz="2800" dirty="0">
                <a:solidFill>
                  <a:srgbClr val="FF0000"/>
                </a:solidFill>
              </a:rPr>
              <a:t>账单</a:t>
            </a:r>
            <a:r>
              <a:rPr lang="zh-CN" altLang="en-US" sz="2800" dirty="0"/>
              <a:t>及</a:t>
            </a:r>
            <a:r>
              <a:rPr lang="zh-CN" altLang="en-US" sz="2800" dirty="0">
                <a:solidFill>
                  <a:srgbClr val="FF0000"/>
                </a:solidFill>
              </a:rPr>
              <a:t>详单</a:t>
            </a:r>
            <a:r>
              <a:rPr lang="zh-CN" altLang="en-US" sz="2800" dirty="0"/>
              <a:t>。空调运行期间，空调管理员能够</a:t>
            </a:r>
            <a:r>
              <a:rPr lang="zh-CN" altLang="en-US" sz="2800" dirty="0">
                <a:solidFill>
                  <a:srgbClr val="FF0000"/>
                </a:solidFill>
              </a:rPr>
              <a:t>监控</a:t>
            </a:r>
            <a:r>
              <a:rPr lang="zh-CN" altLang="en-US" sz="2800" dirty="0"/>
              <a:t>各房间空调的使用状态，此外，酒店经理在需要的情况下可以查看不同时间范围内的</a:t>
            </a:r>
            <a:r>
              <a:rPr lang="zh-CN" altLang="en-US" sz="2800" dirty="0">
                <a:solidFill>
                  <a:srgbClr val="FF0000"/>
                </a:solidFill>
              </a:rPr>
              <a:t>格式化统计报表</a:t>
            </a:r>
            <a:r>
              <a:rPr lang="zh-CN" altLang="en-US" sz="2800" dirty="0"/>
              <a:t>。</a:t>
            </a:r>
            <a:endParaRPr lang="zh-CN" altLang="en-US" sz="2800"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noAutofit/>
          </a:bodyPr>
          <a:lstStyle/>
          <a:p>
            <a:r>
              <a:rPr lang="zh-CN" altLang="en-US" sz="3600" dirty="0"/>
              <a:t>课程作业</a:t>
            </a:r>
            <a:r>
              <a:rPr lang="en-US" altLang="zh-CN" sz="3600" dirty="0"/>
              <a:t>-</a:t>
            </a:r>
            <a:r>
              <a:rPr lang="zh-CN" altLang="en-US" sz="3600" dirty="0"/>
              <a:t>注意事项（</a:t>
            </a:r>
            <a:r>
              <a:rPr lang="en-US" altLang="zh-CN" sz="3600" dirty="0"/>
              <a:t>1</a:t>
            </a:r>
            <a:r>
              <a:rPr lang="zh-CN" altLang="en-US" sz="3600" dirty="0"/>
              <a:t>）</a:t>
            </a:r>
            <a:endParaRPr lang="en-US" altLang="zh-CN" sz="3600" dirty="0"/>
          </a:p>
        </p:txBody>
      </p:sp>
      <p:sp>
        <p:nvSpPr>
          <p:cNvPr id="3" name="内容占位符 2"/>
          <p:cNvSpPr>
            <a:spLocks noGrp="1"/>
          </p:cNvSpPr>
          <p:nvPr>
            <p:ph idx="1"/>
          </p:nvPr>
        </p:nvSpPr>
        <p:spPr>
          <a:xfrm>
            <a:off x="407670" y="1007745"/>
            <a:ext cx="11377295" cy="5348605"/>
          </a:xfrm>
        </p:spPr>
        <p:txBody>
          <a:bodyPr>
            <a:noAutofit/>
          </a:bodyPr>
          <a:lstStyle/>
          <a:p>
            <a:r>
              <a:rPr lang="zh-CN" altLang="en-US" sz="2800" dirty="0"/>
              <a:t>温控范围</a:t>
            </a:r>
            <a:endParaRPr lang="en-US" altLang="zh-CN" sz="2800" dirty="0"/>
          </a:p>
          <a:p>
            <a:pPr lvl="1"/>
            <a:r>
              <a:rPr lang="zh-CN" altLang="en-US" sz="2400" dirty="0"/>
              <a:t>制冷模式：</a:t>
            </a:r>
            <a:r>
              <a:rPr lang="en-US" altLang="zh-CN" sz="2400" dirty="0"/>
              <a:t>18-25</a:t>
            </a:r>
            <a:r>
              <a:rPr lang="zh-CN" altLang="en-US" sz="2400" dirty="0"/>
              <a:t>度</a:t>
            </a:r>
            <a:endParaRPr lang="en-US" altLang="zh-CN" sz="2400" dirty="0"/>
          </a:p>
          <a:p>
            <a:pPr lvl="1"/>
            <a:r>
              <a:rPr lang="zh-CN" altLang="en-US" sz="2400" dirty="0"/>
              <a:t>制热模式：</a:t>
            </a:r>
            <a:r>
              <a:rPr lang="en-US" altLang="zh-CN" sz="2400" dirty="0"/>
              <a:t>25-30</a:t>
            </a:r>
            <a:r>
              <a:rPr lang="zh-CN" altLang="en-US" sz="2400" dirty="0"/>
              <a:t>度</a:t>
            </a:r>
            <a:endParaRPr lang="en-US" altLang="zh-CN" sz="2400" dirty="0"/>
          </a:p>
          <a:p>
            <a:pPr lvl="1"/>
            <a:r>
              <a:rPr lang="zh-CN" altLang="en-US" sz="2400" dirty="0"/>
              <a:t>缺省温度：</a:t>
            </a:r>
            <a:r>
              <a:rPr lang="en-US" altLang="zh-CN" sz="2400" dirty="0"/>
              <a:t>25</a:t>
            </a:r>
            <a:r>
              <a:rPr lang="zh-CN" altLang="en-US" sz="2400" dirty="0"/>
              <a:t>度</a:t>
            </a:r>
            <a:endParaRPr lang="en-US" altLang="zh-CN" sz="2400" dirty="0"/>
          </a:p>
          <a:p>
            <a:r>
              <a:rPr lang="zh-CN" altLang="en-US" sz="2800" dirty="0"/>
              <a:t>计费标准：</a:t>
            </a:r>
            <a:r>
              <a:rPr lang="en-US" altLang="zh-CN" sz="2800" dirty="0"/>
              <a:t>1</a:t>
            </a:r>
            <a:r>
              <a:rPr lang="zh-CN" altLang="en-US" sz="2800" dirty="0"/>
              <a:t>元</a:t>
            </a:r>
            <a:r>
              <a:rPr lang="en-US" altLang="zh-CN" sz="2800" dirty="0"/>
              <a:t>/</a:t>
            </a:r>
            <a:r>
              <a:rPr lang="zh-CN" altLang="en-US" sz="2800" dirty="0"/>
              <a:t>度</a:t>
            </a:r>
            <a:endParaRPr lang="en-US" altLang="zh-CN" sz="2800" dirty="0"/>
          </a:p>
          <a:p>
            <a:r>
              <a:rPr lang="zh-CN" altLang="en-US" sz="2800" dirty="0"/>
              <a:t>耗电标准：</a:t>
            </a:r>
            <a:endParaRPr lang="en-US" altLang="zh-CN" sz="2800" dirty="0"/>
          </a:p>
          <a:p>
            <a:pPr lvl="1"/>
            <a:r>
              <a:rPr lang="zh-CN" altLang="en-US" sz="2400" dirty="0"/>
              <a:t>高风：</a:t>
            </a:r>
            <a:r>
              <a:rPr lang="en-US" altLang="zh-CN" sz="2400" dirty="0"/>
              <a:t>1</a:t>
            </a:r>
            <a:r>
              <a:rPr lang="zh-CN" altLang="en-US" sz="2400" dirty="0"/>
              <a:t>度</a:t>
            </a:r>
            <a:r>
              <a:rPr lang="en-US" altLang="zh-CN" sz="2400" dirty="0"/>
              <a:t>/1</a:t>
            </a:r>
            <a:r>
              <a:rPr lang="zh-CN" altLang="en-US" sz="2400" dirty="0"/>
              <a:t>分钟</a:t>
            </a:r>
            <a:endParaRPr lang="en-US" altLang="zh-CN" sz="2400" dirty="0"/>
          </a:p>
          <a:p>
            <a:pPr lvl="1"/>
            <a:r>
              <a:rPr lang="zh-CN" altLang="en-US" sz="2400" dirty="0"/>
              <a:t>中风：</a:t>
            </a:r>
            <a:r>
              <a:rPr lang="en-US" altLang="zh-CN" sz="2400" dirty="0"/>
              <a:t>1</a:t>
            </a:r>
            <a:r>
              <a:rPr lang="zh-CN" altLang="en-US" sz="2400" dirty="0"/>
              <a:t>度</a:t>
            </a:r>
            <a:r>
              <a:rPr lang="en-US" altLang="zh-CN" sz="2400" dirty="0"/>
              <a:t>/2</a:t>
            </a:r>
            <a:r>
              <a:rPr lang="zh-CN" altLang="en-US" sz="2400" dirty="0"/>
              <a:t>分钟</a:t>
            </a:r>
            <a:endParaRPr lang="en-US" altLang="zh-CN" sz="2400" dirty="0"/>
          </a:p>
          <a:p>
            <a:pPr lvl="1"/>
            <a:r>
              <a:rPr lang="zh-CN" altLang="en-US" sz="2400" dirty="0"/>
              <a:t>低风：</a:t>
            </a:r>
            <a:r>
              <a:rPr lang="en-US" altLang="zh-CN" sz="2400" dirty="0"/>
              <a:t>1</a:t>
            </a:r>
            <a:r>
              <a:rPr lang="zh-CN" altLang="en-US" sz="2400" dirty="0"/>
              <a:t>度</a:t>
            </a:r>
            <a:r>
              <a:rPr lang="en-US" altLang="zh-CN" sz="2400" dirty="0"/>
              <a:t>/3</a:t>
            </a:r>
            <a:r>
              <a:rPr lang="zh-CN" altLang="en-US" sz="2400" dirty="0"/>
              <a:t>分钟</a:t>
            </a:r>
            <a:endParaRPr lang="en-US" altLang="zh-CN" sz="2400" dirty="0"/>
          </a:p>
          <a:p>
            <a:endParaRPr lang="zh-CN" altLang="en-US" sz="1600"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noAutofit/>
          </a:bodyPr>
          <a:lstStyle/>
          <a:p>
            <a:r>
              <a:rPr lang="zh-CN" altLang="en-US" sz="3600" dirty="0"/>
              <a:t>课程作业</a:t>
            </a:r>
            <a:r>
              <a:rPr lang="en-US" altLang="zh-CN" sz="3600" dirty="0"/>
              <a:t>-</a:t>
            </a:r>
            <a:r>
              <a:rPr lang="zh-CN" altLang="en-US" sz="3600" dirty="0"/>
              <a:t>注意事项（</a:t>
            </a:r>
            <a:r>
              <a:rPr lang="en-US" altLang="zh-CN" sz="3600" dirty="0"/>
              <a:t>2</a:t>
            </a:r>
            <a:r>
              <a:rPr lang="zh-CN" altLang="en-US" sz="3600" dirty="0"/>
              <a:t>）</a:t>
            </a:r>
            <a:endParaRPr lang="zh-CN" altLang="en-US" sz="3600" dirty="0"/>
          </a:p>
        </p:txBody>
      </p:sp>
      <p:sp>
        <p:nvSpPr>
          <p:cNvPr id="3" name="内容占位符 2"/>
          <p:cNvSpPr>
            <a:spLocks noGrp="1"/>
          </p:cNvSpPr>
          <p:nvPr>
            <p:ph idx="1"/>
          </p:nvPr>
        </p:nvSpPr>
        <p:spPr>
          <a:xfrm>
            <a:off x="407670" y="882015"/>
            <a:ext cx="11377295" cy="5474335"/>
          </a:xfrm>
        </p:spPr>
        <p:txBody>
          <a:bodyPr>
            <a:noAutofit/>
          </a:bodyPr>
          <a:lstStyle/>
          <a:p>
            <a:r>
              <a:rPr lang="zh-CN" altLang="en-US" sz="2800" dirty="0"/>
              <a:t>温度变化模式：</a:t>
            </a:r>
            <a:endParaRPr lang="en-US" altLang="zh-CN" sz="2800" dirty="0"/>
          </a:p>
          <a:p>
            <a:pPr lvl="1"/>
            <a:r>
              <a:rPr lang="zh-CN" altLang="en-US" sz="2400" dirty="0"/>
              <a:t>中风模式下每分钟变化</a:t>
            </a:r>
            <a:r>
              <a:rPr lang="en-US" altLang="zh-CN" sz="2400" dirty="0"/>
              <a:t>0.5</a:t>
            </a:r>
            <a:r>
              <a:rPr lang="zh-CN" altLang="en-US" sz="2400" dirty="0"/>
              <a:t>度，高风模式每分钟变化率提高</a:t>
            </a:r>
            <a:r>
              <a:rPr lang="en-US" altLang="zh-CN" sz="2400" dirty="0"/>
              <a:t>20%</a:t>
            </a:r>
            <a:r>
              <a:rPr lang="zh-CN" altLang="en-US" sz="2400" dirty="0"/>
              <a:t>，低风模式每分钟变化率减小</a:t>
            </a:r>
            <a:r>
              <a:rPr lang="en-US" altLang="zh-CN" sz="2400" dirty="0"/>
              <a:t>20%</a:t>
            </a:r>
            <a:r>
              <a:rPr lang="zh-CN" altLang="en-US" sz="2400" dirty="0"/>
              <a:t>；</a:t>
            </a:r>
            <a:endParaRPr lang="en-US" altLang="zh-CN" sz="2400" dirty="0"/>
          </a:p>
          <a:p>
            <a:pPr lvl="1"/>
            <a:r>
              <a:rPr lang="zh-CN" altLang="en-US" sz="2400" dirty="0"/>
              <a:t>房间温度达到目标值以后，客户端自动发送停止送风请求给服务端。此后，当房间温度超过目标温度</a:t>
            </a:r>
            <a:r>
              <a:rPr lang="en-US" altLang="zh-CN" sz="2400" dirty="0"/>
              <a:t>1</a:t>
            </a:r>
            <a:r>
              <a:rPr lang="zh-CN" altLang="en-US" sz="2400" dirty="0"/>
              <a:t>度时，重新启动。</a:t>
            </a:r>
            <a:endParaRPr lang="en-US" altLang="zh-CN" sz="2400" dirty="0"/>
          </a:p>
          <a:p>
            <a:pPr lvl="1"/>
            <a:r>
              <a:rPr lang="zh-CN" altLang="en-US" sz="2400" dirty="0"/>
              <a:t>关机状态下，每分钟变化</a:t>
            </a:r>
            <a:r>
              <a:rPr lang="en-US" altLang="zh-CN" sz="2400" dirty="0"/>
              <a:t>0.5</a:t>
            </a:r>
            <a:r>
              <a:rPr lang="zh-CN" altLang="en-US" sz="2400" dirty="0"/>
              <a:t>度，直到变化到初始温度为止；</a:t>
            </a:r>
            <a:endParaRPr lang="en-US" altLang="zh-CN" sz="2400" dirty="0"/>
          </a:p>
          <a:p>
            <a:r>
              <a:rPr lang="zh-CN" altLang="en-US" sz="2800" dirty="0"/>
              <a:t>客户端具有温度传感器，能实时监测房间温度，并显示在控制面板上。</a:t>
            </a:r>
            <a:endParaRPr lang="en-US" altLang="zh-CN" sz="2800" dirty="0"/>
          </a:p>
          <a:p>
            <a:r>
              <a:rPr lang="zh-CN" altLang="en-US" sz="2800" dirty="0"/>
              <a:t>温度调节按钮连续两次或者多次指令发送的时间间隔小于</a:t>
            </a:r>
            <a:r>
              <a:rPr lang="en-US" altLang="zh-CN" sz="2800" dirty="0"/>
              <a:t>1</a:t>
            </a:r>
            <a:r>
              <a:rPr lang="zh-CN" altLang="en-US" sz="2800" dirty="0"/>
              <a:t>秒时，只发送最后</a:t>
            </a:r>
            <a:r>
              <a:rPr lang="en-US" altLang="zh-CN" sz="2800" dirty="0"/>
              <a:t>1</a:t>
            </a:r>
            <a:r>
              <a:rPr lang="zh-CN" altLang="en-US" sz="2800" dirty="0"/>
              <a:t>次的指令参数；大于</a:t>
            </a:r>
            <a:r>
              <a:rPr lang="en-US" altLang="zh-CN" sz="2800" dirty="0"/>
              <a:t>1</a:t>
            </a:r>
            <a:r>
              <a:rPr lang="zh-CN" altLang="en-US" sz="2800" dirty="0"/>
              <a:t>秒的情况下，将发送两次请求。</a:t>
            </a:r>
            <a:endParaRPr lang="en-US" altLang="zh-CN" sz="2800" dirty="0"/>
          </a:p>
          <a:p>
            <a:endParaRPr lang="zh-CN" altLang="en-US" sz="2800" dirty="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noAutofit/>
          </a:bodyPr>
          <a:lstStyle/>
          <a:p>
            <a:r>
              <a:rPr lang="zh-CN" altLang="en-US" sz="3600" dirty="0"/>
              <a:t>课程作业</a:t>
            </a:r>
            <a:r>
              <a:rPr lang="en-US" altLang="zh-CN" sz="3600" dirty="0"/>
              <a:t>-</a:t>
            </a:r>
            <a:r>
              <a:rPr lang="zh-CN" altLang="en-US" sz="3600" dirty="0"/>
              <a:t>补充需求</a:t>
            </a:r>
            <a:endParaRPr lang="zh-CN" altLang="en-US" sz="3600" dirty="0"/>
          </a:p>
        </p:txBody>
      </p:sp>
      <p:sp>
        <p:nvSpPr>
          <p:cNvPr id="3" name="内容占位符 2"/>
          <p:cNvSpPr>
            <a:spLocks noGrp="1"/>
          </p:cNvSpPr>
          <p:nvPr>
            <p:ph idx="1"/>
          </p:nvPr>
        </p:nvSpPr>
        <p:spPr>
          <a:xfrm>
            <a:off x="407368" y="908720"/>
            <a:ext cx="11377263" cy="5447631"/>
          </a:xfrm>
        </p:spPr>
        <p:txBody>
          <a:bodyPr>
            <a:noAutofit/>
          </a:bodyPr>
          <a:lstStyle/>
          <a:p>
            <a:pPr marL="514350" indent="-514350">
              <a:buFont typeface="+mj-lt"/>
              <a:buAutoNum type="arabicPeriod"/>
            </a:pPr>
            <a:r>
              <a:rPr lang="zh-CN" altLang="en-US" sz="2800" dirty="0"/>
              <a:t>假设宾馆有</a:t>
            </a:r>
            <a:r>
              <a:rPr lang="en-US" altLang="zh-CN" sz="2800" dirty="0"/>
              <a:t>x</a:t>
            </a:r>
            <a:r>
              <a:rPr lang="zh-CN" altLang="en-US" sz="2800" dirty="0"/>
              <a:t>间客房，由于服务能力受限，中央空调在同一时刻只能为</a:t>
            </a:r>
            <a:r>
              <a:rPr lang="en-US" altLang="zh-CN" sz="2800" dirty="0"/>
              <a:t>y</a:t>
            </a:r>
            <a:r>
              <a:rPr lang="zh-CN" altLang="en-US" sz="2800" dirty="0"/>
              <a:t>间（</a:t>
            </a:r>
            <a:r>
              <a:rPr lang="en-US" altLang="zh-CN" sz="2800" dirty="0"/>
              <a:t>x</a:t>
            </a:r>
            <a:r>
              <a:rPr lang="zh-CN" altLang="en-US" sz="2800" dirty="0"/>
              <a:t>＞</a:t>
            </a:r>
            <a:r>
              <a:rPr lang="en-US" altLang="zh-CN" sz="2800" dirty="0"/>
              <a:t>y</a:t>
            </a:r>
            <a:r>
              <a:rPr lang="zh-CN" altLang="en-US" sz="2800" dirty="0"/>
              <a:t>）提供送风服务。</a:t>
            </a:r>
            <a:endParaRPr lang="en-US" altLang="zh-CN" sz="2800" dirty="0"/>
          </a:p>
          <a:p>
            <a:pPr marL="857250" lvl="1" indent="-514350">
              <a:buFont typeface="+mj-lt"/>
              <a:buAutoNum type="alphaUcPeriod"/>
            </a:pPr>
            <a:r>
              <a:rPr lang="zh-CN" altLang="en-US" sz="2600" dirty="0"/>
              <a:t>为了兼顾公平和效率，需要对中央空调的送风服务进行调度；</a:t>
            </a:r>
            <a:endParaRPr lang="en-US" altLang="zh-CN" sz="2600" dirty="0"/>
          </a:p>
          <a:p>
            <a:pPr marL="857250" lvl="1" indent="-514350">
              <a:buFont typeface="+mj-lt"/>
              <a:buAutoNum type="alphaUcPeriod"/>
            </a:pPr>
            <a:r>
              <a:rPr lang="zh-CN" altLang="en-US" sz="2600" dirty="0"/>
              <a:t>优先级调度</a:t>
            </a:r>
            <a:r>
              <a:rPr lang="en-US" altLang="zh-CN" sz="2600" dirty="0"/>
              <a:t>+</a:t>
            </a:r>
            <a:r>
              <a:rPr lang="zh-CN" altLang="en-US" sz="2600" dirty="0"/>
              <a:t>时间片调度：</a:t>
            </a:r>
            <a:endParaRPr lang="en-US" altLang="zh-CN" sz="2600" dirty="0"/>
          </a:p>
          <a:p>
            <a:pPr marL="1200150" lvl="2" indent="-514350">
              <a:buFont typeface="+mj-lt"/>
              <a:buAutoNum type="alphaLcParenR"/>
            </a:pPr>
            <a:r>
              <a:rPr lang="zh-CN" altLang="en-US" sz="2400" dirty="0"/>
              <a:t>优先级调度：新送风请求的风速若</a:t>
            </a:r>
            <a:r>
              <a:rPr lang="zh-CN" altLang="en-US" sz="2400" dirty="0">
                <a:solidFill>
                  <a:srgbClr val="FF0000"/>
                </a:solidFill>
              </a:rPr>
              <a:t>高于（高风</a:t>
            </a:r>
            <a:r>
              <a:rPr lang="en-US" altLang="zh-CN" sz="2400" dirty="0">
                <a:solidFill>
                  <a:srgbClr val="FF0000"/>
                </a:solidFill>
              </a:rPr>
              <a:t>&gt;</a:t>
            </a:r>
            <a:r>
              <a:rPr lang="zh-CN" altLang="en-US" sz="2400" dirty="0">
                <a:solidFill>
                  <a:srgbClr val="FF0000"/>
                </a:solidFill>
              </a:rPr>
              <a:t>中风</a:t>
            </a:r>
            <a:r>
              <a:rPr lang="en-US" altLang="zh-CN" sz="2400" dirty="0">
                <a:solidFill>
                  <a:srgbClr val="FF0000"/>
                </a:solidFill>
              </a:rPr>
              <a:t>&gt;</a:t>
            </a:r>
            <a:r>
              <a:rPr lang="zh-CN" altLang="en-US" sz="2400" dirty="0">
                <a:solidFill>
                  <a:srgbClr val="FF0000"/>
                </a:solidFill>
              </a:rPr>
              <a:t>低风）</a:t>
            </a:r>
            <a:r>
              <a:rPr lang="zh-CN" altLang="en-US" sz="2400" dirty="0"/>
              <a:t>正在接受服务的某个送风请求，则将立即服务高风速请求；</a:t>
            </a:r>
            <a:endParaRPr lang="en-US" altLang="zh-CN" sz="2400" dirty="0"/>
          </a:p>
          <a:p>
            <a:pPr marL="1200150" lvl="2" indent="-514350">
              <a:buFont typeface="+mj-lt"/>
              <a:buAutoNum type="alphaLcParenR"/>
            </a:pPr>
            <a:r>
              <a:rPr lang="zh-CN" altLang="en-US" sz="2400" dirty="0"/>
              <a:t>时间片调度：若等待服务的送风请求与正在接受服务的送风请求相比，它们所请求的风速</a:t>
            </a:r>
            <a:r>
              <a:rPr lang="zh-CN" altLang="en-US" sz="2400" dirty="0">
                <a:solidFill>
                  <a:srgbClr val="FF0000"/>
                </a:solidFill>
              </a:rPr>
              <a:t>相同</a:t>
            </a:r>
            <a:r>
              <a:rPr lang="zh-CN" altLang="en-US" sz="2400" dirty="0"/>
              <a:t>，则新请求</a:t>
            </a:r>
            <a:r>
              <a:rPr lang="zh-CN" altLang="en-US" sz="2400" dirty="0">
                <a:solidFill>
                  <a:srgbClr val="FF0000"/>
                </a:solidFill>
              </a:rPr>
              <a:t>等待一段时间</a:t>
            </a:r>
            <a:r>
              <a:rPr lang="zh-CN" altLang="en-US" sz="2400" dirty="0"/>
              <a:t>后（</a:t>
            </a:r>
            <a:r>
              <a:rPr lang="en-US" altLang="zh-CN" sz="2400" dirty="0"/>
              <a:t>s</a:t>
            </a:r>
            <a:r>
              <a:rPr lang="zh-CN" altLang="en-US" sz="2400" dirty="0"/>
              <a:t>秒）获得送风服务，获得服务时间最长的房间被</a:t>
            </a:r>
            <a:r>
              <a:rPr lang="zh-CN" altLang="en-US" sz="2400" dirty="0">
                <a:solidFill>
                  <a:srgbClr val="FF0000"/>
                </a:solidFill>
              </a:rPr>
              <a:t>暂停</a:t>
            </a:r>
            <a:r>
              <a:rPr lang="zh-CN" altLang="en-US" sz="2400" dirty="0"/>
              <a:t>送风服务。</a:t>
            </a:r>
            <a:endParaRPr lang="en-US" altLang="zh-CN" sz="2400" dirty="0"/>
          </a:p>
          <a:p>
            <a:pPr marL="857250" lvl="1" indent="-514350">
              <a:buFont typeface="+mj-lt"/>
              <a:buAutoNum type="alphaUcPeriod"/>
            </a:pPr>
            <a:r>
              <a:rPr lang="zh-CN" altLang="en-US" sz="2600" dirty="0"/>
              <a:t>调节风速算作是发起一次新的送风请求，只调温不算新的请求；</a:t>
            </a:r>
            <a:endParaRPr lang="en-US" altLang="zh-CN" sz="2600" dirty="0"/>
          </a:p>
          <a:p>
            <a:pPr marL="685800" lvl="2" indent="0">
              <a:buNone/>
            </a:pPr>
            <a:endParaRPr lang="en-US" altLang="zh-CN" sz="2400" dirty="0"/>
          </a:p>
          <a:p>
            <a:pPr marL="0" indent="0">
              <a:buNone/>
            </a:pPr>
            <a:endParaRPr lang="zh-CN" altLang="en-US" sz="2800" dirty="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空调服务的理解</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dirty="0"/>
              <a:t>基于领域模型，可以得知酒店的空调系统由</a:t>
            </a:r>
            <a:r>
              <a:rPr lang="zh-CN" altLang="en-US" b="1" dirty="0">
                <a:solidFill>
                  <a:srgbClr val="C00000"/>
                </a:solidFill>
              </a:rPr>
              <a:t>中央空调</a:t>
            </a:r>
            <a:r>
              <a:rPr lang="zh-CN" altLang="en-US" dirty="0"/>
              <a:t>和</a:t>
            </a:r>
            <a:r>
              <a:rPr lang="zh-CN" altLang="en-US" b="1" dirty="0">
                <a:solidFill>
                  <a:srgbClr val="C00000"/>
                </a:solidFill>
              </a:rPr>
              <a:t>房间的客户端</a:t>
            </a:r>
            <a:r>
              <a:rPr lang="zh-CN" altLang="en-US" dirty="0"/>
              <a:t>组成；</a:t>
            </a:r>
            <a:endParaRPr lang="zh-CN" altLang="en-US" dirty="0"/>
          </a:p>
          <a:p>
            <a:r>
              <a:rPr lang="zh-CN" altLang="en-US" dirty="0"/>
              <a:t>房间的客户端发出请求，中央空调响应请求并提供</a:t>
            </a:r>
            <a:r>
              <a:rPr lang="zh-CN" altLang="en-US" b="1" dirty="0">
                <a:solidFill>
                  <a:srgbClr val="C00000"/>
                </a:solidFill>
              </a:rPr>
              <a:t>空调服务</a:t>
            </a:r>
            <a:r>
              <a:rPr lang="zh-CN" altLang="en-US" dirty="0"/>
              <a:t>和</a:t>
            </a:r>
            <a:r>
              <a:rPr lang="zh-CN" altLang="en-US" b="1" dirty="0">
                <a:solidFill>
                  <a:srgbClr val="C00000"/>
                </a:solidFill>
              </a:rPr>
              <a:t>计费服务</a:t>
            </a:r>
            <a:r>
              <a:rPr lang="zh-CN" altLang="en-US" dirty="0"/>
              <a:t>；</a:t>
            </a:r>
            <a:endParaRPr lang="zh-CN" altLang="en-US" dirty="0"/>
          </a:p>
          <a:p>
            <a:r>
              <a:rPr lang="zh-CN" altLang="en-US" dirty="0"/>
              <a:t>由于假定了空调系统提供的服务限制问题（可以理解为空调的服务能力不够），需要对所有的客房的</a:t>
            </a:r>
            <a:r>
              <a:rPr lang="zh-CN" altLang="en-US" b="1" dirty="0">
                <a:solidFill>
                  <a:srgbClr val="C00000"/>
                </a:solidFill>
              </a:rPr>
              <a:t>温控请求进行调度</a:t>
            </a:r>
            <a:r>
              <a:rPr lang="zh-CN" altLang="en-US" dirty="0"/>
              <a:t>，为此酒店提供空调服务的方式分成两个阶段：</a:t>
            </a:r>
            <a:r>
              <a:rPr lang="zh-CN" altLang="en-US" b="1" dirty="0">
                <a:solidFill>
                  <a:srgbClr val="C00000"/>
                </a:solidFill>
              </a:rPr>
              <a:t>调度对象</a:t>
            </a:r>
            <a:r>
              <a:rPr lang="zh-CN" altLang="en-US" dirty="0"/>
              <a:t>和</a:t>
            </a:r>
            <a:r>
              <a:rPr lang="zh-CN" altLang="en-US" b="1" dirty="0">
                <a:solidFill>
                  <a:srgbClr val="C00000"/>
                </a:solidFill>
              </a:rPr>
              <a:t>服务对象</a:t>
            </a:r>
            <a:r>
              <a:rPr lang="zh-CN" altLang="en-US" dirty="0"/>
              <a:t>；</a:t>
            </a:r>
            <a:endParaRPr lang="zh-CN" altLang="en-US" dirty="0"/>
          </a:p>
          <a:p>
            <a:r>
              <a:rPr lang="zh-CN" altLang="en-US" dirty="0"/>
              <a:t>  </a:t>
            </a:r>
            <a:r>
              <a:rPr lang="zh-CN" altLang="en-US" b="1" u="sng" dirty="0"/>
              <a:t>调度对象的职责</a:t>
            </a:r>
            <a:r>
              <a:rPr lang="zh-CN" altLang="en-US" dirty="0"/>
              <a:t>：</a:t>
            </a:r>
            <a:endParaRPr lang="zh-CN" altLang="en-US" dirty="0"/>
          </a:p>
          <a:p>
            <a:pPr marL="0" indent="0">
              <a:buNone/>
            </a:pPr>
            <a:r>
              <a:rPr lang="zh-CN" altLang="en-US" dirty="0"/>
              <a:t>      </a:t>
            </a:r>
            <a:r>
              <a:rPr lang="en-US" altLang="zh-CN" dirty="0"/>
              <a:t>1</a:t>
            </a:r>
            <a:r>
              <a:rPr lang="zh-CN" altLang="en-US" dirty="0"/>
              <a:t>、接收所有的客房发送过来的请求，判断是否需要调度，然后将请求转发给服务对象；</a:t>
            </a:r>
            <a:endParaRPr lang="zh-CN" altLang="en-US" dirty="0"/>
          </a:p>
          <a:p>
            <a:pPr marL="0" indent="0">
              <a:buNone/>
            </a:pPr>
            <a:r>
              <a:rPr lang="zh-CN" altLang="en-US" dirty="0"/>
              <a:t>      </a:t>
            </a:r>
            <a:r>
              <a:rPr lang="en-US" altLang="zh-CN" dirty="0"/>
              <a:t>2</a:t>
            </a:r>
            <a:r>
              <a:rPr lang="zh-CN" altLang="en-US" dirty="0"/>
              <a:t>、具备获取所有服务对象以及等待队列中请求的状态信息，为此具有提供监视各服务对象的职责；</a:t>
            </a:r>
            <a:endParaRPr lang="zh-CN" altLang="en-US" dirty="0"/>
          </a:p>
          <a:p>
            <a:r>
              <a:rPr lang="zh-CN" altLang="en-US" dirty="0"/>
              <a:t>  </a:t>
            </a:r>
            <a:r>
              <a:rPr lang="zh-CN" altLang="en-US" b="1" u="sng" dirty="0"/>
              <a:t>服务对象的职责</a:t>
            </a:r>
            <a:r>
              <a:rPr lang="zh-CN" altLang="en-US" dirty="0"/>
              <a:t>：</a:t>
            </a:r>
            <a:endParaRPr lang="zh-CN" altLang="en-US" dirty="0"/>
          </a:p>
          <a:p>
            <a:pPr marL="0" indent="0">
              <a:buNone/>
            </a:pPr>
            <a:r>
              <a:rPr lang="zh-CN" altLang="en-US" dirty="0"/>
              <a:t>      </a:t>
            </a:r>
            <a:r>
              <a:rPr lang="en-US" altLang="zh-CN" dirty="0"/>
              <a:t>1</a:t>
            </a:r>
            <a:r>
              <a:rPr lang="zh-CN" altLang="en-US" dirty="0"/>
              <a:t>、处理客房的温控请求，计算</a:t>
            </a:r>
            <a:r>
              <a:rPr lang="zh-CN" altLang="en-US" b="1" dirty="0">
                <a:solidFill>
                  <a:srgbClr val="C00000"/>
                </a:solidFill>
              </a:rPr>
              <a:t>温度变化</a:t>
            </a:r>
            <a:r>
              <a:rPr lang="zh-CN" altLang="en-US" dirty="0"/>
              <a:t>及</a:t>
            </a:r>
            <a:r>
              <a:rPr lang="zh-CN" altLang="en-US" b="1" dirty="0">
                <a:solidFill>
                  <a:srgbClr val="C00000"/>
                </a:solidFill>
              </a:rPr>
              <a:t>费用</a:t>
            </a:r>
            <a:r>
              <a:rPr lang="zh-CN" altLang="en-US" dirty="0"/>
              <a:t>；</a:t>
            </a:r>
            <a:endParaRPr lang="zh-CN" altLang="en-US" dirty="0"/>
          </a:p>
          <a:p>
            <a:pPr marL="0" indent="0">
              <a:buNone/>
            </a:pPr>
            <a:r>
              <a:rPr lang="zh-CN" altLang="en-US" dirty="0"/>
              <a:t>      </a:t>
            </a:r>
            <a:r>
              <a:rPr lang="en-US" altLang="zh-CN" dirty="0"/>
              <a:t>2</a:t>
            </a:r>
            <a:r>
              <a:rPr lang="zh-CN" altLang="en-US" dirty="0"/>
              <a:t>、负责客房</a:t>
            </a:r>
            <a:r>
              <a:rPr lang="zh-CN" altLang="en-US" b="1" dirty="0">
                <a:solidFill>
                  <a:srgbClr val="C00000"/>
                </a:solidFill>
              </a:rPr>
              <a:t>详单</a:t>
            </a:r>
            <a:r>
              <a:rPr lang="zh-CN" altLang="en-US" dirty="0"/>
              <a:t>和</a:t>
            </a:r>
            <a:r>
              <a:rPr lang="zh-CN" altLang="en-US" b="1" dirty="0">
                <a:solidFill>
                  <a:srgbClr val="C00000"/>
                </a:solidFill>
              </a:rPr>
              <a:t>账单</a:t>
            </a:r>
            <a:r>
              <a:rPr lang="zh-CN" altLang="en-US" dirty="0"/>
              <a:t>的生成；</a:t>
            </a:r>
            <a:endParaRPr lang="zh-CN" altLang="en-US" dirty="0"/>
          </a:p>
          <a:p>
            <a:pPr marL="0" indent="0">
              <a:buNone/>
            </a:pPr>
            <a:r>
              <a:rPr lang="zh-CN" altLang="en-US" dirty="0"/>
              <a:t>      </a:t>
            </a:r>
            <a:r>
              <a:rPr lang="en-US" altLang="zh-CN" dirty="0"/>
              <a:t>3</a:t>
            </a:r>
            <a:r>
              <a:rPr lang="zh-CN" altLang="en-US" dirty="0"/>
              <a:t>、负责生成</a:t>
            </a:r>
            <a:r>
              <a:rPr lang="zh-CN" altLang="en-US" b="1" dirty="0">
                <a:solidFill>
                  <a:srgbClr val="C00000"/>
                </a:solidFill>
              </a:rPr>
              <a:t>统计报表</a:t>
            </a:r>
            <a:r>
              <a:rPr lang="zh-CN" altLang="en-US" dirty="0"/>
              <a:t>；（这个职责也可以考虑第三个对象：统计对象）</a:t>
            </a:r>
            <a:endParaRPr lang="zh-CN" altLang="en-US" dirty="0"/>
          </a:p>
          <a:p>
            <a:endParaRPr lang="zh-CN" altLang="en-US" dirty="0"/>
          </a:p>
          <a:p>
            <a:r>
              <a:rPr lang="zh-CN" altLang="en-US" dirty="0"/>
              <a:t>系统的角色是请求发起方；服务方就需要有专门的响应请求方的服务对象（可以是一个服务对象也可以是多个服务对象）；</a:t>
            </a:r>
            <a:endParaRPr lang="zh-CN" altLang="en-US" dirty="0"/>
          </a:p>
          <a:p>
            <a:r>
              <a:rPr lang="zh-CN" altLang="en-US" dirty="0"/>
              <a:t>操作契约就是约定服务对象有哪个或有哪些必须响应请求以及相应请求后的状态（哪些属性值被修改或者文件被创建保存）；</a:t>
            </a:r>
            <a:endParaRPr lang="zh-CN" altLang="en-US"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调度策略</a:t>
            </a:r>
            <a:endParaRPr lang="zh-CN" altLang="en-US" dirty="0"/>
          </a:p>
        </p:txBody>
      </p:sp>
      <p:sp>
        <p:nvSpPr>
          <p:cNvPr id="3" name="内容占位符 2"/>
          <p:cNvSpPr>
            <a:spLocks noGrp="1"/>
          </p:cNvSpPr>
          <p:nvPr>
            <p:ph idx="1"/>
          </p:nvPr>
        </p:nvSpPr>
        <p:spPr/>
        <p:txBody>
          <a:bodyPr>
            <a:normAutofit/>
          </a:bodyPr>
          <a:lstStyle/>
          <a:p>
            <a:r>
              <a:rPr lang="zh-CN" altLang="en-US" b="1" dirty="0">
                <a:solidFill>
                  <a:srgbClr val="C00000"/>
                </a:solidFill>
              </a:rPr>
              <a:t>调度对象</a:t>
            </a:r>
            <a:r>
              <a:rPr lang="zh-CN" altLang="en-US" dirty="0"/>
              <a:t>负责接收空调客户端的请求，然后转发给</a:t>
            </a:r>
            <a:r>
              <a:rPr lang="zh-CN" altLang="en-US" b="1" dirty="0">
                <a:solidFill>
                  <a:srgbClr val="C00000"/>
                </a:solidFill>
              </a:rPr>
              <a:t>服务对象</a:t>
            </a:r>
            <a:r>
              <a:rPr lang="zh-CN" altLang="en-US" dirty="0"/>
              <a:t>进行温度计算和计费；</a:t>
            </a:r>
            <a:endParaRPr lang="zh-CN" altLang="en-US" dirty="0"/>
          </a:p>
          <a:p>
            <a:r>
              <a:rPr lang="zh-CN" altLang="en-US" dirty="0"/>
              <a:t>调度对象（可以认为是控制器对象）在系统服务器启动时进行</a:t>
            </a:r>
            <a:r>
              <a:rPr lang="zh-CN" altLang="en-US" b="1" dirty="0"/>
              <a:t>实例化</a:t>
            </a:r>
            <a:r>
              <a:rPr lang="zh-CN" altLang="en-US" dirty="0"/>
              <a:t>和</a:t>
            </a:r>
            <a:r>
              <a:rPr lang="zh-CN" altLang="en-US" b="1" dirty="0"/>
              <a:t>初始化</a:t>
            </a:r>
            <a:r>
              <a:rPr lang="zh-CN" altLang="en-US" dirty="0"/>
              <a:t>，需要创建两个队列：</a:t>
            </a:r>
            <a:endParaRPr lang="zh-CN" altLang="en-US" dirty="0"/>
          </a:p>
          <a:p>
            <a:pPr marL="0" indent="0">
              <a:buNone/>
            </a:pPr>
            <a:r>
              <a:rPr lang="zh-CN" altLang="en-US" dirty="0"/>
              <a:t>   </a:t>
            </a:r>
            <a:r>
              <a:rPr lang="en-US" altLang="zh-CN" dirty="0"/>
              <a:t>1</a:t>
            </a:r>
            <a:r>
              <a:rPr lang="zh-CN" altLang="en-US" dirty="0"/>
              <a:t>、</a:t>
            </a:r>
            <a:r>
              <a:rPr lang="zh-CN" altLang="en-US" b="1" u="sng" dirty="0"/>
              <a:t>服务队列</a:t>
            </a:r>
            <a:r>
              <a:rPr lang="zh-CN" altLang="en-US" dirty="0"/>
              <a:t>：记录房间号和服务对象的</a:t>
            </a:r>
            <a:r>
              <a:rPr lang="en-US" altLang="zh-CN" dirty="0"/>
              <a:t>ID</a:t>
            </a:r>
            <a:r>
              <a:rPr lang="zh-CN" altLang="en-US" dirty="0"/>
              <a:t>，风速以及服务时长；</a:t>
            </a:r>
            <a:endParaRPr lang="zh-CN" altLang="en-US" dirty="0"/>
          </a:p>
          <a:p>
            <a:pPr marL="0" indent="0">
              <a:buNone/>
            </a:pPr>
            <a:r>
              <a:rPr lang="zh-CN" altLang="en-US" dirty="0"/>
              <a:t>   </a:t>
            </a:r>
            <a:r>
              <a:rPr lang="en-US" altLang="zh-CN" dirty="0"/>
              <a:t>2</a:t>
            </a:r>
            <a:r>
              <a:rPr lang="zh-CN" altLang="en-US" dirty="0"/>
              <a:t>、</a:t>
            </a:r>
            <a:r>
              <a:rPr lang="zh-CN" altLang="en-US" b="1" u="sng" dirty="0"/>
              <a:t>等待队列</a:t>
            </a:r>
            <a:r>
              <a:rPr lang="zh-CN" altLang="en-US" dirty="0"/>
              <a:t>：记录房间号、风速和分配的等待服务时长。</a:t>
            </a:r>
            <a:endParaRPr lang="zh-CN" altLang="en-US" dirty="0"/>
          </a:p>
          <a:p>
            <a:endParaRPr lang="zh-CN" altLang="en-US" dirty="0"/>
          </a:p>
          <a:p>
            <a:r>
              <a:rPr lang="zh-CN" altLang="en-US" dirty="0"/>
              <a:t>基本的调度策略为：</a:t>
            </a:r>
            <a:r>
              <a:rPr lang="zh-CN" altLang="en-US" b="1" u="sng" dirty="0">
                <a:solidFill>
                  <a:srgbClr val="C00000"/>
                </a:solidFill>
              </a:rPr>
              <a:t>优先级调度</a:t>
            </a:r>
            <a:r>
              <a:rPr lang="en-US" altLang="zh-CN" b="1" u="sng" dirty="0">
                <a:solidFill>
                  <a:srgbClr val="C00000"/>
                </a:solidFill>
              </a:rPr>
              <a:t>+</a:t>
            </a:r>
            <a:r>
              <a:rPr lang="zh-CN" altLang="en-US" b="1" u="sng" dirty="0">
                <a:solidFill>
                  <a:srgbClr val="C00000"/>
                </a:solidFill>
              </a:rPr>
              <a:t>时间片调度</a:t>
            </a:r>
            <a:r>
              <a:rPr lang="zh-CN" altLang="en-US" dirty="0"/>
              <a:t>。</a:t>
            </a:r>
            <a:endParaRPr lang="zh-CN" altLang="en-US" dirty="0"/>
          </a:p>
          <a:p>
            <a:r>
              <a:rPr lang="zh-CN" altLang="en-US" dirty="0"/>
              <a:t>优先级调度的依据是</a:t>
            </a:r>
            <a:r>
              <a:rPr lang="zh-CN" altLang="en-US" dirty="0">
                <a:solidFill>
                  <a:srgbClr val="C00000"/>
                </a:solidFill>
              </a:rPr>
              <a:t>请求的风速</a:t>
            </a:r>
            <a:r>
              <a:rPr lang="zh-CN" altLang="en-US" dirty="0"/>
              <a:t>，为此调度时首先考虑优先级策略；当所有请求的风速相同时，再进行</a:t>
            </a:r>
            <a:r>
              <a:rPr lang="zh-CN" altLang="en-US" dirty="0">
                <a:solidFill>
                  <a:srgbClr val="C00000"/>
                </a:solidFill>
              </a:rPr>
              <a:t>时间片调度</a:t>
            </a:r>
            <a:r>
              <a:rPr lang="zh-CN" altLang="en-US" dirty="0"/>
              <a:t>；</a:t>
            </a:r>
            <a:endParaRPr lang="zh-CN" altLang="en-US" dirty="0"/>
          </a:p>
          <a:p>
            <a:pPr marL="0" indent="0">
              <a:buNone/>
            </a:pPr>
            <a:endParaRPr lang="zh-CN" altLang="en-US" dirty="0"/>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9175" y="116632"/>
            <a:ext cx="10765455" cy="645258"/>
          </a:xfrm>
        </p:spPr>
        <p:txBody>
          <a:bodyPr/>
          <a:lstStyle/>
          <a:p>
            <a:r>
              <a:rPr lang="zh-CN" altLang="en-US" dirty="0"/>
              <a:t>课程作业</a:t>
            </a:r>
            <a:r>
              <a:rPr lang="en-US" altLang="zh-CN" dirty="0"/>
              <a:t>-</a:t>
            </a:r>
            <a:r>
              <a:rPr lang="zh-CN" altLang="en-US" dirty="0"/>
              <a:t>调度策略</a:t>
            </a:r>
            <a:endParaRPr lang="zh-CN" altLang="en-US" dirty="0"/>
          </a:p>
        </p:txBody>
      </p:sp>
      <p:sp>
        <p:nvSpPr>
          <p:cNvPr id="3" name="内容占位符 2"/>
          <p:cNvSpPr>
            <a:spLocks noGrp="1"/>
          </p:cNvSpPr>
          <p:nvPr>
            <p:ph idx="1"/>
          </p:nvPr>
        </p:nvSpPr>
        <p:spPr>
          <a:xfrm>
            <a:off x="407368" y="620688"/>
            <a:ext cx="11377263" cy="5735663"/>
          </a:xfrm>
        </p:spPr>
        <p:txBody>
          <a:bodyPr>
            <a:noAutofit/>
          </a:bodyPr>
          <a:lstStyle/>
          <a:p>
            <a:pPr marL="0" indent="0">
              <a:buNone/>
            </a:pPr>
            <a:r>
              <a:rPr lang="en-US" altLang="zh-CN" sz="1200" dirty="0"/>
              <a:t>1</a:t>
            </a:r>
            <a:r>
              <a:rPr lang="zh-CN" altLang="en-US" sz="1200" dirty="0"/>
              <a:t>、当</a:t>
            </a:r>
            <a:r>
              <a:rPr lang="zh-CN" altLang="en-US" sz="1200" dirty="0">
                <a:solidFill>
                  <a:srgbClr val="C00000"/>
                </a:solidFill>
              </a:rPr>
              <a:t>服务对象数</a:t>
            </a:r>
            <a:r>
              <a:rPr lang="zh-CN" altLang="en-US" sz="1200" dirty="0"/>
              <a:t>小于</a:t>
            </a:r>
            <a:r>
              <a:rPr lang="zh-CN" altLang="en-US" sz="1200" dirty="0">
                <a:solidFill>
                  <a:srgbClr val="C00000"/>
                </a:solidFill>
              </a:rPr>
              <a:t>服务对象上限</a:t>
            </a:r>
            <a:r>
              <a:rPr lang="zh-CN" altLang="en-US" sz="1200" dirty="0"/>
              <a:t>时，所有请求会被分配一个服务对象；</a:t>
            </a:r>
            <a:endParaRPr lang="zh-CN" altLang="en-US" sz="1200" dirty="0"/>
          </a:p>
          <a:p>
            <a:pPr marL="0" indent="0">
              <a:buNone/>
            </a:pPr>
            <a:r>
              <a:rPr lang="en-US" altLang="zh-CN" sz="1200" dirty="0"/>
              <a:t>2</a:t>
            </a:r>
            <a:r>
              <a:rPr lang="zh-CN" altLang="en-US" sz="1200" dirty="0"/>
              <a:t>、当服务对象数大于等于服务对象上限时，启动</a:t>
            </a:r>
            <a:r>
              <a:rPr lang="zh-CN" altLang="en-US" sz="1200" dirty="0">
                <a:solidFill>
                  <a:srgbClr val="C00000"/>
                </a:solidFill>
              </a:rPr>
              <a:t>调度策略</a:t>
            </a:r>
            <a:r>
              <a:rPr lang="zh-CN" altLang="en-US" sz="1200" dirty="0"/>
              <a:t>：</a:t>
            </a:r>
            <a:endParaRPr lang="zh-CN" altLang="en-US" sz="1200" dirty="0"/>
          </a:p>
          <a:p>
            <a:pPr marL="0" indent="0">
              <a:buNone/>
            </a:pPr>
            <a:r>
              <a:rPr lang="zh-CN" altLang="en-US" sz="1200" dirty="0"/>
              <a:t>  首先判断是否符合优先级策略：</a:t>
            </a:r>
            <a:r>
              <a:rPr lang="zh-CN" altLang="en-US" sz="1200" u="sng" dirty="0">
                <a:solidFill>
                  <a:srgbClr val="C00000"/>
                </a:solidFill>
              </a:rPr>
              <a:t>请求服务的风速和服务对象的风速的大小</a:t>
            </a:r>
            <a:r>
              <a:rPr lang="zh-CN" altLang="en-US" sz="1200" dirty="0"/>
              <a:t>：</a:t>
            </a:r>
            <a:endParaRPr lang="zh-CN" altLang="en-US" sz="1200" dirty="0"/>
          </a:p>
          <a:p>
            <a:pPr marL="0" indent="0">
              <a:buNone/>
            </a:pPr>
            <a:r>
              <a:rPr lang="zh-CN" altLang="en-US" sz="1200" dirty="0"/>
              <a:t>    </a:t>
            </a:r>
            <a:r>
              <a:rPr lang="en-US" altLang="zh-CN" sz="1200" dirty="0"/>
              <a:t>2.1</a:t>
            </a:r>
            <a:r>
              <a:rPr lang="zh-CN" altLang="en-US" sz="1200" dirty="0"/>
              <a:t>、如果 判断 为 大于，则启动优先级调度策略，再判断有几个服务对象的风速低于请求风速：</a:t>
            </a:r>
            <a:endParaRPr lang="zh-CN" altLang="en-US" sz="1200" dirty="0"/>
          </a:p>
          <a:p>
            <a:pPr marL="0" indent="0">
              <a:buNone/>
            </a:pPr>
            <a:r>
              <a:rPr lang="zh-CN" altLang="en-US" sz="1200" dirty="0"/>
              <a:t>      </a:t>
            </a:r>
            <a:r>
              <a:rPr lang="en-US" altLang="zh-CN" sz="1200" dirty="0"/>
              <a:t>2.1.1 </a:t>
            </a:r>
            <a:r>
              <a:rPr lang="zh-CN" altLang="en-US" sz="1200" i="1" u="sng" dirty="0"/>
              <a:t>如果只有一个</a:t>
            </a:r>
            <a:r>
              <a:rPr lang="zh-CN" altLang="en-US" sz="1200" dirty="0"/>
              <a:t>，则该房间被放置于等待队列，并被分配一个等待服务时长</a:t>
            </a:r>
            <a:r>
              <a:rPr lang="en-US" altLang="zh-CN" sz="1200" b="1" dirty="0">
                <a:solidFill>
                  <a:srgbClr val="FF0000"/>
                </a:solidFill>
              </a:rPr>
              <a:t>s</a:t>
            </a:r>
            <a:r>
              <a:rPr lang="zh-CN" altLang="en-US" sz="1200" b="1" dirty="0">
                <a:solidFill>
                  <a:srgbClr val="FF0000"/>
                </a:solidFill>
              </a:rPr>
              <a:t>秒</a:t>
            </a:r>
            <a:r>
              <a:rPr lang="zh-CN" altLang="en-US" sz="1200" dirty="0"/>
              <a:t>；服务对象被释放并被分配给新的请求对象；</a:t>
            </a:r>
            <a:endParaRPr lang="zh-CN" altLang="en-US" sz="1200" dirty="0"/>
          </a:p>
          <a:p>
            <a:pPr marL="0" indent="0">
              <a:buNone/>
            </a:pPr>
            <a:r>
              <a:rPr lang="zh-CN" altLang="en-US" sz="1200" dirty="0"/>
              <a:t>      </a:t>
            </a:r>
            <a:r>
              <a:rPr lang="en-US" altLang="zh-CN" sz="1200" dirty="0"/>
              <a:t>2.1.2 </a:t>
            </a:r>
            <a:r>
              <a:rPr lang="zh-CN" altLang="en-US" sz="1200" i="1" u="sng" dirty="0"/>
              <a:t>如果有多个服务对象的风速相等且低于请求对象</a:t>
            </a:r>
            <a:r>
              <a:rPr lang="zh-CN" altLang="en-US" sz="1200" dirty="0"/>
              <a:t>，则服务时长最大的服务对象被释放并分配给新的请求对象，该房间被放置于等待队列，且分配一个等待服务时长</a:t>
            </a:r>
            <a:r>
              <a:rPr lang="en-US" altLang="zh-CN" sz="1200" b="1" dirty="0">
                <a:solidFill>
                  <a:srgbClr val="FF0000"/>
                </a:solidFill>
              </a:rPr>
              <a:t>s</a:t>
            </a:r>
            <a:r>
              <a:rPr lang="zh-CN" altLang="en-US" sz="1200" b="1" dirty="0">
                <a:solidFill>
                  <a:srgbClr val="FF0000"/>
                </a:solidFill>
              </a:rPr>
              <a:t>秒</a:t>
            </a:r>
            <a:r>
              <a:rPr lang="zh-CN" altLang="en-US" sz="1200" dirty="0"/>
              <a:t>；</a:t>
            </a:r>
            <a:endParaRPr lang="zh-CN" altLang="en-US" sz="1200" dirty="0"/>
          </a:p>
          <a:p>
            <a:pPr marL="0" indent="0">
              <a:buNone/>
            </a:pPr>
            <a:r>
              <a:rPr lang="zh-CN" altLang="en-US" sz="1200" dirty="0"/>
              <a:t>      </a:t>
            </a:r>
            <a:r>
              <a:rPr lang="en-US" altLang="zh-CN" sz="1200" dirty="0"/>
              <a:t>2.1.3 </a:t>
            </a:r>
            <a:r>
              <a:rPr lang="zh-CN" altLang="en-US" sz="1200" i="1" u="sng" dirty="0"/>
              <a:t>如果多个服务对象的风速低于请求风速，且风速不相等</a:t>
            </a:r>
            <a:r>
              <a:rPr lang="zh-CN" altLang="en-US" sz="1200" dirty="0"/>
              <a:t>，则将风速最低的服务对象释放，该房间被放置于等待队列，且分配一个等待服务时长</a:t>
            </a:r>
            <a:r>
              <a:rPr lang="en-US" altLang="zh-CN" sz="1200" b="1" dirty="0">
                <a:solidFill>
                  <a:srgbClr val="FF0000"/>
                </a:solidFill>
              </a:rPr>
              <a:t>s</a:t>
            </a:r>
            <a:r>
              <a:rPr lang="zh-CN" altLang="en-US" sz="1200" b="1" dirty="0">
                <a:solidFill>
                  <a:srgbClr val="FF0000"/>
                </a:solidFill>
              </a:rPr>
              <a:t>秒</a:t>
            </a:r>
            <a:r>
              <a:rPr lang="zh-CN" altLang="en-US" sz="1200" dirty="0"/>
              <a:t>；</a:t>
            </a:r>
            <a:endParaRPr lang="zh-CN" altLang="en-US" sz="1200" dirty="0"/>
          </a:p>
          <a:p>
            <a:pPr marL="0" indent="0">
              <a:buNone/>
            </a:pPr>
            <a:r>
              <a:rPr lang="zh-CN" altLang="en-US" sz="1200" dirty="0"/>
              <a:t>    </a:t>
            </a:r>
            <a:r>
              <a:rPr lang="en-US" altLang="zh-CN" sz="1200" dirty="0"/>
              <a:t>2.2 </a:t>
            </a:r>
            <a:r>
              <a:rPr lang="zh-CN" altLang="en-US" sz="1200" dirty="0"/>
              <a:t>如果 判断 为</a:t>
            </a:r>
            <a:r>
              <a:rPr lang="en-US" altLang="zh-CN" sz="1200" dirty="0"/>
              <a:t> </a:t>
            </a:r>
            <a:r>
              <a:rPr lang="zh-CN" altLang="en-US" sz="1200" dirty="0"/>
              <a:t>相等，则启动时间片调度策略</a:t>
            </a:r>
            <a:endParaRPr lang="zh-CN" altLang="en-US" sz="1200" dirty="0"/>
          </a:p>
          <a:p>
            <a:pPr marL="0" indent="0">
              <a:buNone/>
            </a:pPr>
            <a:r>
              <a:rPr lang="zh-CN" altLang="en-US" sz="1200" dirty="0"/>
              <a:t>       </a:t>
            </a:r>
            <a:r>
              <a:rPr lang="en-US" altLang="zh-CN" sz="1200" dirty="0"/>
              <a:t>2.2.1 </a:t>
            </a:r>
            <a:r>
              <a:rPr lang="zh-CN" altLang="en-US" sz="1200" dirty="0"/>
              <a:t>将请求对象放置于等待队列，并分配一个等待服务时长</a:t>
            </a:r>
            <a:r>
              <a:rPr lang="en-US" altLang="zh-CN" sz="1200" b="1" dirty="0">
                <a:solidFill>
                  <a:srgbClr val="FF0000"/>
                </a:solidFill>
              </a:rPr>
              <a:t>s</a:t>
            </a:r>
            <a:r>
              <a:rPr lang="zh-CN" altLang="en-US" sz="1200" b="1" dirty="0">
                <a:solidFill>
                  <a:srgbClr val="FF0000"/>
                </a:solidFill>
              </a:rPr>
              <a:t>秒</a:t>
            </a:r>
            <a:r>
              <a:rPr lang="zh-CN" altLang="en-US" sz="1200" dirty="0"/>
              <a:t>，并倒计时；</a:t>
            </a:r>
            <a:endParaRPr lang="zh-CN" altLang="en-US" sz="1200" dirty="0"/>
          </a:p>
          <a:p>
            <a:pPr marL="0" indent="0">
              <a:buNone/>
            </a:pPr>
            <a:r>
              <a:rPr lang="zh-CN" altLang="en-US" sz="1200" dirty="0"/>
              <a:t>       </a:t>
            </a:r>
            <a:r>
              <a:rPr lang="en-US" altLang="zh-CN" sz="1200" dirty="0"/>
              <a:t>2.2.2 </a:t>
            </a:r>
            <a:r>
              <a:rPr lang="zh-CN" altLang="en-US" sz="1200" dirty="0"/>
              <a:t>在这</a:t>
            </a:r>
            <a:r>
              <a:rPr lang="en-US" altLang="zh-CN" sz="1200" b="1" dirty="0">
                <a:solidFill>
                  <a:srgbClr val="C00000"/>
                </a:solidFill>
              </a:rPr>
              <a:t>s</a:t>
            </a:r>
            <a:r>
              <a:rPr lang="zh-CN" altLang="en-US" sz="1200" b="1" dirty="0">
                <a:solidFill>
                  <a:srgbClr val="C00000"/>
                </a:solidFill>
              </a:rPr>
              <a:t>秒</a:t>
            </a:r>
            <a:r>
              <a:rPr lang="zh-CN" altLang="en-US" sz="1200" dirty="0"/>
              <a:t>期间内，如果没有任何服务状态的变化，当等待服务时长减小到</a:t>
            </a:r>
            <a:r>
              <a:rPr lang="en-US" altLang="zh-CN" sz="1200" dirty="0"/>
              <a:t>0</a:t>
            </a:r>
            <a:r>
              <a:rPr lang="zh-CN" altLang="en-US" sz="1200" dirty="0"/>
              <a:t>时</a:t>
            </a:r>
            <a:endParaRPr lang="zh-CN" altLang="en-US" sz="1200" dirty="0"/>
          </a:p>
          <a:p>
            <a:pPr marL="0" indent="0">
              <a:buNone/>
            </a:pPr>
            <a:r>
              <a:rPr lang="zh-CN" altLang="en-US" sz="1200" dirty="0"/>
              <a:t>          将服务队列中服务时长最大的服务对象释放，该房间被放置于等待队列，且被分配一个等待服务时长</a:t>
            </a:r>
            <a:r>
              <a:rPr lang="en-US" altLang="zh-CN" sz="1200" b="1" dirty="0">
                <a:solidFill>
                  <a:srgbClr val="FF0000"/>
                </a:solidFill>
              </a:rPr>
              <a:t>s</a:t>
            </a:r>
            <a:r>
              <a:rPr lang="zh-CN" altLang="en-US" sz="1200" b="1" dirty="0">
                <a:solidFill>
                  <a:srgbClr val="FF0000"/>
                </a:solidFill>
              </a:rPr>
              <a:t>秒</a:t>
            </a:r>
            <a:r>
              <a:rPr lang="zh-CN" altLang="en-US" sz="1200" dirty="0"/>
              <a:t>；</a:t>
            </a:r>
            <a:endParaRPr lang="zh-CN" altLang="en-US" sz="1200" dirty="0"/>
          </a:p>
          <a:p>
            <a:pPr marL="0" indent="0">
              <a:buNone/>
            </a:pPr>
            <a:r>
              <a:rPr lang="zh-CN" altLang="en-US" sz="1200" dirty="0"/>
              <a:t>          等待服务对象被分配一个服务对象开始服务；</a:t>
            </a:r>
            <a:endParaRPr lang="zh-CN" altLang="en-US" sz="1200" dirty="0"/>
          </a:p>
          <a:p>
            <a:pPr marL="0" indent="0">
              <a:buNone/>
            </a:pPr>
            <a:r>
              <a:rPr lang="zh-CN" altLang="en-US" sz="1200" dirty="0"/>
              <a:t>       </a:t>
            </a:r>
            <a:r>
              <a:rPr lang="en-US" altLang="zh-CN" sz="1200" dirty="0"/>
              <a:t>2.2.3 </a:t>
            </a:r>
            <a:r>
              <a:rPr lang="zh-CN" altLang="en-US" sz="1200" dirty="0"/>
              <a:t>在这等待的</a:t>
            </a:r>
            <a:r>
              <a:rPr lang="en-US" altLang="zh-CN" sz="1200" dirty="0"/>
              <a:t>s</a:t>
            </a:r>
            <a:r>
              <a:rPr lang="zh-CN" altLang="en-US" sz="1200" dirty="0"/>
              <a:t>秒内，如果有任何一个服务对象的目标温度到达或关机（意味着服务对象释放）</a:t>
            </a:r>
            <a:endParaRPr lang="zh-CN" altLang="en-US" sz="1200" dirty="0"/>
          </a:p>
          <a:p>
            <a:pPr marL="0" indent="0">
              <a:buNone/>
            </a:pPr>
            <a:r>
              <a:rPr lang="zh-CN" altLang="en-US" sz="1200" dirty="0"/>
              <a:t>          则等待队列中的等待服务时长最久的对象获得服务对象；</a:t>
            </a:r>
            <a:endParaRPr lang="en-US" altLang="zh-CN" sz="1200" dirty="0"/>
          </a:p>
          <a:p>
            <a:pPr marL="0" indent="0">
              <a:buNone/>
            </a:pPr>
            <a:r>
              <a:rPr lang="en-US" altLang="zh-CN" sz="1200" dirty="0"/>
              <a:t>       2.2.4 </a:t>
            </a:r>
            <a:r>
              <a:rPr lang="zh-CN" altLang="en-US" sz="1200" dirty="0"/>
              <a:t>如果在等待期内，由于有更高风速的请求到达，导致直到</a:t>
            </a:r>
            <a:r>
              <a:rPr lang="en-US" altLang="zh-CN" sz="1200" dirty="0"/>
              <a:t>s</a:t>
            </a:r>
            <a:r>
              <a:rPr lang="zh-CN" altLang="en-US" sz="1200" dirty="0"/>
              <a:t>秒结束仍然没有被调度，则继续等待，但其优先级比同风速的请求中未等待满</a:t>
            </a:r>
            <a:r>
              <a:rPr lang="en-US" altLang="zh-CN" sz="1200" dirty="0"/>
              <a:t>s</a:t>
            </a:r>
            <a:r>
              <a:rPr lang="zh-CN" altLang="en-US" sz="1200" dirty="0"/>
              <a:t>秒的高</a:t>
            </a:r>
            <a:endParaRPr lang="zh-CN" altLang="en-US" sz="1200" dirty="0"/>
          </a:p>
          <a:p>
            <a:pPr marL="0" indent="0">
              <a:buNone/>
            </a:pPr>
            <a:r>
              <a:rPr lang="zh-CN" altLang="en-US" sz="1200" dirty="0"/>
              <a:t>   </a:t>
            </a:r>
            <a:r>
              <a:rPr lang="en-US" altLang="zh-CN" sz="1200" dirty="0"/>
              <a:t>2.3 </a:t>
            </a:r>
            <a:r>
              <a:rPr lang="zh-CN" altLang="en-US" sz="1200" dirty="0"/>
              <a:t>如果 判断 为</a:t>
            </a:r>
            <a:r>
              <a:rPr lang="en-US" altLang="zh-CN" sz="1200" dirty="0"/>
              <a:t> </a:t>
            </a:r>
            <a:r>
              <a:rPr lang="zh-CN" altLang="en-US" sz="1200" dirty="0"/>
              <a:t>小于，则 分配等待时长</a:t>
            </a:r>
            <a:r>
              <a:rPr lang="en-US" altLang="zh-CN" sz="1200" b="1" dirty="0">
                <a:solidFill>
                  <a:srgbClr val="FF0000"/>
                </a:solidFill>
              </a:rPr>
              <a:t>s</a:t>
            </a:r>
            <a:r>
              <a:rPr lang="zh-CN" altLang="en-US" sz="1200" b="1" dirty="0">
                <a:solidFill>
                  <a:srgbClr val="FF0000"/>
                </a:solidFill>
              </a:rPr>
              <a:t>秒，</a:t>
            </a:r>
            <a:r>
              <a:rPr lang="zh-CN" altLang="en-US" sz="1200" dirty="0"/>
              <a:t>且必须等到某个服务对象空闲后，并经过优先级比较后才能得到服务。</a:t>
            </a:r>
            <a:endParaRPr lang="zh-CN" altLang="en-US" sz="1200" dirty="0"/>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b="1">
                <a:effectLst/>
              </a:rPr>
              <a:t>领域</a:t>
            </a:r>
            <a:r>
              <a:rPr lang="zh-CN" altLang="en-US" b="1">
                <a:effectLst/>
              </a:rPr>
              <a:t>模型</a:t>
            </a:r>
            <a:endParaRPr lang="zh-CN" altLang="en-US" b="1">
              <a:effectLst/>
            </a:endParaRPr>
          </a:p>
        </p:txBody>
      </p:sp>
      <p:sp>
        <p:nvSpPr>
          <p:cNvPr id="5" name="副标题 4"/>
          <p:cNvSpPr>
            <a:spLocks noGrp="1"/>
          </p:cNvSpPr>
          <p:nvPr>
            <p:ph type="subTitle" idx="1"/>
          </p:nvPr>
        </p:nvSpPr>
        <p:spPr/>
        <p:txBody>
          <a:bodyPr/>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z="4400" smtClean="0">
                <a:effectLst/>
                <a:latin typeface="微软雅黑" panose="020B0503020204020204" charset="-122"/>
                <a:ea typeface="微软雅黑" panose="020B0503020204020204" charset="-122"/>
              </a:rPr>
              <a:t>领域模型</a:t>
            </a:r>
            <a:endParaRPr lang="zh-CN" altLang="en-US" sz="4400" smtClean="0">
              <a:effectLst/>
              <a:latin typeface="微软雅黑" panose="020B0503020204020204" charset="-122"/>
              <a:ea typeface="微软雅黑" panose="020B0503020204020204" charset="-122"/>
            </a:endParaRPr>
          </a:p>
        </p:txBody>
      </p:sp>
      <p:sp>
        <p:nvSpPr>
          <p:cNvPr id="57348" name="内容占位符 2"/>
          <p:cNvSpPr>
            <a:spLocks noGrp="1"/>
          </p:cNvSpPr>
          <p:nvPr>
            <p:ph idx="1"/>
          </p:nvPr>
        </p:nvSpPr>
        <p:spPr>
          <a:xfrm>
            <a:off x="647700" y="1583690"/>
            <a:ext cx="6106160" cy="4593590"/>
          </a:xfrm>
        </p:spPr>
        <p:txBody>
          <a:bodyPr>
            <a:noAutofit/>
          </a:bodyPr>
          <a:lstStyle/>
          <a:p>
            <a:pPr algn="just"/>
            <a:r>
              <a:rPr lang="zh-CN" altLang="en-US" sz="2400" dirty="0" smtClean="0">
                <a:effectLst/>
                <a:latin typeface="微软雅黑" panose="020B0503020204020204" charset="-122"/>
                <a:ea typeface="微软雅黑" panose="020B0503020204020204" charset="-122"/>
                <a:cs typeface="微软雅黑" panose="020B0503020204020204" charset="-122"/>
              </a:rPr>
              <a:t>领域模型：针对某一特定领域内概念类或者对象的抽象可视化表示，主要</a:t>
            </a:r>
            <a:r>
              <a:rPr lang="zh-CN" altLang="en-US" sz="2400" dirty="0">
                <a:effectLst/>
                <a:latin typeface="微软雅黑" panose="020B0503020204020204" charset="-122"/>
                <a:ea typeface="微软雅黑" panose="020B0503020204020204" charset="-122"/>
                <a:cs typeface="微软雅黑" panose="020B0503020204020204" charset="-122"/>
              </a:rPr>
              <a:t>用于概括地描述业务</a:t>
            </a:r>
            <a:r>
              <a:rPr lang="zh-CN" altLang="en-US" sz="2400" dirty="0" smtClean="0">
                <a:effectLst/>
                <a:latin typeface="微软雅黑" panose="020B0503020204020204" charset="-122"/>
                <a:ea typeface="微软雅黑" panose="020B0503020204020204" charset="-122"/>
                <a:cs typeface="微软雅黑" panose="020B0503020204020204" charset="-122"/>
              </a:rPr>
              <a:t>背景及</a:t>
            </a:r>
            <a:r>
              <a:rPr lang="zh-CN" altLang="en-US" sz="2400" dirty="0">
                <a:effectLst/>
                <a:latin typeface="微软雅黑" panose="020B0503020204020204" charset="-122"/>
                <a:ea typeface="微软雅黑" panose="020B0503020204020204" charset="-122"/>
                <a:cs typeface="微软雅黑" panose="020B0503020204020204" charset="-122"/>
              </a:rPr>
              <a:t>重要的业务流程，并通过</a:t>
            </a:r>
            <a:r>
              <a:rPr lang="en-US" altLang="zh-CN" sz="2400" dirty="0">
                <a:effectLst/>
                <a:latin typeface="微软雅黑" panose="020B0503020204020204" charset="-122"/>
                <a:ea typeface="微软雅黑" panose="020B0503020204020204" charset="-122"/>
                <a:cs typeface="微软雅黑" panose="020B0503020204020204" charset="-122"/>
              </a:rPr>
              <a:t>UML</a:t>
            </a:r>
            <a:r>
              <a:rPr lang="zh-CN" altLang="en-US" sz="2400" dirty="0">
                <a:effectLst/>
                <a:latin typeface="微软雅黑" panose="020B0503020204020204" charset="-122"/>
                <a:ea typeface="微软雅黑" panose="020B0503020204020204" charset="-122"/>
                <a:cs typeface="微软雅黑" panose="020B0503020204020204" charset="-122"/>
              </a:rPr>
              <a:t>的类图和活动图进行展示，帮</a:t>
            </a:r>
            <a:r>
              <a:rPr lang="zh-CN" altLang="en-US" sz="2400" dirty="0">
                <a:effectLst/>
                <a:latin typeface="微软雅黑" panose="020B0503020204020204" charset="-122"/>
                <a:ea typeface="微软雅黑" panose="020B0503020204020204" charset="-122"/>
                <a:cs typeface="微软雅黑" panose="020B0503020204020204" charset="-122"/>
              </a:rPr>
              <a:t>助软件开发人员在</a:t>
            </a:r>
            <a:r>
              <a:rPr lang="zh-CN" altLang="en-US" sz="2400" dirty="0">
                <a:effectLst/>
                <a:latin typeface="微软雅黑" panose="020B0503020204020204" charset="-122"/>
                <a:ea typeface="微软雅黑" panose="020B0503020204020204" charset="-122"/>
                <a:cs typeface="微软雅黑" panose="020B0503020204020204" charset="-122"/>
              </a:rPr>
              <a:t>短时间内了解业务。</a:t>
            </a:r>
            <a:endParaRPr lang="en-US" altLang="zh-CN" sz="2400" dirty="0">
              <a:effectLst/>
              <a:latin typeface="微软雅黑" panose="020B0503020204020204" charset="-122"/>
              <a:ea typeface="微软雅黑" panose="020B0503020204020204" charset="-122"/>
              <a:cs typeface="微软雅黑" panose="020B0503020204020204" charset="-122"/>
            </a:endParaRPr>
          </a:p>
          <a:p>
            <a:pPr lvl="1" algn="just"/>
            <a:r>
              <a:rPr lang="zh-CN" altLang="en-US" sz="2000" b="1" dirty="0">
                <a:solidFill>
                  <a:schemeClr val="tx1"/>
                </a:solidFill>
                <a:effectLst/>
                <a:latin typeface="微软雅黑" panose="020B0503020204020204" charset="-122"/>
                <a:ea typeface="微软雅黑" panose="020B0503020204020204" charset="-122"/>
                <a:cs typeface="微软雅黑" panose="020B0503020204020204" charset="-122"/>
              </a:rPr>
              <a:t>业务对象</a:t>
            </a:r>
            <a:r>
              <a:rPr lang="zh-CN" altLang="en-US" sz="2000" dirty="0" smtClean="0">
                <a:solidFill>
                  <a:schemeClr val="tx1"/>
                </a:solidFill>
                <a:effectLst/>
                <a:latin typeface="微软雅黑" panose="020B0503020204020204" charset="-122"/>
                <a:ea typeface="微软雅黑" panose="020B0503020204020204" charset="-122"/>
                <a:cs typeface="微软雅黑" panose="020B0503020204020204" charset="-122"/>
              </a:rPr>
              <a:t>：可</a:t>
            </a:r>
            <a:r>
              <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rPr>
              <a:t>由需求定义或者用例说明中具有代表业务概念或者业务对象的词汇获得，这些词汇可统称为“概念类”；并通过能够代表关系的词汇建立概念类之间的关系，表示成能够代表业务知识结构的</a:t>
            </a:r>
            <a:r>
              <a:rPr lang="zh-CN" altLang="en-US" sz="2400" b="1" dirty="0">
                <a:solidFill>
                  <a:schemeClr val="tx1"/>
                </a:solidFill>
                <a:effectLst/>
                <a:latin typeface="微软雅黑" panose="020B0503020204020204" charset="-122"/>
                <a:ea typeface="微软雅黑" panose="020B0503020204020204" charset="-122"/>
                <a:cs typeface="微软雅黑" panose="020B0503020204020204" charset="-122"/>
              </a:rPr>
              <a:t>类图</a:t>
            </a:r>
            <a:r>
              <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rPr>
              <a:t>；</a:t>
            </a:r>
            <a:endParaRPr lang="en-US" altLang="zh-CN" sz="2000" dirty="0">
              <a:solidFill>
                <a:schemeClr val="tx1"/>
              </a:solidFill>
              <a:effectLst/>
              <a:latin typeface="微软雅黑" panose="020B0503020204020204" charset="-122"/>
              <a:ea typeface="微软雅黑" panose="020B0503020204020204" charset="-122"/>
              <a:cs typeface="微软雅黑" panose="020B0503020204020204" charset="-122"/>
            </a:endParaRPr>
          </a:p>
          <a:p>
            <a:pPr lvl="1" algn="just" fontAlgn="auto">
              <a:lnSpc>
                <a:spcPct val="100000"/>
              </a:lnSpc>
            </a:pPr>
            <a:r>
              <a:rPr lang="zh-CN" altLang="en-US" sz="2000" b="1" dirty="0">
                <a:solidFill>
                  <a:schemeClr val="tx1"/>
                </a:solidFill>
                <a:effectLst/>
                <a:latin typeface="微软雅黑" panose="020B0503020204020204" charset="-122"/>
                <a:ea typeface="微软雅黑" panose="020B0503020204020204" charset="-122"/>
                <a:cs typeface="微软雅黑" panose="020B0503020204020204" charset="-122"/>
              </a:rPr>
              <a:t>业务</a:t>
            </a:r>
            <a:r>
              <a:rPr lang="zh-CN" altLang="en-US" sz="2000" b="1" dirty="0" smtClean="0">
                <a:solidFill>
                  <a:schemeClr val="tx1"/>
                </a:solidFill>
                <a:effectLst/>
                <a:latin typeface="微软雅黑" panose="020B0503020204020204" charset="-122"/>
                <a:ea typeface="微软雅黑" panose="020B0503020204020204" charset="-122"/>
                <a:cs typeface="微软雅黑" panose="020B0503020204020204" charset="-122"/>
              </a:rPr>
              <a:t>流程</a:t>
            </a:r>
            <a:r>
              <a:rPr lang="zh-CN" altLang="en-US" sz="2000" dirty="0" smtClean="0">
                <a:solidFill>
                  <a:schemeClr val="tx1"/>
                </a:solidFill>
                <a:effectLst/>
                <a:latin typeface="微软雅黑" panose="020B0503020204020204" charset="-122"/>
                <a:ea typeface="微软雅黑" panose="020B0503020204020204" charset="-122"/>
                <a:cs typeface="微软雅黑" panose="020B0503020204020204" charset="-122"/>
              </a:rPr>
              <a:t>：一般</a:t>
            </a:r>
            <a:r>
              <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rPr>
              <a:t>由角色及其执行的活动（活动及任务节点）构成，活动的输出一般有数据对象和传给另一个活动的消息组成，</a:t>
            </a:r>
            <a:r>
              <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rPr>
              <a:t>可使用</a:t>
            </a:r>
            <a:r>
              <a:rPr lang="zh-CN" altLang="en-US" sz="2400" b="1" dirty="0">
                <a:solidFill>
                  <a:schemeClr val="tx1"/>
                </a:solidFill>
                <a:effectLst/>
                <a:latin typeface="微软雅黑" panose="020B0503020204020204" charset="-122"/>
                <a:ea typeface="微软雅黑" panose="020B0503020204020204" charset="-122"/>
                <a:cs typeface="微软雅黑" panose="020B0503020204020204" charset="-122"/>
              </a:rPr>
              <a:t>活动图</a:t>
            </a:r>
            <a:r>
              <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rPr>
              <a:t>进行描述。</a:t>
            </a:r>
            <a:endParaRPr lang="zh-CN" altLang="en-US" sz="2000" dirty="0">
              <a:solidFill>
                <a:schemeClr val="tx1"/>
              </a:solidFill>
              <a:effectLst/>
              <a:latin typeface="微软雅黑" panose="020B0503020204020204" charset="-122"/>
              <a:ea typeface="微软雅黑" panose="020B0503020204020204" charset="-122"/>
              <a:cs typeface="微软雅黑" panose="020B0503020204020204" charset="-122"/>
            </a:endParaRPr>
          </a:p>
        </p:txBody>
      </p:sp>
      <p:pic>
        <p:nvPicPr>
          <p:cNvPr id="4" name="图片 2"/>
          <p:cNvPicPr>
            <a:picLocks noChangeAspect="1"/>
          </p:cNvPicPr>
          <p:nvPr/>
        </p:nvPicPr>
        <p:blipFill>
          <a:blip r:embed="rId1"/>
          <a:stretch>
            <a:fillRect/>
          </a:stretch>
        </p:blipFill>
        <p:spPr>
          <a:xfrm>
            <a:off x="7224713" y="727075"/>
            <a:ext cx="4545965" cy="3016250"/>
          </a:xfrm>
          <a:prstGeom prst="rect">
            <a:avLst/>
          </a:prstGeom>
          <a:noFill/>
          <a:ln>
            <a:noFill/>
          </a:ln>
        </p:spPr>
      </p:pic>
      <p:pic>
        <p:nvPicPr>
          <p:cNvPr id="5" name="图片 4"/>
          <p:cNvPicPr>
            <a:picLocks noChangeAspect="1"/>
          </p:cNvPicPr>
          <p:nvPr/>
        </p:nvPicPr>
        <p:blipFill>
          <a:blip r:embed="rId2"/>
          <a:stretch>
            <a:fillRect/>
          </a:stretch>
        </p:blipFill>
        <p:spPr>
          <a:xfrm>
            <a:off x="7198995" y="3909060"/>
            <a:ext cx="4572000" cy="2548890"/>
          </a:xfrm>
          <a:prstGeom prst="rect">
            <a:avLst/>
          </a:prstGeom>
          <a:noFill/>
          <a:ln>
            <a:noFill/>
          </a:ln>
        </p:spPr>
      </p:pic>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a:xfrm>
            <a:off x="647700" y="258445"/>
            <a:ext cx="10515600" cy="812800"/>
          </a:xfrm>
        </p:spPr>
        <p:txBody>
          <a:bodyPr/>
          <a:lstStyle/>
          <a:p>
            <a:r>
              <a:rPr lang="zh-CN" altLang="en-US" sz="3600">
                <a:effectLst/>
              </a:rPr>
              <a:t>创建领域模型的步骤</a:t>
            </a:r>
            <a:endParaRPr lang="zh-CN" altLang="en-US" sz="3600">
              <a:effectLst/>
            </a:endParaRPr>
          </a:p>
        </p:txBody>
      </p:sp>
      <p:sp>
        <p:nvSpPr>
          <p:cNvPr id="74756" name="Rectangle 3"/>
          <p:cNvSpPr>
            <a:spLocks noGrp="1" noChangeArrowheads="1"/>
          </p:cNvSpPr>
          <p:nvPr>
            <p:ph idx="1"/>
          </p:nvPr>
        </p:nvSpPr>
        <p:spPr>
          <a:xfrm>
            <a:off x="647700" y="1158240"/>
            <a:ext cx="6038215" cy="5019040"/>
          </a:xfrm>
        </p:spPr>
        <p:txBody>
          <a:bodyPr>
            <a:noAutofit/>
          </a:bodyPr>
          <a:lstStyle/>
          <a:p>
            <a:pPr>
              <a:lnSpc>
                <a:spcPct val="100000"/>
              </a:lnSpc>
              <a:spcBef>
                <a:spcPct val="30000"/>
              </a:spcBef>
            </a:pP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领域模型的创建步骤：</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endParaRPr>
          </a:p>
          <a:p>
            <a:pPr lvl="1">
              <a:lnSpc>
                <a:spcPct val="100000"/>
              </a:lnSpc>
              <a:spcBef>
                <a:spcPct val="30000"/>
              </a:spcBef>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第</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步，找出当前需求中的</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候选概念类</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lvl="1">
              <a:lnSpc>
                <a:spcPct val="100000"/>
              </a:lnSpc>
              <a:spcBef>
                <a:spcPct val="30000"/>
              </a:spcBef>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第</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步，在领域模型中描述这些</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概念类</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。用问题域中的词汇对概念类进行命名，将与当前需求无关的概念类排除在外。</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lvl="1">
              <a:lnSpc>
                <a:spcPct val="100000"/>
              </a:lnSpc>
              <a:spcBef>
                <a:spcPct val="30000"/>
              </a:spcBef>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第</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步，在概念类之间添加必要的</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关联</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来记录那些需要保存记忆的关系，概念之间的关系用关联、继承、组合</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聚合来表示。</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lvl="2">
              <a:lnSpc>
                <a:spcPct val="100000"/>
              </a:lnSpc>
              <a:spcBef>
                <a:spcPct val="30000"/>
              </a:spcBef>
            </a:pPr>
            <a:r>
              <a:rPr lang="en-US" altLang="zh-CN" sz="1775"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775" dirty="0">
                <a:solidFill>
                  <a:schemeClr val="tx1"/>
                </a:solidFill>
                <a:latin typeface="微软雅黑" panose="020B0503020204020204" charset="-122"/>
                <a:ea typeface="微软雅黑" panose="020B0503020204020204" charset="-122"/>
                <a:cs typeface="微软雅黑" panose="020B0503020204020204" charset="-122"/>
              </a:rPr>
              <a:t>需要知道</a:t>
            </a:r>
            <a:r>
              <a:rPr lang="en-US" altLang="zh-CN" sz="1775"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775" dirty="0">
                <a:solidFill>
                  <a:schemeClr val="tx1"/>
                </a:solidFill>
                <a:latin typeface="微软雅黑" panose="020B0503020204020204" charset="-122"/>
                <a:ea typeface="微软雅黑" panose="020B0503020204020204" charset="-122"/>
                <a:cs typeface="微软雅黑" panose="020B0503020204020204" charset="-122"/>
              </a:rPr>
              <a:t>型关联：需要将概念之间的关系信息保持一段时间的关联。</a:t>
            </a:r>
            <a:endParaRPr lang="zh-CN" altLang="en-US" sz="1775" dirty="0">
              <a:solidFill>
                <a:schemeClr val="tx1"/>
              </a:solidFill>
              <a:latin typeface="微软雅黑" panose="020B0503020204020204" charset="-122"/>
              <a:ea typeface="微软雅黑" panose="020B0503020204020204" charset="-122"/>
              <a:cs typeface="微软雅黑" panose="020B0503020204020204" charset="-122"/>
            </a:endParaRPr>
          </a:p>
          <a:p>
            <a:pPr lvl="2">
              <a:lnSpc>
                <a:spcPct val="100000"/>
              </a:lnSpc>
              <a:spcBef>
                <a:spcPct val="30000"/>
              </a:spcBef>
            </a:pPr>
            <a:r>
              <a:rPr lang="en-US" altLang="zh-CN" sz="1775"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775" dirty="0">
                <a:solidFill>
                  <a:schemeClr val="tx1"/>
                </a:solidFill>
                <a:latin typeface="微软雅黑" panose="020B0503020204020204" charset="-122"/>
                <a:ea typeface="微软雅黑" panose="020B0503020204020204" charset="-122"/>
                <a:cs typeface="微软雅黑" panose="020B0503020204020204" charset="-122"/>
              </a:rPr>
              <a:t>只需理解</a:t>
            </a:r>
            <a:r>
              <a:rPr lang="en-US" altLang="zh-CN" sz="1775"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775" dirty="0">
                <a:solidFill>
                  <a:schemeClr val="tx1"/>
                </a:solidFill>
                <a:latin typeface="微软雅黑" panose="020B0503020204020204" charset="-122"/>
                <a:ea typeface="微软雅黑" panose="020B0503020204020204" charset="-122"/>
                <a:cs typeface="微软雅黑" panose="020B0503020204020204" charset="-122"/>
              </a:rPr>
              <a:t>型关联：有助于增强对领域中关键概念的理解的关联。</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a:p>
            <a:pPr lvl="1">
              <a:lnSpc>
                <a:spcPct val="100000"/>
              </a:lnSpc>
              <a:spcBef>
                <a:spcPct val="30000"/>
              </a:spcBef>
            </a:pP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第</a:t>
            </a:r>
            <a:r>
              <a:rPr lang="en-US" altLang="zh-CN" sz="2000" dirty="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步，在概念类中添加用来实现需求的必要</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属性</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0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 name="Rectangle 3"/>
          <p:cNvSpPr>
            <a:spLocks noGrp="1" noChangeArrowheads="1"/>
          </p:cNvSpPr>
          <p:nvPr/>
        </p:nvSpPr>
        <p:spPr>
          <a:xfrm>
            <a:off x="6858000" y="478790"/>
            <a:ext cx="4822190" cy="680085"/>
          </a:xfrm>
          <a:prstGeom prst="rect">
            <a:avLst/>
          </a:prstGeom>
          <a:solidFill>
            <a:schemeClr val="bg1">
              <a:lumMod val="8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2400" b="1" dirty="0">
                <a:solidFill>
                  <a:srgbClr val="C00000"/>
                </a:solidFill>
              </a:rPr>
              <a:t>是</a:t>
            </a:r>
            <a:r>
              <a:rPr lang="zh-CN" altLang="en-US" sz="1800" b="1" dirty="0">
                <a:solidFill>
                  <a:schemeClr val="tx1"/>
                </a:solidFill>
              </a:rPr>
              <a:t>客观世界事物，</a:t>
            </a:r>
            <a:r>
              <a:rPr lang="zh-CN" altLang="en-US" sz="2400" b="1" dirty="0">
                <a:solidFill>
                  <a:srgbClr val="C00000"/>
                </a:solidFill>
                <a:sym typeface="+mn-ea"/>
              </a:rPr>
              <a:t>非</a:t>
            </a:r>
            <a:r>
              <a:rPr lang="zh-CN" altLang="en-US" sz="1800" b="1" dirty="0">
                <a:solidFill>
                  <a:schemeClr val="tx1"/>
                </a:solidFill>
                <a:sym typeface="+mn-ea"/>
              </a:rPr>
              <a:t>软件对象</a:t>
            </a:r>
            <a:endParaRPr lang="zh-CN" altLang="en-US" sz="1800" b="1" dirty="0">
              <a:solidFill>
                <a:schemeClr val="tx1"/>
              </a:solidFill>
              <a:sym typeface="+mn-ea"/>
            </a:endParaRPr>
          </a:p>
        </p:txBody>
      </p:sp>
      <p:graphicFrame>
        <p:nvGraphicFramePr>
          <p:cNvPr id="4" name="表格 3"/>
          <p:cNvGraphicFramePr/>
          <p:nvPr>
            <p:custDataLst>
              <p:tags r:id="rId1"/>
            </p:custDataLst>
          </p:nvPr>
        </p:nvGraphicFramePr>
        <p:xfrm>
          <a:off x="6858000" y="3233420"/>
          <a:ext cx="4821555" cy="3232150"/>
        </p:xfrm>
        <a:graphic>
          <a:graphicData uri="http://schemas.openxmlformats.org/drawingml/2006/table">
            <a:tbl>
              <a:tblPr/>
              <a:tblGrid>
                <a:gridCol w="1607185"/>
                <a:gridCol w="1607185"/>
                <a:gridCol w="1607185"/>
              </a:tblGrid>
              <a:tr h="523875">
                <a:tc>
                  <a:txBody>
                    <a:bodyPr/>
                    <a:p>
                      <a:pPr algn="ctr" fontAlgn="ctr"/>
                      <a:r>
                        <a:rPr lang="zh-CN" altLang="en-US" sz="1400" b="0" i="0">
                          <a:solidFill>
                            <a:schemeClr val="bg1"/>
                          </a:solidFill>
                          <a:latin typeface="微软雅黑" panose="020B0503020204020204" charset="-122"/>
                          <a:ea typeface="微软雅黑" panose="020B0503020204020204" charset="-122"/>
                        </a:rPr>
                        <a:t>对比项</a:t>
                      </a:r>
                      <a:endParaRPr lang="zh-CN" altLang="en-US" sz="1400" b="0" i="0">
                        <a:solidFill>
                          <a:schemeClr val="bg1"/>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4165A4"/>
                    </a:solidFill>
                  </a:tcPr>
                </a:tc>
                <a:tc>
                  <a:txBody>
                    <a:bodyPr/>
                    <a:p>
                      <a:pPr algn="ctr" fontAlgn="ctr"/>
                      <a:r>
                        <a:rPr lang="zh-CN" altLang="en-US" sz="1400" b="0" i="0">
                          <a:solidFill>
                            <a:schemeClr val="bg1"/>
                          </a:solidFill>
                          <a:latin typeface="微软雅黑" panose="020B0503020204020204" charset="-122"/>
                          <a:ea typeface="微软雅黑" panose="020B0503020204020204" charset="-122"/>
                        </a:rPr>
                        <a:t>需要知道型</a:t>
                      </a:r>
                      <a:endParaRPr lang="zh-CN" altLang="en-US" sz="1400" b="0" i="0">
                        <a:solidFill>
                          <a:schemeClr val="bg1"/>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4165A4"/>
                    </a:solidFill>
                  </a:tcPr>
                </a:tc>
                <a:tc>
                  <a:txBody>
                    <a:bodyPr/>
                    <a:p>
                      <a:pPr algn="ctr" fontAlgn="ctr"/>
                      <a:r>
                        <a:rPr lang="zh-CN" altLang="en-US" sz="1400" b="0" i="0">
                          <a:solidFill>
                            <a:schemeClr val="bg1"/>
                          </a:solidFill>
                          <a:latin typeface="微软雅黑" panose="020B0503020204020204" charset="-122"/>
                          <a:ea typeface="微软雅黑" panose="020B0503020204020204" charset="-122"/>
                        </a:rPr>
                        <a:t>只需理解型</a:t>
                      </a:r>
                      <a:endParaRPr lang="zh-CN" altLang="en-US" sz="1400" b="0" i="0">
                        <a:solidFill>
                          <a:schemeClr val="bg1"/>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4165A4"/>
                    </a:solidFill>
                  </a:tcPr>
                </a:tc>
              </a:tr>
              <a:tr h="674370">
                <a:tc>
                  <a:txBody>
                    <a:bodyPr/>
                    <a:p>
                      <a:pPr algn="ctr" fontAlgn="ctr"/>
                      <a:r>
                        <a:rPr lang="zh-CN" altLang="en-US" sz="1400" b="0" i="0">
                          <a:solidFill>
                            <a:srgbClr val="000000"/>
                          </a:solidFill>
                          <a:latin typeface="微软雅黑" panose="020B0503020204020204" charset="-122"/>
                          <a:ea typeface="微软雅黑" panose="020B0503020204020204" charset="-122"/>
                        </a:rPr>
                        <a:t>目的</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支持对象导航、</a:t>
                      </a:r>
                      <a:endParaRPr lang="zh-CN" altLang="en-US" sz="1400" b="0" i="0">
                        <a:solidFill>
                          <a:srgbClr val="000000"/>
                        </a:solidFill>
                        <a:latin typeface="微软雅黑" panose="020B0503020204020204" charset="-122"/>
                        <a:ea typeface="微软雅黑" panose="020B0503020204020204" charset="-122"/>
                      </a:endParaRPr>
                    </a:p>
                    <a:p>
                      <a:pPr algn="ctr" fontAlgn="ctr"/>
                      <a:r>
                        <a:rPr lang="zh-CN" altLang="en-US" sz="1400" b="0" i="0">
                          <a:solidFill>
                            <a:srgbClr val="000000"/>
                          </a:solidFill>
                          <a:latin typeface="微软雅黑" panose="020B0503020204020204" charset="-122"/>
                          <a:ea typeface="微软雅黑" panose="020B0503020204020204" charset="-122"/>
                        </a:rPr>
                        <a:t>完成业务逻辑</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仅表达业务语义、便于理解</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614680">
                <a:tc>
                  <a:txBody>
                    <a:bodyPr/>
                    <a:p>
                      <a:pPr algn="ctr" fontAlgn="ctr"/>
                      <a:r>
                        <a:rPr lang="zh-CN" altLang="en-US" sz="1400" b="0" i="0">
                          <a:solidFill>
                            <a:srgbClr val="000000"/>
                          </a:solidFill>
                          <a:latin typeface="微软雅黑" panose="020B0503020204020204" charset="-122"/>
                          <a:ea typeface="微软雅黑" panose="020B0503020204020204" charset="-122"/>
                        </a:rPr>
                        <a:t>是否需要引用</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是，</a:t>
                      </a:r>
                      <a:endParaRPr lang="zh-CN" altLang="en-US" sz="1400" b="0" i="0">
                        <a:solidFill>
                          <a:srgbClr val="000000"/>
                        </a:solidFill>
                        <a:latin typeface="微软雅黑" panose="020B0503020204020204" charset="-122"/>
                        <a:ea typeface="微软雅黑" panose="020B0503020204020204" charset="-122"/>
                      </a:endParaRPr>
                    </a:p>
                    <a:p>
                      <a:pPr algn="ctr" fontAlgn="ctr"/>
                      <a:r>
                        <a:rPr lang="zh-CN" altLang="en-US" sz="1400" b="0" i="0">
                          <a:solidFill>
                            <a:srgbClr val="000000"/>
                          </a:solidFill>
                          <a:latin typeface="微软雅黑" panose="020B0503020204020204" charset="-122"/>
                          <a:ea typeface="微软雅黑" panose="020B0503020204020204" charset="-122"/>
                        </a:rPr>
                        <a:t>必须持有对方引用</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否，</a:t>
                      </a:r>
                      <a:endParaRPr lang="zh-CN" altLang="en-US" sz="1400" b="0" i="0">
                        <a:solidFill>
                          <a:srgbClr val="000000"/>
                        </a:solidFill>
                        <a:latin typeface="微软雅黑" panose="020B0503020204020204" charset="-122"/>
                        <a:ea typeface="微软雅黑" panose="020B0503020204020204" charset="-122"/>
                      </a:endParaRPr>
                    </a:p>
                    <a:p>
                      <a:pPr algn="ctr" fontAlgn="ctr"/>
                      <a:r>
                        <a:rPr lang="zh-CN" altLang="en-US" sz="1400" b="0" i="0">
                          <a:solidFill>
                            <a:srgbClr val="000000"/>
                          </a:solidFill>
                          <a:latin typeface="微软雅黑" panose="020B0503020204020204" charset="-122"/>
                          <a:ea typeface="微软雅黑" panose="020B0503020204020204" charset="-122"/>
                        </a:rPr>
                        <a:t>无引用关系</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46100">
                <a:tc>
                  <a:txBody>
                    <a:bodyPr/>
                    <a:p>
                      <a:pPr algn="ctr" fontAlgn="ctr"/>
                      <a:r>
                        <a:rPr lang="zh-CN" altLang="en-US" sz="1400" b="0" i="0">
                          <a:solidFill>
                            <a:srgbClr val="000000"/>
                          </a:solidFill>
                          <a:latin typeface="微软雅黑" panose="020B0503020204020204" charset="-122"/>
                          <a:ea typeface="微软雅黑" panose="020B0503020204020204" charset="-122"/>
                        </a:rPr>
                        <a:t>是否写入代码</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是，</a:t>
                      </a:r>
                      <a:endParaRPr lang="zh-CN" altLang="en-US" sz="1400" b="0" i="0">
                        <a:solidFill>
                          <a:srgbClr val="000000"/>
                        </a:solidFill>
                        <a:latin typeface="微软雅黑" panose="020B0503020204020204" charset="-122"/>
                        <a:ea typeface="微软雅黑" panose="020B0503020204020204" charset="-122"/>
                      </a:endParaRPr>
                    </a:p>
                    <a:p>
                      <a:pPr algn="ctr" fontAlgn="ctr"/>
                      <a:r>
                        <a:rPr lang="zh-CN" altLang="en-US" sz="1400" b="0" i="0">
                          <a:solidFill>
                            <a:srgbClr val="000000"/>
                          </a:solidFill>
                          <a:latin typeface="微软雅黑" panose="020B0503020204020204" charset="-122"/>
                          <a:ea typeface="微软雅黑" panose="020B0503020204020204" charset="-122"/>
                        </a:rPr>
                        <a:t>体现在类结构中</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否，</a:t>
                      </a:r>
                      <a:endParaRPr lang="zh-CN" altLang="en-US" sz="1400" b="0" i="0">
                        <a:solidFill>
                          <a:srgbClr val="000000"/>
                        </a:solidFill>
                        <a:latin typeface="微软雅黑" panose="020B0503020204020204" charset="-122"/>
                        <a:ea typeface="微软雅黑" panose="020B0503020204020204" charset="-122"/>
                      </a:endParaRPr>
                    </a:p>
                    <a:p>
                      <a:pPr algn="ctr" fontAlgn="ctr"/>
                      <a:r>
                        <a:rPr lang="zh-CN" altLang="en-US" sz="1400" b="0" i="0">
                          <a:solidFill>
                            <a:srgbClr val="000000"/>
                          </a:solidFill>
                          <a:latin typeface="微软雅黑" panose="020B0503020204020204" charset="-122"/>
                          <a:ea typeface="微软雅黑" panose="020B0503020204020204" charset="-122"/>
                        </a:rPr>
                        <a:t>只在模型图中存在</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349250">
                <a:tc>
                  <a:txBody>
                    <a:bodyPr/>
                    <a:p>
                      <a:pPr algn="ctr" fontAlgn="ctr"/>
                      <a:r>
                        <a:rPr lang="zh-CN" altLang="en-US" sz="1400" b="0" i="0">
                          <a:solidFill>
                            <a:srgbClr val="000000"/>
                          </a:solidFill>
                          <a:latin typeface="微软雅黑" panose="020B0503020204020204" charset="-122"/>
                          <a:ea typeface="微软雅黑" panose="020B0503020204020204" charset="-122"/>
                        </a:rPr>
                        <a:t>运行时是否必需</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必需</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非必需</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23875">
                <a:tc>
                  <a:txBody>
                    <a:bodyPr/>
                    <a:p>
                      <a:pPr algn="ctr" fontAlgn="ctr"/>
                      <a:r>
                        <a:rPr lang="zh-CN" altLang="en-US" sz="1400" b="0" i="0">
                          <a:solidFill>
                            <a:srgbClr val="000000"/>
                          </a:solidFill>
                          <a:latin typeface="微软雅黑" panose="020B0503020204020204" charset="-122"/>
                          <a:ea typeface="微软雅黑" panose="020B0503020204020204" charset="-122"/>
                        </a:rPr>
                        <a:t>关系强度</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rPr>
                        <a:t>强关联</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弱 </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概念关联</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sp>
        <p:nvSpPr>
          <p:cNvPr id="5" name="Rectangle 3"/>
          <p:cNvSpPr>
            <a:spLocks noGrp="1" noChangeArrowheads="1"/>
          </p:cNvSpPr>
          <p:nvPr/>
        </p:nvSpPr>
        <p:spPr>
          <a:xfrm>
            <a:off x="6857365" y="1254125"/>
            <a:ext cx="4822190" cy="1868805"/>
          </a:xfrm>
          <a:prstGeom prst="rect">
            <a:avLst/>
          </a:prstGeom>
          <a:solidFill>
            <a:schemeClr val="bg1">
              <a:lumMod val="8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1800" b="1" dirty="0">
                <a:solidFill>
                  <a:schemeClr val="tx1"/>
                </a:solidFill>
              </a:rPr>
              <a:t>区分</a:t>
            </a:r>
            <a:r>
              <a:rPr lang="zh-CN" altLang="en-US" sz="2400" b="1" dirty="0">
                <a:solidFill>
                  <a:srgbClr val="C00000"/>
                </a:solidFill>
              </a:rPr>
              <a:t>类</a:t>
            </a:r>
            <a:r>
              <a:rPr lang="zh-CN" altLang="en-US" sz="1800" b="1" dirty="0">
                <a:solidFill>
                  <a:schemeClr val="tx1"/>
                </a:solidFill>
              </a:rPr>
              <a:t>与</a:t>
            </a:r>
            <a:r>
              <a:rPr lang="zh-CN" altLang="en-US" sz="2400" b="1" dirty="0">
                <a:solidFill>
                  <a:srgbClr val="C00000"/>
                </a:solidFill>
              </a:rPr>
              <a:t>属性</a:t>
            </a:r>
            <a:endParaRPr lang="zh-CN" altLang="en-US" sz="2400" b="1" dirty="0">
              <a:solidFill>
                <a:srgbClr val="C00000"/>
              </a:solidFill>
            </a:endParaRPr>
          </a:p>
          <a:p>
            <a:pPr marL="0" indent="0" algn="l">
              <a:buNone/>
            </a:pPr>
            <a:r>
              <a:rPr lang="en-US" altLang="zh-CN" sz="1400" dirty="0">
                <a:solidFill>
                  <a:schemeClr val="tx1"/>
                </a:solidFill>
                <a:sym typeface="+mn-ea"/>
              </a:rPr>
              <a:t>1</a:t>
            </a:r>
            <a:r>
              <a:rPr lang="zh-CN" altLang="en-US" sz="1400" dirty="0">
                <a:solidFill>
                  <a:schemeClr val="tx1"/>
                </a:solidFill>
                <a:sym typeface="+mn-ea"/>
              </a:rPr>
              <a:t>）属性一般是可以赋值的，比如数字或者文本；</a:t>
            </a:r>
            <a:br>
              <a:rPr lang="zh-CN" altLang="en-US" sz="1400" dirty="0">
                <a:solidFill>
                  <a:schemeClr val="tx1"/>
                </a:solidFill>
                <a:sym typeface="+mn-ea"/>
              </a:rPr>
            </a:br>
            <a:r>
              <a:rPr lang="en-US" altLang="zh-CN" sz="1400" dirty="0">
                <a:solidFill>
                  <a:schemeClr val="tx1"/>
                </a:solidFill>
                <a:sym typeface="+mn-ea"/>
              </a:rPr>
              <a:t>2</a:t>
            </a:r>
            <a:r>
              <a:rPr lang="zh-CN" altLang="en-US" sz="1400" dirty="0">
                <a:solidFill>
                  <a:schemeClr val="tx1"/>
                </a:solidFill>
                <a:sym typeface="+mn-ea"/>
              </a:rPr>
              <a:t>）如果一个名词不能被赋值，那么就</a:t>
            </a:r>
            <a:r>
              <a:rPr lang="en-US" altLang="zh-CN" sz="1400" dirty="0">
                <a:solidFill>
                  <a:schemeClr val="tx1"/>
                </a:solidFill>
                <a:sym typeface="+mn-ea"/>
              </a:rPr>
              <a:t>“</a:t>
            </a:r>
            <a:r>
              <a:rPr lang="zh-CN" altLang="en-US" sz="1400" dirty="0">
                <a:solidFill>
                  <a:schemeClr val="tx1"/>
                </a:solidFill>
                <a:sym typeface="+mn-ea"/>
              </a:rPr>
              <a:t>有可能</a:t>
            </a:r>
            <a:r>
              <a:rPr lang="en-US" altLang="zh-CN" sz="1400" dirty="0">
                <a:solidFill>
                  <a:schemeClr val="tx1"/>
                </a:solidFill>
                <a:sym typeface="+mn-ea"/>
              </a:rPr>
              <a:t>”</a:t>
            </a:r>
            <a:r>
              <a:rPr lang="zh-CN" altLang="en-US" sz="1400" dirty="0">
                <a:solidFill>
                  <a:schemeClr val="tx1"/>
                </a:solidFill>
                <a:sym typeface="+mn-ea"/>
              </a:rPr>
              <a:t>是一个概念类。</a:t>
            </a:r>
            <a:br>
              <a:rPr lang="zh-CN" altLang="en-US" sz="1400" dirty="0">
                <a:solidFill>
                  <a:schemeClr val="tx1"/>
                </a:solidFill>
                <a:sym typeface="+mn-ea"/>
              </a:rPr>
            </a:br>
            <a:r>
              <a:rPr lang="en-US" altLang="zh-CN" sz="1400" dirty="0">
                <a:solidFill>
                  <a:schemeClr val="tx1"/>
                </a:solidFill>
                <a:sym typeface="+mn-ea"/>
              </a:rPr>
              <a:t>3</a:t>
            </a:r>
            <a:r>
              <a:rPr lang="zh-CN" altLang="en-US" sz="1400" dirty="0">
                <a:solidFill>
                  <a:schemeClr val="tx1"/>
                </a:solidFill>
                <a:sym typeface="+mn-ea"/>
              </a:rPr>
              <a:t>）如果对一个名词是概念类还是属性举棋不定的时候，最好将其作为概念类处理。</a:t>
            </a:r>
            <a:endParaRPr lang="zh-CN" altLang="en-US" sz="1400" dirty="0">
              <a:solidFill>
                <a:schemeClr val="tx1"/>
              </a:solidFill>
              <a:sym typeface="+mn-ea"/>
            </a:endParaRPr>
          </a:p>
        </p:txBody>
      </p:sp>
    </p:spTree>
  </p:cSld>
  <p:clrMapOvr>
    <a:masterClrMapping/>
  </p:clrMapOvr>
  <p:transition>
    <p:push/>
  </p:transition>
  <p:timing>
    <p:tnLst>
      <p:par>
        <p:cTn id="1" dur="indefinite" restart="never" nodeType="tmRoot"/>
      </p:par>
    </p:tnLst>
    <p:bldLst>
      <p:bldP spid="2" grpId="1"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a:xfrm>
            <a:off x="647700" y="258445"/>
            <a:ext cx="10515600" cy="750570"/>
          </a:xfrm>
        </p:spPr>
        <p:txBody>
          <a:bodyPr/>
          <a:lstStyle/>
          <a:p>
            <a:r>
              <a:rPr lang="zh-CN" altLang="en-US" sz="2800" smtClean="0">
                <a:effectLst/>
              </a:rPr>
              <a:t>领域模型（业务</a:t>
            </a:r>
            <a:r>
              <a:rPr lang="zh-CN" altLang="en-US" sz="2800" smtClean="0">
                <a:effectLst/>
              </a:rPr>
              <a:t>对象）</a:t>
            </a:r>
            <a:endParaRPr lang="zh-CN" altLang="en-US" sz="2800" smtClean="0">
              <a:effectLst/>
            </a:endParaRPr>
          </a:p>
        </p:txBody>
      </p:sp>
      <p:sp>
        <p:nvSpPr>
          <p:cNvPr id="81924" name="Rectangle 5"/>
          <p:cNvSpPr>
            <a:spLocks noChangeArrowheads="1"/>
          </p:cNvSpPr>
          <p:nvPr/>
        </p:nvSpPr>
        <p:spPr bwMode="auto">
          <a:xfrm>
            <a:off x="10483272" y="1400521"/>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9523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7175" y="1042969"/>
            <a:ext cx="7590218" cy="53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nvGrpSpPr>
        <p:grpSpPr>
          <a:xfrm>
            <a:off x="9408795" y="3927475"/>
            <a:ext cx="2231390" cy="2447290"/>
            <a:chOff x="14946" y="2210"/>
            <a:chExt cx="3514" cy="3854"/>
          </a:xfrm>
        </p:grpSpPr>
        <p:sp>
          <p:nvSpPr>
            <p:cNvPr id="18" name="矩形 17"/>
            <p:cNvSpPr/>
            <p:nvPr/>
          </p:nvSpPr>
          <p:spPr>
            <a:xfrm>
              <a:off x="14946" y="2210"/>
              <a:ext cx="3515" cy="38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9" name="直接连接符 18"/>
            <p:cNvCxnSpPr/>
            <p:nvPr/>
          </p:nvCxnSpPr>
          <p:spPr>
            <a:xfrm>
              <a:off x="15723" y="4547"/>
              <a:ext cx="882"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20" name="流程图: 决策 19"/>
            <p:cNvSpPr/>
            <p:nvPr/>
          </p:nvSpPr>
          <p:spPr>
            <a:xfrm>
              <a:off x="15383" y="2792"/>
              <a:ext cx="567" cy="340"/>
            </a:xfrm>
            <a:prstGeom prst="flowChartDecision">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1" name="直接连接符 20"/>
            <p:cNvCxnSpPr/>
            <p:nvPr/>
          </p:nvCxnSpPr>
          <p:spPr>
            <a:xfrm>
              <a:off x="15950" y="2962"/>
              <a:ext cx="700" cy="0"/>
            </a:xfrm>
            <a:prstGeom prst="line">
              <a:avLst/>
            </a:prstGeom>
            <a:ln w="28575">
              <a:solidFill>
                <a:schemeClr val="tx1"/>
              </a:solidFill>
              <a:headEnd type="none"/>
              <a:tailEnd type="arrow" w="med" len="med"/>
            </a:ln>
          </p:spPr>
          <p:style>
            <a:lnRef idx="2">
              <a:schemeClr val="accent1"/>
            </a:lnRef>
            <a:fillRef idx="0">
              <a:srgbClr val="FFFFFF"/>
            </a:fillRef>
            <a:effectRef idx="0">
              <a:srgbClr val="FFFFFF"/>
            </a:effectRef>
            <a:fontRef idx="minor">
              <a:schemeClr val="tx1"/>
            </a:fontRef>
          </p:style>
        </p:cxnSp>
        <p:sp>
          <p:nvSpPr>
            <p:cNvPr id="22" name="流程图: 决策 21"/>
            <p:cNvSpPr/>
            <p:nvPr/>
          </p:nvSpPr>
          <p:spPr>
            <a:xfrm>
              <a:off x="15383" y="3584"/>
              <a:ext cx="567" cy="340"/>
            </a:xfrm>
            <a:prstGeom prst="flowChartDecision">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3" name="直接连接符 22"/>
            <p:cNvCxnSpPr>
              <a:stCxn id="22" idx="3"/>
            </p:cNvCxnSpPr>
            <p:nvPr/>
          </p:nvCxnSpPr>
          <p:spPr>
            <a:xfrm>
              <a:off x="15950" y="3754"/>
              <a:ext cx="700" cy="0"/>
            </a:xfrm>
            <a:prstGeom prst="line">
              <a:avLst/>
            </a:prstGeom>
            <a:solidFill>
              <a:schemeClr val="bg1"/>
            </a:solidFill>
            <a:ln w="28575">
              <a:solidFill>
                <a:schemeClr val="tx1"/>
              </a:solidFill>
              <a:headEnd type="none"/>
              <a:tailEnd type="none" w="med" len="med"/>
            </a:ln>
          </p:spPr>
          <p:style>
            <a:lnRef idx="2">
              <a:schemeClr val="accent1"/>
            </a:lnRef>
            <a:fillRef idx="0">
              <a:srgbClr val="FFFFFF"/>
            </a:fillRef>
            <a:effectRef idx="0">
              <a:srgbClr val="FFFFFF"/>
            </a:effectRef>
            <a:fontRef idx="minor">
              <a:schemeClr val="tx1"/>
            </a:fontRef>
          </p:style>
        </p:cxnSp>
        <p:sp>
          <p:nvSpPr>
            <p:cNvPr id="24" name="等腰三角形 23"/>
            <p:cNvSpPr/>
            <p:nvPr/>
          </p:nvSpPr>
          <p:spPr>
            <a:xfrm rot="16200000">
              <a:off x="15496" y="4433"/>
              <a:ext cx="340" cy="227"/>
            </a:xfrm>
            <a:prstGeom prst="triangl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25" name="直接连接符 24"/>
            <p:cNvCxnSpPr/>
            <p:nvPr/>
          </p:nvCxnSpPr>
          <p:spPr>
            <a:xfrm>
              <a:off x="15568" y="5230"/>
              <a:ext cx="1078" cy="3"/>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26" name="Rectangle 3"/>
            <p:cNvSpPr>
              <a:spLocks noGrp="1" noChangeArrowheads="1"/>
            </p:cNvSpPr>
            <p:nvPr/>
          </p:nvSpPr>
          <p:spPr>
            <a:xfrm>
              <a:off x="16971" y="2666"/>
              <a:ext cx="1282" cy="592"/>
            </a:xfrm>
            <a:prstGeom prst="rect">
              <a:avLst/>
            </a:prstGeom>
            <a:noFill/>
            <a:extLst>
              <a:ext uri="{909E8E84-426E-40DD-AFC4-6F175D3DCCD1}">
                <a14:hiddenFill xmlns:a14="http://schemas.microsoft.com/office/drawing/2010/main">
                  <a:solidFill>
                    <a:schemeClr val="bg1"/>
                  </a:solidFill>
                </a14:hiddenFill>
              </a:ext>
            </a:extLst>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2000" dirty="0">
                  <a:solidFill>
                    <a:schemeClr val="tx1"/>
                  </a:solidFill>
                </a:rPr>
                <a:t>组合</a:t>
              </a:r>
              <a:endParaRPr lang="zh-CN" altLang="en-US" sz="2000" dirty="0">
                <a:solidFill>
                  <a:schemeClr val="tx1"/>
                </a:solidFill>
              </a:endParaRPr>
            </a:p>
          </p:txBody>
        </p:sp>
        <p:sp>
          <p:nvSpPr>
            <p:cNvPr id="27" name="Rectangle 3"/>
            <p:cNvSpPr>
              <a:spLocks noGrp="1" noChangeArrowheads="1"/>
            </p:cNvSpPr>
            <p:nvPr/>
          </p:nvSpPr>
          <p:spPr>
            <a:xfrm>
              <a:off x="16971" y="3434"/>
              <a:ext cx="1282" cy="592"/>
            </a:xfrm>
            <a:prstGeom prst="rect">
              <a:avLst/>
            </a:prstGeom>
            <a:noFill/>
            <a:extLst>
              <a:ext uri="{909E8E84-426E-40DD-AFC4-6F175D3DCCD1}">
                <a14:hiddenFill xmlns:a14="http://schemas.microsoft.com/office/drawing/2010/main">
                  <a:solidFill>
                    <a:schemeClr val="bg1"/>
                  </a:solidFill>
                </a14:hiddenFill>
              </a:ext>
            </a:extLst>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2000" dirty="0">
                  <a:solidFill>
                    <a:schemeClr val="tx1"/>
                  </a:solidFill>
                </a:rPr>
                <a:t>聚合</a:t>
              </a:r>
              <a:endParaRPr lang="zh-CN" altLang="en-US" sz="2000" dirty="0">
                <a:solidFill>
                  <a:schemeClr val="tx1"/>
                </a:solidFill>
              </a:endParaRPr>
            </a:p>
          </p:txBody>
        </p:sp>
        <p:sp>
          <p:nvSpPr>
            <p:cNvPr id="28" name="Rectangle 3"/>
            <p:cNvSpPr>
              <a:spLocks noGrp="1" noChangeArrowheads="1"/>
            </p:cNvSpPr>
            <p:nvPr/>
          </p:nvSpPr>
          <p:spPr>
            <a:xfrm>
              <a:off x="16971" y="4244"/>
              <a:ext cx="1282" cy="592"/>
            </a:xfrm>
            <a:prstGeom prst="rect">
              <a:avLst/>
            </a:prstGeom>
            <a:noFill/>
            <a:extLst>
              <a:ext uri="{909E8E84-426E-40DD-AFC4-6F175D3DCCD1}">
                <a14:hiddenFill xmlns:a14="http://schemas.microsoft.com/office/drawing/2010/main">
                  <a:solidFill>
                    <a:schemeClr val="bg1"/>
                  </a:solidFill>
                </a14:hiddenFill>
              </a:ext>
            </a:extLst>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2000" dirty="0">
                  <a:solidFill>
                    <a:schemeClr val="tx1"/>
                  </a:solidFill>
                </a:rPr>
                <a:t>继承</a:t>
              </a:r>
              <a:endParaRPr lang="zh-CN" altLang="en-US" sz="2000" dirty="0">
                <a:solidFill>
                  <a:schemeClr val="tx1"/>
                </a:solidFill>
              </a:endParaRPr>
            </a:p>
          </p:txBody>
        </p:sp>
        <p:sp>
          <p:nvSpPr>
            <p:cNvPr id="29" name="Rectangle 3"/>
            <p:cNvSpPr>
              <a:spLocks noGrp="1" noChangeArrowheads="1"/>
            </p:cNvSpPr>
            <p:nvPr/>
          </p:nvSpPr>
          <p:spPr>
            <a:xfrm>
              <a:off x="16971" y="4935"/>
              <a:ext cx="1282" cy="592"/>
            </a:xfrm>
            <a:prstGeom prst="rect">
              <a:avLst/>
            </a:prstGeom>
            <a:noFill/>
            <a:extLst>
              <a:ext uri="{909E8E84-426E-40DD-AFC4-6F175D3DCCD1}">
                <a14:hiddenFill xmlns:a14="http://schemas.microsoft.com/office/drawing/2010/main">
                  <a:solidFill>
                    <a:schemeClr val="bg1"/>
                  </a:solidFill>
                </a14:hiddenFill>
              </a:ext>
            </a:extLst>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zh-CN" altLang="en-US" sz="2000" dirty="0">
                  <a:solidFill>
                    <a:schemeClr val="tx1"/>
                  </a:solidFill>
                </a:rPr>
                <a:t>关联</a:t>
              </a:r>
              <a:endParaRPr lang="zh-CN" altLang="en-US" sz="2000" dirty="0">
                <a:solidFill>
                  <a:schemeClr val="tx1"/>
                </a:solidFill>
              </a:endParaRPr>
            </a:p>
          </p:txBody>
        </p:sp>
      </p:grpSp>
      <p:graphicFrame>
        <p:nvGraphicFramePr>
          <p:cNvPr id="30" name="表格 29"/>
          <p:cNvGraphicFramePr/>
          <p:nvPr>
            <p:custDataLst>
              <p:tags r:id="rId2"/>
            </p:custDataLst>
          </p:nvPr>
        </p:nvGraphicFramePr>
        <p:xfrm>
          <a:off x="9408795" y="1009015"/>
          <a:ext cx="2205990" cy="2503170"/>
        </p:xfrm>
        <a:graphic>
          <a:graphicData uri="http://schemas.openxmlformats.org/drawingml/2006/table">
            <a:tbl>
              <a:tblPr/>
              <a:tblGrid>
                <a:gridCol w="1102995"/>
                <a:gridCol w="1102995"/>
              </a:tblGrid>
              <a:tr h="516890">
                <a:tc>
                  <a:txBody>
                    <a:bodyPr/>
                    <a:p>
                      <a:pPr algn="ctr" fontAlgn="ctr"/>
                      <a:r>
                        <a:rPr lang="zh-CN" altLang="en-US" sz="1400" b="0" i="0">
                          <a:solidFill>
                            <a:schemeClr val="bg1"/>
                          </a:solidFill>
                          <a:latin typeface="微软雅黑" panose="020B0503020204020204" charset="-122"/>
                          <a:ea typeface="微软雅黑" panose="020B0503020204020204" charset="-122"/>
                        </a:rPr>
                        <a:t>符号</a:t>
                      </a:r>
                      <a:endParaRPr lang="zh-CN" altLang="en-US" sz="1400" b="0" i="0">
                        <a:solidFill>
                          <a:schemeClr val="bg1"/>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4165A4"/>
                    </a:solidFill>
                  </a:tcPr>
                </a:tc>
                <a:tc>
                  <a:txBody>
                    <a:bodyPr/>
                    <a:p>
                      <a:pPr algn="ctr" fontAlgn="ctr"/>
                      <a:r>
                        <a:rPr lang="zh-CN" altLang="en-US" sz="1400" b="0" i="0">
                          <a:solidFill>
                            <a:schemeClr val="bg1"/>
                          </a:solidFill>
                          <a:latin typeface="微软雅黑" panose="020B0503020204020204" charset="-122"/>
                          <a:ea typeface="微软雅黑" panose="020B0503020204020204" charset="-122"/>
                        </a:rPr>
                        <a:t>含义</a:t>
                      </a:r>
                      <a:endParaRPr lang="zh-CN" altLang="en-US" sz="1400" b="0" i="0">
                        <a:solidFill>
                          <a:schemeClr val="bg1"/>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4165A4"/>
                    </a:solidFill>
                  </a:tcPr>
                </a:tc>
              </a:tr>
              <a:tr h="431800">
                <a:tc>
                  <a:txBody>
                    <a:bodyPr/>
                    <a:p>
                      <a:pPr algn="ctr" fontAlgn="ctr"/>
                      <a:r>
                        <a:rPr lang="en-US" altLang="zh-CN" sz="1400" b="0" i="0">
                          <a:solidFill>
                            <a:srgbClr val="000000"/>
                          </a:solidFill>
                          <a:latin typeface="微软雅黑" panose="020B0503020204020204" charset="-122"/>
                          <a:ea typeface="微软雅黑" panose="020B0503020204020204" charset="-122"/>
                        </a:rPr>
                        <a:t>1</a:t>
                      </a:r>
                      <a:endParaRPr lang="en-US" altLang="zh-CN"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en-US" altLang="zh-CN" sz="1400" b="0" i="0">
                          <a:solidFill>
                            <a:srgbClr val="000000"/>
                          </a:solidFill>
                          <a:latin typeface="微软雅黑" panose="020B0503020204020204" charset="-122"/>
                          <a:ea typeface="微软雅黑" panose="020B0503020204020204" charset="-122"/>
                        </a:rPr>
                        <a:t>1</a:t>
                      </a:r>
                      <a:r>
                        <a:rPr lang="zh-CN" altLang="en-US" sz="1400" b="0" i="0">
                          <a:solidFill>
                            <a:srgbClr val="000000"/>
                          </a:solidFill>
                          <a:latin typeface="微软雅黑" panose="020B0503020204020204" charset="-122"/>
                          <a:ea typeface="微软雅黑" panose="020B0503020204020204" charset="-122"/>
                        </a:rPr>
                        <a:t>个</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39115">
                <a:tc>
                  <a:txBody>
                    <a:bodyPr/>
                    <a:p>
                      <a:pPr algn="ctr" fontAlgn="ctr"/>
                      <a:r>
                        <a:rPr lang="en-US" altLang="zh-CN" sz="1400" b="0" i="0">
                          <a:solidFill>
                            <a:srgbClr val="000000"/>
                          </a:solidFill>
                          <a:latin typeface="微软雅黑" panose="020B0503020204020204" charset="-122"/>
                          <a:ea typeface="微软雅黑" panose="020B0503020204020204" charset="-122"/>
                        </a:rPr>
                        <a:t>0..1</a:t>
                      </a:r>
                      <a:endParaRPr lang="en-US" altLang="zh-CN"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en-US" altLang="zh-CN" sz="1400" b="0" i="0">
                          <a:solidFill>
                            <a:srgbClr val="000000"/>
                          </a:solidFill>
                          <a:latin typeface="微软雅黑" panose="020B0503020204020204" charset="-122"/>
                          <a:ea typeface="微软雅黑" panose="020B0503020204020204" charset="-122"/>
                        </a:rPr>
                        <a:t>0</a:t>
                      </a:r>
                      <a:r>
                        <a:rPr lang="zh-CN" altLang="en-US" sz="1400" b="0" i="0">
                          <a:solidFill>
                            <a:srgbClr val="000000"/>
                          </a:solidFill>
                          <a:latin typeface="微软雅黑" panose="020B0503020204020204" charset="-122"/>
                          <a:ea typeface="微软雅黑" panose="020B0503020204020204" charset="-122"/>
                        </a:rPr>
                        <a:t>或</a:t>
                      </a:r>
                      <a:r>
                        <a:rPr lang="en-US" altLang="zh-CN" sz="1400" b="0" i="0">
                          <a:solidFill>
                            <a:srgbClr val="000000"/>
                          </a:solidFill>
                          <a:latin typeface="微软雅黑" panose="020B0503020204020204" charset="-122"/>
                          <a:ea typeface="微软雅黑" panose="020B0503020204020204" charset="-122"/>
                        </a:rPr>
                        <a:t>1</a:t>
                      </a:r>
                      <a:endParaRPr lang="en-US" altLang="zh-CN"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498475">
                <a:tc>
                  <a:txBody>
                    <a:bodyPr/>
                    <a:p>
                      <a:pPr algn="ctr" fontAlgn="ctr"/>
                      <a:r>
                        <a:rPr lang="en-US" altLang="zh-CN" sz="1400" b="0" i="0">
                          <a:solidFill>
                            <a:srgbClr val="000000"/>
                          </a:solidFill>
                          <a:latin typeface="微软雅黑" panose="020B0503020204020204" charset="-122"/>
                          <a:ea typeface="微软雅黑" panose="020B0503020204020204" charset="-122"/>
                        </a:rPr>
                        <a:t>*/0..*</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en-US" altLang="zh-CN" sz="1400" b="0" i="0">
                          <a:solidFill>
                            <a:srgbClr val="000000"/>
                          </a:solidFill>
                          <a:latin typeface="微软雅黑" panose="020B0503020204020204" charset="-122"/>
                          <a:ea typeface="微软雅黑" panose="020B0503020204020204" charset="-122"/>
                        </a:rPr>
                        <a:t>0</a:t>
                      </a:r>
                      <a:r>
                        <a:rPr lang="zh-CN" altLang="en-US" sz="1400" b="0" i="0">
                          <a:solidFill>
                            <a:srgbClr val="000000"/>
                          </a:solidFill>
                          <a:latin typeface="微软雅黑" panose="020B0503020204020204" charset="-122"/>
                          <a:ea typeface="微软雅黑" panose="020B0503020204020204" charset="-122"/>
                        </a:rPr>
                        <a:t>或</a:t>
                      </a:r>
                      <a:r>
                        <a:rPr lang="zh-CN" altLang="en-US" sz="1400" b="0" i="0">
                          <a:solidFill>
                            <a:srgbClr val="000000"/>
                          </a:solidFill>
                          <a:latin typeface="微软雅黑" panose="020B0503020204020204" charset="-122"/>
                          <a:ea typeface="微软雅黑" panose="020B0503020204020204" charset="-122"/>
                        </a:rPr>
                        <a:t>多</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r h="516890">
                <a:tc>
                  <a:txBody>
                    <a:bodyPr/>
                    <a:p>
                      <a:pPr algn="ctr" fontAlgn="ctr"/>
                      <a:r>
                        <a:rPr lang="en-US" altLang="zh-CN" sz="1400" b="0" i="0">
                          <a:solidFill>
                            <a:srgbClr val="000000"/>
                          </a:solidFill>
                          <a:latin typeface="微软雅黑" panose="020B0503020204020204" charset="-122"/>
                          <a:ea typeface="微软雅黑" panose="020B0503020204020204" charset="-122"/>
                        </a:rPr>
                        <a:t>1..*</a:t>
                      </a:r>
                      <a:endParaRPr lang="en-US" altLang="zh-CN"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p>
                      <a:pPr algn="ctr" fontAlgn="ctr"/>
                      <a:r>
                        <a:rPr lang="en-US" altLang="zh-CN" sz="1400" b="0" i="0">
                          <a:solidFill>
                            <a:srgbClr val="000000"/>
                          </a:solidFill>
                          <a:latin typeface="微软雅黑" panose="020B0503020204020204" charset="-122"/>
                          <a:ea typeface="微软雅黑" panose="020B0503020204020204" charset="-122"/>
                        </a:rPr>
                        <a:t>1</a:t>
                      </a:r>
                      <a:r>
                        <a:rPr lang="zh-CN" altLang="en-US" sz="1400" b="0" i="0">
                          <a:solidFill>
                            <a:srgbClr val="000000"/>
                          </a:solidFill>
                          <a:latin typeface="微软雅黑" panose="020B0503020204020204" charset="-122"/>
                          <a:ea typeface="微软雅黑" panose="020B0503020204020204" charset="-122"/>
                        </a:rPr>
                        <a:t>或</a:t>
                      </a:r>
                      <a:r>
                        <a:rPr lang="zh-CN" altLang="en-US" sz="1400" b="0" i="0">
                          <a:solidFill>
                            <a:srgbClr val="000000"/>
                          </a:solidFill>
                          <a:latin typeface="微软雅黑" panose="020B0503020204020204" charset="-122"/>
                          <a:ea typeface="微软雅黑" panose="020B0503020204020204" charset="-122"/>
                        </a:rPr>
                        <a:t>多</a:t>
                      </a:r>
                      <a:endParaRPr lang="zh-CN" altLang="en-US" sz="1400" b="0" i="0">
                        <a:solidFill>
                          <a:srgbClr val="000000"/>
                        </a:solidFill>
                        <a:latin typeface="微软雅黑" panose="020B0503020204020204" charset="-122"/>
                        <a:ea typeface="微软雅黑" panose="020B0503020204020204" charset="-122"/>
                      </a:endParaR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r>
            </a:tbl>
          </a:graphicData>
        </a:graphic>
      </p:graphicFrame>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b="1">
                <a:effectLst/>
              </a:rPr>
              <a:t>用例模型</a:t>
            </a:r>
            <a:endParaRPr lang="zh-CN" altLang="en-US" b="1">
              <a:effectLst/>
            </a:endParaRPr>
          </a:p>
        </p:txBody>
      </p:sp>
      <p:sp>
        <p:nvSpPr>
          <p:cNvPr id="5" name="副标题 4"/>
          <p:cNvSpPr>
            <a:spLocks noGrp="1"/>
          </p:cNvSpPr>
          <p:nvPr>
            <p:ph type="subTitle" idx="1"/>
          </p:nvPr>
        </p:nvSpPr>
        <p:spPr/>
        <p:txBody>
          <a:bodyPr/>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67995" y="296545"/>
            <a:ext cx="10695305" cy="637540"/>
          </a:xfrm>
        </p:spPr>
        <p:txBody>
          <a:bodyPr>
            <a:noAutofit/>
          </a:bodyPr>
          <a:lstStyle/>
          <a:p>
            <a:r>
              <a:rPr lang="zh-CN" altLang="en-US" sz="3600" dirty="0">
                <a:solidFill>
                  <a:schemeClr val="tx1"/>
                </a:solidFill>
                <a:effectLst/>
              </a:rPr>
              <a:t>用例模型</a:t>
            </a:r>
            <a:endParaRPr lang="zh-CN" altLang="en-US" sz="3600" dirty="0">
              <a:solidFill>
                <a:schemeClr val="tx1"/>
              </a:solidFill>
              <a:effectLst/>
            </a:endParaRPr>
          </a:p>
        </p:txBody>
      </p:sp>
      <p:sp>
        <p:nvSpPr>
          <p:cNvPr id="9" name="内容占位符 8"/>
          <p:cNvSpPr/>
          <p:nvPr>
            <p:ph idx="1"/>
          </p:nvPr>
        </p:nvSpPr>
        <p:spPr>
          <a:xfrm>
            <a:off x="467995" y="1195705"/>
            <a:ext cx="11139805" cy="4981575"/>
          </a:xfrm>
        </p:spPr>
        <p:txBody>
          <a:bodyPr/>
          <a:p>
            <a:r>
              <a:rPr lang="zh-CN" altLang="en-US" sz="2400" dirty="0" smtClean="0">
                <a:latin typeface="微软雅黑" panose="020B0503020204020204" charset="-122"/>
                <a:ea typeface="微软雅黑" panose="020B0503020204020204" charset="-122"/>
                <a:cs typeface="微软雅黑" panose="020B0503020204020204" charset="-122"/>
                <a:sym typeface="+mn-ea"/>
              </a:rPr>
              <a:t>用例模型</a:t>
            </a:r>
            <a:r>
              <a:rPr lang="zh-CN" altLang="en-US" sz="2400" dirty="0">
                <a:latin typeface="微软雅黑" panose="020B0503020204020204" charset="-122"/>
                <a:ea typeface="微软雅黑" panose="020B0503020204020204" charset="-122"/>
                <a:cs typeface="微软雅黑" panose="020B0503020204020204" charset="-122"/>
                <a:sym typeface="+mn-ea"/>
              </a:rPr>
              <a:t>以</a:t>
            </a:r>
            <a:r>
              <a:rPr lang="zh-CN" altLang="en-US" sz="2400" dirty="0" smtClean="0">
                <a:latin typeface="微软雅黑" panose="020B0503020204020204" charset="-122"/>
                <a:ea typeface="微软雅黑" panose="020B0503020204020204" charset="-122"/>
                <a:cs typeface="微软雅黑" panose="020B0503020204020204" charset="-122"/>
                <a:sym typeface="+mn-ea"/>
              </a:rPr>
              <a:t>用例为核心从使用者的角度描述和解释待构建系统的功能需求，</a:t>
            </a:r>
            <a:r>
              <a:rPr lang="zh-CN" altLang="en-US" sz="2400" dirty="0" smtClean="0">
                <a:latin typeface="微软雅黑" panose="020B0503020204020204" charset="-122"/>
                <a:ea typeface="微软雅黑" panose="020B0503020204020204" charset="-122"/>
                <a:cs typeface="微软雅黑" panose="020B0503020204020204" charset="-122"/>
                <a:sym typeface="+mn-ea"/>
              </a:rPr>
              <a:t>由以下四个部分组成：</a:t>
            </a:r>
            <a:endParaRPr lang="en-US" altLang="zh-CN" sz="24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smtClean="0">
                <a:latin typeface="微软雅黑" panose="020B0503020204020204" charset="-122"/>
                <a:ea typeface="微软雅黑" panose="020B0503020204020204" charset="-122"/>
                <a:cs typeface="微软雅黑" panose="020B0503020204020204" charset="-122"/>
                <a:sym typeface="+mn-ea"/>
              </a:rPr>
              <a:t>用例图</a:t>
            </a:r>
            <a:endParaRPr lang="en-US" altLang="zh-CN" sz="24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smtClean="0">
                <a:latin typeface="微软雅黑" panose="020B0503020204020204" charset="-122"/>
                <a:ea typeface="微软雅黑" panose="020B0503020204020204" charset="-122"/>
                <a:cs typeface="微软雅黑" panose="020B0503020204020204" charset="-122"/>
                <a:sym typeface="+mn-ea"/>
              </a:rPr>
              <a:t>用例说明</a:t>
            </a:r>
            <a:endParaRPr lang="en-US" altLang="zh-CN" sz="24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a:latin typeface="微软雅黑" panose="020B0503020204020204" charset="-122"/>
                <a:ea typeface="微软雅黑" panose="020B0503020204020204" charset="-122"/>
                <a:cs typeface="微软雅黑" panose="020B0503020204020204" charset="-122"/>
                <a:sym typeface="+mn-ea"/>
              </a:rPr>
              <a:t>系统顺序</a:t>
            </a:r>
            <a:r>
              <a:rPr lang="zh-CN" altLang="en-US" sz="2400" dirty="0" smtClean="0">
                <a:latin typeface="微软雅黑" panose="020B0503020204020204" charset="-122"/>
                <a:ea typeface="微软雅黑" panose="020B0503020204020204" charset="-122"/>
                <a:cs typeface="微软雅黑" panose="020B0503020204020204" charset="-122"/>
                <a:sym typeface="+mn-ea"/>
              </a:rPr>
              <a:t>图</a:t>
            </a:r>
            <a:endParaRPr lang="en-US" altLang="zh-CN" sz="2400" dirty="0" smtClean="0">
              <a:latin typeface="微软雅黑" panose="020B0503020204020204" charset="-122"/>
              <a:ea typeface="微软雅黑" panose="020B0503020204020204" charset="-122"/>
              <a:cs typeface="微软雅黑" panose="020B0503020204020204" charset="-122"/>
            </a:endParaRPr>
          </a:p>
          <a:p>
            <a:pPr lvl="1"/>
            <a:r>
              <a:rPr lang="zh-CN" altLang="en-US" sz="2400" dirty="0">
                <a:latin typeface="微软雅黑" panose="020B0503020204020204" charset="-122"/>
                <a:ea typeface="微软雅黑" panose="020B0503020204020204" charset="-122"/>
                <a:cs typeface="微软雅黑" panose="020B0503020204020204" charset="-122"/>
                <a:sym typeface="+mn-ea"/>
              </a:rPr>
              <a:t>操作</a:t>
            </a:r>
            <a:r>
              <a:rPr lang="zh-CN" altLang="en-US" sz="2400" dirty="0" smtClean="0">
                <a:latin typeface="微软雅黑" panose="020B0503020204020204" charset="-122"/>
                <a:ea typeface="微软雅黑" panose="020B0503020204020204" charset="-122"/>
                <a:cs typeface="微软雅黑" panose="020B0503020204020204" charset="-122"/>
                <a:sym typeface="+mn-ea"/>
              </a:rPr>
              <a:t>契约</a:t>
            </a:r>
            <a:endParaRPr lang="en-US" altLang="zh-CN" sz="2400" dirty="0" smtClean="0">
              <a:latin typeface="微软雅黑" panose="020B0503020204020204" charset="-122"/>
              <a:ea typeface="微软雅黑" panose="020B0503020204020204" charset="-122"/>
              <a:cs typeface="微软雅黑" panose="020B0503020204020204" charset="-122"/>
            </a:endParaRPr>
          </a:p>
          <a:p>
            <a:endParaRPr lang="en-US" altLang="zh-CN" sz="2400" dirty="0" smtClean="0">
              <a:latin typeface="微软雅黑" panose="020B0503020204020204" charset="-122"/>
              <a:ea typeface="微软雅黑" panose="020B0503020204020204" charset="-122"/>
              <a:cs typeface="微软雅黑" panose="020B0503020204020204" charset="-122"/>
            </a:endParaRPr>
          </a:p>
          <a:p>
            <a:endParaRPr lang="zh-CN" altLang="en-US" sz="2400" dirty="0">
              <a:latin typeface="微软雅黑" panose="020B0503020204020204" charset="-122"/>
              <a:ea typeface="微软雅黑" panose="020B0503020204020204" charset="-122"/>
              <a:cs typeface="微软雅黑" panose="020B0503020204020204" charset="-122"/>
            </a:endParaRPr>
          </a:p>
          <a:p>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67995" y="296545"/>
            <a:ext cx="10695305" cy="637540"/>
          </a:xfrm>
        </p:spPr>
        <p:txBody>
          <a:bodyPr>
            <a:noAutofit/>
          </a:bodyPr>
          <a:lstStyle/>
          <a:p>
            <a:r>
              <a:rPr lang="zh-CN" altLang="en-US" sz="3600" dirty="0">
                <a:solidFill>
                  <a:schemeClr val="tx1"/>
                </a:solidFill>
                <a:effectLst/>
              </a:rPr>
              <a:t>用例模型</a:t>
            </a:r>
            <a:endParaRPr lang="zh-CN" altLang="en-US" sz="3600" dirty="0">
              <a:solidFill>
                <a:schemeClr val="tx1"/>
              </a:solidFill>
              <a:effectLst/>
            </a:endParaRPr>
          </a:p>
        </p:txBody>
      </p:sp>
      <p:sp>
        <p:nvSpPr>
          <p:cNvPr id="9" name="内容占位符 8"/>
          <p:cNvSpPr/>
          <p:nvPr>
            <p:ph idx="1"/>
          </p:nvPr>
        </p:nvSpPr>
        <p:spPr>
          <a:xfrm>
            <a:off x="467995" y="1195705"/>
            <a:ext cx="11139805" cy="4981575"/>
          </a:xfrm>
        </p:spPr>
        <p:txBody>
          <a:bodyPr>
            <a:noAutofit/>
          </a:bodyPr>
          <a:p>
            <a:pPr fontAlgn="auto">
              <a:lnSpc>
                <a:spcPct val="100000"/>
              </a:lnSpc>
            </a:pPr>
            <a:r>
              <a:rPr lang="zh-CN" altLang="en-US" sz="2400" dirty="0">
                <a:latin typeface="微软雅黑" panose="020B0503020204020204" charset="-122"/>
                <a:ea typeface="微软雅黑" panose="020B0503020204020204" charset="-122"/>
                <a:cs typeface="微软雅黑" panose="020B0503020204020204" charset="-122"/>
              </a:rPr>
              <a:t>创建用例模型的步骤</a:t>
            </a:r>
            <a:endParaRPr lang="zh-CN" altLang="en-US" sz="240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确定问题域的分析范围</a:t>
            </a:r>
            <a:endParaRPr lang="en-US" altLang="zh-CN"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确定该范围内可能出现的角色</a:t>
            </a:r>
            <a:endParaRPr lang="zh-CN" altLang="en-US"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根据业务背景或者领域模型，确定每个角色需要的用例，并形成</a:t>
            </a:r>
            <a:r>
              <a:rPr lang="zh-CN" altLang="en-US" sz="2160" b="1" dirty="0">
                <a:latin typeface="微软雅黑" panose="020B0503020204020204" charset="-122"/>
                <a:ea typeface="微软雅黑" panose="020B0503020204020204" charset="-122"/>
                <a:cs typeface="微软雅黑" panose="020B0503020204020204" charset="-122"/>
              </a:rPr>
              <a:t>用例图</a:t>
            </a:r>
            <a:endParaRPr lang="zh-CN" altLang="en-US"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基于确定的用例，整理成规范的</a:t>
            </a:r>
            <a:r>
              <a:rPr lang="zh-CN" altLang="en-US" sz="2160" b="1" dirty="0">
                <a:latin typeface="微软雅黑" panose="020B0503020204020204" charset="-122"/>
                <a:ea typeface="微软雅黑" panose="020B0503020204020204" charset="-122"/>
                <a:cs typeface="微软雅黑" panose="020B0503020204020204" charset="-122"/>
              </a:rPr>
              <a:t>用例说明</a:t>
            </a:r>
            <a:r>
              <a:rPr lang="zh-CN" altLang="en-US" sz="2160" dirty="0">
                <a:latin typeface="微软雅黑" panose="020B0503020204020204" charset="-122"/>
                <a:ea typeface="微软雅黑" panose="020B0503020204020204" charset="-122"/>
                <a:cs typeface="微软雅黑" panose="020B0503020204020204" charset="-122"/>
              </a:rPr>
              <a:t>文本</a:t>
            </a:r>
            <a:endParaRPr lang="zh-CN" altLang="en-US"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在可能的情况下，将多个角色的用例图整合成一个相对完整的用例图</a:t>
            </a:r>
            <a:endParaRPr lang="zh-CN" altLang="en-US"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针对</a:t>
            </a:r>
            <a:r>
              <a:rPr lang="zh-CN" altLang="en-US" sz="2160" b="1" dirty="0">
                <a:latin typeface="微软雅黑" panose="020B0503020204020204" charset="-122"/>
                <a:ea typeface="微软雅黑" panose="020B0503020204020204" charset="-122"/>
                <a:cs typeface="微软雅黑" panose="020B0503020204020204" charset="-122"/>
              </a:rPr>
              <a:t>每个用例</a:t>
            </a:r>
            <a:r>
              <a:rPr lang="zh-CN" altLang="en-US" sz="2160" dirty="0">
                <a:latin typeface="微软雅黑" panose="020B0503020204020204" charset="-122"/>
                <a:ea typeface="微软雅黑" panose="020B0503020204020204" charset="-122"/>
                <a:cs typeface="微软雅黑" panose="020B0503020204020204" charset="-122"/>
              </a:rPr>
              <a:t>，结合相应的用例说明，确定系统顺序图中角色与系统之间的交互，绘制基于用例的</a:t>
            </a:r>
            <a:r>
              <a:rPr lang="zh-CN" altLang="en-US" sz="2160" b="1" dirty="0">
                <a:latin typeface="微软雅黑" panose="020B0503020204020204" charset="-122"/>
                <a:ea typeface="微软雅黑" panose="020B0503020204020204" charset="-122"/>
                <a:cs typeface="微软雅黑" panose="020B0503020204020204" charset="-122"/>
              </a:rPr>
              <a:t>系统顺序图</a:t>
            </a:r>
            <a:endParaRPr lang="zh-CN" altLang="en-US" sz="2160" dirty="0">
              <a:latin typeface="微软雅黑" panose="020B0503020204020204" charset="-122"/>
              <a:ea typeface="微软雅黑" panose="020B0503020204020204" charset="-122"/>
              <a:cs typeface="微软雅黑" panose="020B0503020204020204" charset="-122"/>
            </a:endParaRPr>
          </a:p>
          <a:p>
            <a:pPr lvl="1" fontAlgn="auto">
              <a:lnSpc>
                <a:spcPct val="100000"/>
              </a:lnSpc>
            </a:pPr>
            <a:r>
              <a:rPr lang="zh-CN" altLang="en-US" sz="2160" dirty="0">
                <a:latin typeface="微软雅黑" panose="020B0503020204020204" charset="-122"/>
                <a:ea typeface="微软雅黑" panose="020B0503020204020204" charset="-122"/>
                <a:cs typeface="微软雅黑" panose="020B0503020204020204" charset="-122"/>
              </a:rPr>
              <a:t>基于</a:t>
            </a:r>
            <a:r>
              <a:rPr lang="zh-CN" altLang="en-US" sz="2160" b="1" dirty="0">
                <a:latin typeface="微软雅黑" panose="020B0503020204020204" charset="-122"/>
                <a:ea typeface="微软雅黑" panose="020B0503020204020204" charset="-122"/>
                <a:cs typeface="微软雅黑" panose="020B0503020204020204" charset="-122"/>
              </a:rPr>
              <a:t>每个系统顺序图</a:t>
            </a:r>
            <a:r>
              <a:rPr lang="zh-CN" altLang="en-US" sz="2160" dirty="0">
                <a:latin typeface="微软雅黑" panose="020B0503020204020204" charset="-122"/>
                <a:ea typeface="微软雅黑" panose="020B0503020204020204" charset="-122"/>
                <a:cs typeface="微软雅黑" panose="020B0503020204020204" charset="-122"/>
              </a:rPr>
              <a:t>，确定每个事件交互经过系统处理后应该返回给角色的声明性结果，即</a:t>
            </a:r>
            <a:r>
              <a:rPr lang="zh-CN" altLang="en-US" sz="2160" b="1" dirty="0">
                <a:latin typeface="微软雅黑" panose="020B0503020204020204" charset="-122"/>
                <a:ea typeface="微软雅黑" panose="020B0503020204020204" charset="-122"/>
                <a:cs typeface="微软雅黑" panose="020B0503020204020204" charset="-122"/>
              </a:rPr>
              <a:t>操作契约</a:t>
            </a:r>
            <a:endParaRPr lang="zh-CN" altLang="en-US" sz="2160" dirty="0">
              <a:latin typeface="微软雅黑" panose="020B0503020204020204" charset="-122"/>
              <a:ea typeface="微软雅黑" panose="020B0503020204020204" charset="-122"/>
              <a:cs typeface="微软雅黑" panose="020B0503020204020204" charset="-122"/>
            </a:endParaRPr>
          </a:p>
          <a:p>
            <a:pPr fontAlgn="auto">
              <a:lnSpc>
                <a:spcPct val="100000"/>
              </a:lnSpc>
            </a:pPr>
            <a:endParaRPr lang="en-US" altLang="zh-CN" sz="2400" dirty="0">
              <a:latin typeface="微软雅黑" panose="020B0503020204020204" charset="-122"/>
              <a:ea typeface="微软雅黑" panose="020B0503020204020204" charset="-122"/>
              <a:cs typeface="微软雅黑" panose="020B0503020204020204" charset="-122"/>
            </a:endParaRPr>
          </a:p>
          <a:p>
            <a:endParaRPr lang="en-US" altLang="zh-CN"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用例</a:t>
            </a:r>
            <a:r>
              <a:rPr lang="zh-CN" altLang="en-US" smtClean="0"/>
              <a:t>图</a:t>
            </a:r>
            <a:endParaRPr lang="zh-CN" altLang="en-US" smtClean="0"/>
          </a:p>
        </p:txBody>
      </p:sp>
      <p:sp>
        <p:nvSpPr>
          <p:cNvPr id="21507" name="内容占位符 2"/>
          <p:cNvSpPr>
            <a:spLocks noGrp="1"/>
          </p:cNvSpPr>
          <p:nvPr>
            <p:ph idx="1"/>
          </p:nvPr>
        </p:nvSpPr>
        <p:spPr>
          <a:xfrm>
            <a:off x="468000" y="908720"/>
            <a:ext cx="11160000" cy="5260120"/>
          </a:xfrm>
        </p:spPr>
        <p:txBody>
          <a:bodyPr/>
          <a:lstStyle/>
          <a:p>
            <a:r>
              <a:rPr lang="zh-CN" altLang="en-US" sz="2400" dirty="0"/>
              <a:t>基本用例：与角色直接相关的用例，表示系统的功能需求；</a:t>
            </a:r>
            <a:endParaRPr lang="en-US" altLang="zh-CN" sz="2400" dirty="0"/>
          </a:p>
          <a:p>
            <a:r>
              <a:rPr lang="zh-CN" altLang="en-US" sz="2400" dirty="0"/>
              <a:t>子用例：通过场景描述分析归纳出的用例，也表示了系统的功能，但这些用例与角色无直接关系，而与基本用例存在关联关系；</a:t>
            </a:r>
            <a:endParaRPr lang="en-US" altLang="zh-CN" sz="2400" dirty="0"/>
          </a:p>
          <a:p>
            <a:pPr lvl="1"/>
            <a:r>
              <a:rPr lang="zh-CN" altLang="en-US" sz="2000" dirty="0"/>
              <a:t>包含子用例：多个基本用例中的某个与角色交互的场景</a:t>
            </a:r>
            <a:br>
              <a:rPr lang="zh-CN" altLang="en-US" sz="2000" dirty="0"/>
            </a:br>
            <a:r>
              <a:rPr lang="zh-CN" altLang="en-US" sz="2000" dirty="0"/>
              <a:t>具有相同的操作，且这些场景都是基本用例中必须执行</a:t>
            </a:r>
            <a:br>
              <a:rPr lang="zh-CN" altLang="en-US" sz="2000" dirty="0"/>
            </a:br>
            <a:r>
              <a:rPr lang="zh-CN" altLang="en-US" sz="2000" dirty="0"/>
              <a:t>的步骤，可以将其抽取出来作为基本用例的子用例</a:t>
            </a:r>
            <a:endParaRPr lang="en-US" altLang="zh-CN" sz="2000" dirty="0"/>
          </a:p>
          <a:p>
            <a:pPr lvl="1"/>
            <a:endParaRPr lang="en-US" altLang="zh-CN" sz="2000" dirty="0" smtClean="0"/>
          </a:p>
          <a:p>
            <a:pPr lvl="1"/>
            <a:endParaRPr lang="en-US" altLang="zh-CN" sz="2000" dirty="0" smtClean="0"/>
          </a:p>
          <a:p>
            <a:pPr lvl="1"/>
            <a:endParaRPr lang="en-US" altLang="zh-CN" sz="2000" dirty="0"/>
          </a:p>
          <a:p>
            <a:pPr lvl="1"/>
            <a:r>
              <a:rPr lang="zh-CN" altLang="en-US" sz="2000" dirty="0"/>
              <a:t>扩展子用例：（多个）基本用例中的某些场景存在相同</a:t>
            </a:r>
            <a:br>
              <a:rPr lang="zh-CN" altLang="en-US" sz="2000" dirty="0"/>
            </a:br>
            <a:r>
              <a:rPr lang="zh-CN" altLang="en-US" sz="2000" dirty="0"/>
              <a:t>的条件判断的情况，可以将其抽取出来作为基本用例的</a:t>
            </a:r>
            <a:br>
              <a:rPr lang="zh-CN" altLang="en-US" sz="2000" dirty="0"/>
            </a:br>
            <a:r>
              <a:rPr lang="zh-CN" altLang="en-US" sz="2000" dirty="0"/>
              <a:t>子用例</a:t>
            </a:r>
            <a:endParaRPr lang="zh-CN" altLang="en-US" sz="2000" dirty="0"/>
          </a:p>
        </p:txBody>
      </p:sp>
      <p:pic>
        <p:nvPicPr>
          <p:cNvPr id="2253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06055" y="2204720"/>
            <a:ext cx="3686175" cy="204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6055" y="4624705"/>
            <a:ext cx="3686175" cy="1378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7" name="内容占位符 2"/>
          <p:cNvSpPr>
            <a:spLocks noGrp="1"/>
          </p:cNvSpPr>
          <p:nvPr>
            <p:ph idx="1"/>
          </p:nvPr>
        </p:nvSpPr>
        <p:spPr>
          <a:xfrm>
            <a:off x="468000" y="908720"/>
            <a:ext cx="11160000" cy="5260120"/>
          </a:xfrm>
        </p:spPr>
        <p:txBody>
          <a:bodyPr/>
          <a:lstStyle/>
          <a:p>
            <a:r>
              <a:rPr lang="zh-CN" altLang="en-US" sz="2800" dirty="0">
                <a:solidFill>
                  <a:schemeClr val="tx1"/>
                </a:solidFill>
              </a:rPr>
              <a:t>用例提取常见误区</a:t>
            </a:r>
            <a:endParaRPr lang="zh-CN" altLang="en-US" sz="2800" dirty="0">
              <a:solidFill>
                <a:schemeClr val="tx1"/>
              </a:solidFill>
            </a:endParaRPr>
          </a:p>
          <a:p>
            <a:pPr lvl="1"/>
            <a:r>
              <a:rPr lang="zh-CN" altLang="en-US" sz="2400" dirty="0">
                <a:solidFill>
                  <a:schemeClr val="tx1"/>
                </a:solidFill>
              </a:rPr>
              <a:t>非目的性用例</a:t>
            </a:r>
            <a:endParaRPr lang="zh-CN" altLang="en-US" sz="2400" dirty="0">
              <a:solidFill>
                <a:schemeClr val="tx1"/>
              </a:solidFill>
            </a:endParaRPr>
          </a:p>
          <a:p>
            <a:pPr lvl="1"/>
            <a:endParaRPr lang="zh-CN" altLang="en-US" sz="2400" dirty="0">
              <a:solidFill>
                <a:schemeClr val="tx1"/>
              </a:solidFill>
            </a:endParaRPr>
          </a:p>
          <a:p>
            <a:pPr lvl="1"/>
            <a:r>
              <a:rPr lang="zh-CN" altLang="en-US" sz="2400" dirty="0">
                <a:solidFill>
                  <a:schemeClr val="tx1"/>
                </a:solidFill>
              </a:rPr>
              <a:t>系统性操作</a:t>
            </a:r>
            <a:endParaRPr lang="zh-CN" altLang="en-US" sz="2400" dirty="0">
              <a:solidFill>
                <a:schemeClr val="tx1"/>
              </a:solidFill>
            </a:endParaRPr>
          </a:p>
          <a:p>
            <a:pPr lvl="1"/>
            <a:endParaRPr lang="zh-CN" altLang="en-US" sz="2400" dirty="0">
              <a:solidFill>
                <a:schemeClr val="tx1"/>
              </a:solidFill>
            </a:endParaRPr>
          </a:p>
          <a:p>
            <a:pPr lvl="1"/>
            <a:endParaRPr lang="zh-CN" altLang="en-US" sz="2400" dirty="0">
              <a:solidFill>
                <a:schemeClr val="tx1"/>
              </a:solidFill>
            </a:endParaRPr>
          </a:p>
          <a:p>
            <a:pPr lvl="1"/>
            <a:r>
              <a:rPr lang="zh-CN" altLang="en-US" sz="2400" dirty="0">
                <a:solidFill>
                  <a:schemeClr val="tx1"/>
                </a:solidFill>
              </a:rPr>
              <a:t>不恰当粒度</a:t>
            </a:r>
            <a:endParaRPr lang="zh-CN" altLang="en-US" sz="2400" dirty="0">
              <a:solidFill>
                <a:schemeClr val="tx1"/>
              </a:solidFill>
            </a:endParaRPr>
          </a:p>
        </p:txBody>
      </p:sp>
      <p:sp>
        <p:nvSpPr>
          <p:cNvPr id="21506" name="标题 1"/>
          <p:cNvSpPr>
            <a:spLocks noGrp="1"/>
          </p:cNvSpPr>
          <p:nvPr>
            <p:ph type="title"/>
          </p:nvPr>
        </p:nvSpPr>
        <p:spPr/>
        <p:txBody>
          <a:bodyPr/>
          <a:lstStyle/>
          <a:p>
            <a:r>
              <a:rPr lang="zh-CN" altLang="en-US" smtClean="0">
                <a:solidFill>
                  <a:schemeClr val="tx1"/>
                </a:solidFill>
              </a:rPr>
              <a:t>用例图</a:t>
            </a:r>
            <a:endParaRPr lang="zh-CN" altLang="en-US" smtClean="0">
              <a:solidFill>
                <a:schemeClr val="tx1"/>
              </a:solidFill>
            </a:endParaRPr>
          </a:p>
        </p:txBody>
      </p:sp>
      <p:grpSp>
        <p:nvGrpSpPr>
          <p:cNvPr id="10" name="组合 9"/>
          <p:cNvGrpSpPr/>
          <p:nvPr/>
        </p:nvGrpSpPr>
        <p:grpSpPr>
          <a:xfrm>
            <a:off x="4768850" y="1317625"/>
            <a:ext cx="2857354" cy="1038831"/>
            <a:chOff x="8727" y="1831"/>
            <a:chExt cx="5844" cy="2124"/>
          </a:xfrm>
        </p:grpSpPr>
        <p:pic>
          <p:nvPicPr>
            <p:cNvPr id="2" name="图片 1" descr="icon-use-case-role"/>
            <p:cNvPicPr>
              <a:picLocks noChangeAspect="1"/>
            </p:cNvPicPr>
            <p:nvPr/>
          </p:nvPicPr>
          <p:blipFill>
            <a:blip r:embed="rId1"/>
            <a:stretch>
              <a:fillRect/>
            </a:stretch>
          </p:blipFill>
          <p:spPr>
            <a:xfrm>
              <a:off x="8727" y="1831"/>
              <a:ext cx="1435" cy="1435"/>
            </a:xfrm>
            <a:prstGeom prst="rect">
              <a:avLst/>
            </a:prstGeom>
          </p:spPr>
        </p:pic>
        <p:sp>
          <p:nvSpPr>
            <p:cNvPr id="3" name="椭圆 2"/>
            <p:cNvSpPr/>
            <p:nvPr/>
          </p:nvSpPr>
          <p:spPr>
            <a:xfrm>
              <a:off x="11304" y="1869"/>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solidFill>
                  <a:latin typeface="微软雅黑" panose="020B0503020204020204" charset="-122"/>
                  <a:ea typeface="微软雅黑" panose="020B0503020204020204" charset="-122"/>
                </a:rPr>
                <a:t>验证密码</a:t>
              </a:r>
              <a:endParaRPr lang="zh-CN" altLang="en-US" sz="1600">
                <a:solidFill>
                  <a:schemeClr val="tx1"/>
                </a:solidFill>
                <a:latin typeface="微软雅黑" panose="020B0503020204020204" charset="-122"/>
                <a:ea typeface="微软雅黑" panose="020B0503020204020204" charset="-122"/>
              </a:endParaRPr>
            </a:p>
          </p:txBody>
        </p:sp>
        <p:cxnSp>
          <p:nvCxnSpPr>
            <p:cNvPr id="4" name="直接连接符 3"/>
            <p:cNvCxnSpPr>
              <a:stCxn id="2" idx="3"/>
              <a:endCxn id="3" idx="2"/>
            </p:cNvCxnSpPr>
            <p:nvPr/>
          </p:nvCxnSpPr>
          <p:spPr>
            <a:xfrm>
              <a:off x="10162" y="255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8727" y="3266"/>
              <a:ext cx="1435" cy="689"/>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储户</a:t>
              </a:r>
              <a:endParaRPr lang="zh-CN" altLang="en-US" sz="1600">
                <a:latin typeface="微软雅黑" panose="020B0503020204020204" charset="-122"/>
                <a:ea typeface="微软雅黑" panose="020B0503020204020204" charset="-122"/>
              </a:endParaRPr>
            </a:p>
          </p:txBody>
        </p:sp>
      </p:grpSp>
      <p:grpSp>
        <p:nvGrpSpPr>
          <p:cNvPr id="11" name="组合 10"/>
          <p:cNvGrpSpPr/>
          <p:nvPr/>
        </p:nvGrpSpPr>
        <p:grpSpPr>
          <a:xfrm>
            <a:off x="8322945" y="1317625"/>
            <a:ext cx="2857354" cy="1038831"/>
            <a:chOff x="8743" y="4002"/>
            <a:chExt cx="5844" cy="2124"/>
          </a:xfrm>
        </p:grpSpPr>
        <p:pic>
          <p:nvPicPr>
            <p:cNvPr id="6" name="图片 5" descr="icon-use-case-role"/>
            <p:cNvPicPr>
              <a:picLocks noChangeAspect="1"/>
            </p:cNvPicPr>
            <p:nvPr/>
          </p:nvPicPr>
          <p:blipFill>
            <a:blip r:embed="rId1"/>
            <a:stretch>
              <a:fillRect/>
            </a:stretch>
          </p:blipFill>
          <p:spPr>
            <a:xfrm>
              <a:off x="8743" y="4002"/>
              <a:ext cx="1435" cy="1435"/>
            </a:xfrm>
            <a:prstGeom prst="rect">
              <a:avLst/>
            </a:prstGeom>
          </p:spPr>
        </p:pic>
        <p:sp>
          <p:nvSpPr>
            <p:cNvPr id="7" name="椭圆 6"/>
            <p:cNvSpPr/>
            <p:nvPr/>
          </p:nvSpPr>
          <p:spPr>
            <a:xfrm>
              <a:off x="11320" y="4040"/>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solidFill>
                  <a:latin typeface="微软雅黑" panose="020B0503020204020204" charset="-122"/>
                  <a:ea typeface="微软雅黑" panose="020B0503020204020204" charset="-122"/>
                </a:rPr>
                <a:t>验证身份</a:t>
              </a:r>
              <a:endParaRPr lang="zh-CN" altLang="en-US" sz="1600">
                <a:solidFill>
                  <a:schemeClr val="tx1"/>
                </a:solidFill>
                <a:latin typeface="微软雅黑" panose="020B0503020204020204" charset="-122"/>
                <a:ea typeface="微软雅黑" panose="020B0503020204020204" charset="-122"/>
              </a:endParaRPr>
            </a:p>
          </p:txBody>
        </p:sp>
        <p:cxnSp>
          <p:nvCxnSpPr>
            <p:cNvPr id="8" name="直接连接符 7"/>
            <p:cNvCxnSpPr>
              <a:stCxn id="6" idx="3"/>
              <a:endCxn id="7" idx="2"/>
            </p:cNvCxnSpPr>
            <p:nvPr/>
          </p:nvCxnSpPr>
          <p:spPr>
            <a:xfrm>
              <a:off x="10178" y="472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8743" y="5437"/>
              <a:ext cx="1435" cy="689"/>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储户</a:t>
              </a:r>
              <a:endParaRPr lang="zh-CN" altLang="en-US" sz="1600">
                <a:latin typeface="微软雅黑" panose="020B0503020204020204" charset="-122"/>
                <a:ea typeface="微软雅黑" panose="020B0503020204020204" charset="-122"/>
              </a:endParaRPr>
            </a:p>
          </p:txBody>
        </p:sp>
      </p:grpSp>
      <p:grpSp>
        <p:nvGrpSpPr>
          <p:cNvPr id="69" name="组合 68"/>
          <p:cNvGrpSpPr/>
          <p:nvPr/>
        </p:nvGrpSpPr>
        <p:grpSpPr>
          <a:xfrm>
            <a:off x="4768850" y="2700020"/>
            <a:ext cx="5413375" cy="1038225"/>
            <a:chOff x="7510" y="4252"/>
            <a:chExt cx="8525" cy="1635"/>
          </a:xfrm>
        </p:grpSpPr>
        <p:pic>
          <p:nvPicPr>
            <p:cNvPr id="13" name="图片 12" descr="icon-use-case-role"/>
            <p:cNvPicPr>
              <a:picLocks noChangeAspect="1"/>
            </p:cNvPicPr>
            <p:nvPr/>
          </p:nvPicPr>
          <p:blipFill>
            <a:blip r:embed="rId1"/>
            <a:stretch>
              <a:fillRect/>
            </a:stretch>
          </p:blipFill>
          <p:spPr>
            <a:xfrm>
              <a:off x="7510" y="4252"/>
              <a:ext cx="1105" cy="1105"/>
            </a:xfrm>
            <a:prstGeom prst="rect">
              <a:avLst/>
            </a:prstGeom>
          </p:spPr>
        </p:pic>
        <p:sp>
          <p:nvSpPr>
            <p:cNvPr id="14" name="椭圆 13"/>
            <p:cNvSpPr/>
            <p:nvPr/>
          </p:nvSpPr>
          <p:spPr>
            <a:xfrm>
              <a:off x="9494" y="4281"/>
              <a:ext cx="2516" cy="104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solidFill>
                  <a:latin typeface="微软雅黑" panose="020B0503020204020204" charset="-122"/>
                  <a:ea typeface="微软雅黑" panose="020B0503020204020204" charset="-122"/>
                </a:rPr>
                <a:t>查询</a:t>
              </a:r>
              <a:r>
                <a:rPr lang="zh-CN" altLang="en-US" sz="1600">
                  <a:solidFill>
                    <a:schemeClr val="tx1"/>
                  </a:solidFill>
                  <a:latin typeface="微软雅黑" panose="020B0503020204020204" charset="-122"/>
                  <a:ea typeface="微软雅黑" panose="020B0503020204020204" charset="-122"/>
                </a:rPr>
                <a:t>病历</a:t>
              </a:r>
              <a:endParaRPr lang="zh-CN" altLang="en-US" sz="1600">
                <a:solidFill>
                  <a:schemeClr val="tx1"/>
                </a:solidFill>
                <a:latin typeface="微软雅黑" panose="020B0503020204020204" charset="-122"/>
                <a:ea typeface="微软雅黑" panose="020B0503020204020204" charset="-122"/>
              </a:endParaRPr>
            </a:p>
          </p:txBody>
        </p:sp>
        <p:cxnSp>
          <p:nvCxnSpPr>
            <p:cNvPr id="15" name="直接连接符 14"/>
            <p:cNvCxnSpPr>
              <a:stCxn id="13" idx="3"/>
              <a:endCxn id="14" idx="2"/>
            </p:cNvCxnSpPr>
            <p:nvPr/>
          </p:nvCxnSpPr>
          <p:spPr>
            <a:xfrm>
              <a:off x="8615" y="4806"/>
              <a:ext cx="879" cy="0"/>
            </a:xfrm>
            <a:prstGeom prst="line">
              <a:avLst/>
            </a:prstGeom>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7510" y="5357"/>
              <a:ext cx="1105" cy="531"/>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医生</a:t>
              </a:r>
              <a:endParaRPr lang="zh-CN" altLang="en-US" sz="1600">
                <a:latin typeface="微软雅黑" panose="020B0503020204020204" charset="-122"/>
                <a:ea typeface="微软雅黑" panose="020B0503020204020204" charset="-122"/>
              </a:endParaRPr>
            </a:p>
          </p:txBody>
        </p:sp>
        <p:sp>
          <p:nvSpPr>
            <p:cNvPr id="17" name="椭圆 16"/>
            <p:cNvSpPr/>
            <p:nvPr/>
          </p:nvSpPr>
          <p:spPr>
            <a:xfrm>
              <a:off x="13519" y="4294"/>
              <a:ext cx="2516" cy="104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solidFill>
                  <a:latin typeface="微软雅黑" panose="020B0503020204020204" charset="-122"/>
                  <a:ea typeface="微软雅黑" panose="020B0503020204020204" charset="-122"/>
                </a:rPr>
                <a:t>连接</a:t>
              </a:r>
              <a:br>
                <a:rPr lang="zh-CN" altLang="en-US" sz="1600">
                  <a:solidFill>
                    <a:schemeClr val="tx1"/>
                  </a:solidFill>
                  <a:latin typeface="微软雅黑" panose="020B0503020204020204" charset="-122"/>
                  <a:ea typeface="微软雅黑" panose="020B0503020204020204" charset="-122"/>
                </a:rPr>
              </a:br>
              <a:r>
                <a:rPr lang="zh-CN" altLang="en-US" sz="1600">
                  <a:solidFill>
                    <a:schemeClr val="tx1"/>
                  </a:solidFill>
                  <a:latin typeface="微软雅黑" panose="020B0503020204020204" charset="-122"/>
                  <a:ea typeface="微软雅黑" panose="020B0503020204020204" charset="-122"/>
                </a:rPr>
                <a:t>数据库</a:t>
              </a:r>
              <a:endParaRPr lang="zh-CN" altLang="en-US" sz="1600">
                <a:solidFill>
                  <a:schemeClr val="tx1"/>
                </a:solidFill>
                <a:latin typeface="微软雅黑" panose="020B0503020204020204" charset="-122"/>
                <a:ea typeface="微软雅黑" panose="020B0503020204020204" charset="-122"/>
              </a:endParaRPr>
            </a:p>
          </p:txBody>
        </p:sp>
        <p:cxnSp>
          <p:nvCxnSpPr>
            <p:cNvPr id="18" name="直接连接符 17"/>
            <p:cNvCxnSpPr>
              <a:stCxn id="14" idx="6"/>
              <a:endCxn id="17" idx="2"/>
            </p:cNvCxnSpPr>
            <p:nvPr/>
          </p:nvCxnSpPr>
          <p:spPr>
            <a:xfrm>
              <a:off x="12010" y="4805"/>
              <a:ext cx="1509" cy="13"/>
            </a:xfrm>
            <a:prstGeom prst="line">
              <a:avLst/>
            </a:prstGeom>
            <a:ln>
              <a:prstDash val="dash"/>
              <a:headEnd type="none"/>
              <a:tailEnd type="triangle" w="med" len="med"/>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2013" y="4262"/>
              <a:ext cx="1506" cy="531"/>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a:t>
              </a:r>
              <a:r>
                <a:rPr lang="zh-CN" altLang="en-US" sz="1600">
                  <a:latin typeface="微软雅黑" panose="020B0503020204020204" charset="-122"/>
                  <a:ea typeface="微软雅黑" panose="020B0503020204020204" charset="-122"/>
                </a:rPr>
                <a:t>包含）</a:t>
              </a:r>
              <a:endParaRPr lang="zh-CN" altLang="en-US" sz="1600">
                <a:latin typeface="微软雅黑" panose="020B0503020204020204" charset="-122"/>
                <a:ea typeface="微软雅黑" panose="020B0503020204020204" charset="-122"/>
              </a:endParaRPr>
            </a:p>
          </p:txBody>
        </p:sp>
      </p:grpSp>
      <p:grpSp>
        <p:nvGrpSpPr>
          <p:cNvPr id="68" name="组合 67"/>
          <p:cNvGrpSpPr/>
          <p:nvPr/>
        </p:nvGrpSpPr>
        <p:grpSpPr>
          <a:xfrm>
            <a:off x="3189605" y="4461510"/>
            <a:ext cx="4029710" cy="1617980"/>
            <a:chOff x="5023" y="7026"/>
            <a:chExt cx="6346" cy="2548"/>
          </a:xfrm>
        </p:grpSpPr>
        <p:grpSp>
          <p:nvGrpSpPr>
            <p:cNvPr id="22" name="组合 21"/>
            <p:cNvGrpSpPr/>
            <p:nvPr/>
          </p:nvGrpSpPr>
          <p:grpSpPr>
            <a:xfrm rot="0">
              <a:off x="5023" y="7026"/>
              <a:ext cx="2956" cy="1112"/>
              <a:chOff x="8727" y="1831"/>
              <a:chExt cx="5844" cy="2198"/>
            </a:xfrm>
          </p:grpSpPr>
          <p:pic>
            <p:nvPicPr>
              <p:cNvPr id="23" name="图片 22" descr="icon-use-case-role"/>
              <p:cNvPicPr>
                <a:picLocks noChangeAspect="1"/>
              </p:cNvPicPr>
              <p:nvPr/>
            </p:nvPicPr>
            <p:blipFill>
              <a:blip r:embed="rId1"/>
              <a:stretch>
                <a:fillRect/>
              </a:stretch>
            </p:blipFill>
            <p:spPr>
              <a:xfrm>
                <a:off x="8727" y="1831"/>
                <a:ext cx="1435" cy="1435"/>
              </a:xfrm>
              <a:prstGeom prst="rect">
                <a:avLst/>
              </a:prstGeom>
            </p:spPr>
          </p:pic>
          <p:sp>
            <p:nvSpPr>
              <p:cNvPr id="24" name="椭圆 23"/>
              <p:cNvSpPr/>
              <p:nvPr/>
            </p:nvSpPr>
            <p:spPr>
              <a:xfrm>
                <a:off x="11304" y="1869"/>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新增病历</a:t>
                </a:r>
                <a:endParaRPr lang="zh-CN" altLang="en-US" sz="1000">
                  <a:solidFill>
                    <a:schemeClr val="tx1"/>
                  </a:solidFill>
                  <a:latin typeface="微软雅黑" panose="020B0503020204020204" charset="-122"/>
                  <a:ea typeface="微软雅黑" panose="020B0503020204020204" charset="-122"/>
                </a:endParaRPr>
              </a:p>
            </p:txBody>
          </p:sp>
          <p:cxnSp>
            <p:nvCxnSpPr>
              <p:cNvPr id="25" name="直接连接符 24"/>
              <p:cNvCxnSpPr>
                <a:stCxn id="23" idx="3"/>
                <a:endCxn id="24" idx="2"/>
              </p:cNvCxnSpPr>
              <p:nvPr/>
            </p:nvCxnSpPr>
            <p:spPr>
              <a:xfrm>
                <a:off x="10162" y="255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8727" y="3266"/>
                <a:ext cx="1435" cy="763"/>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医生</a:t>
                </a:r>
                <a:endParaRPr lang="zh-CN" altLang="en-US" sz="1000">
                  <a:latin typeface="微软雅黑" panose="020B0503020204020204" charset="-122"/>
                  <a:ea typeface="微软雅黑" panose="020B0503020204020204" charset="-122"/>
                </a:endParaRPr>
              </a:p>
            </p:txBody>
          </p:sp>
        </p:grpSp>
        <p:grpSp>
          <p:nvGrpSpPr>
            <p:cNvPr id="27" name="组合 26"/>
            <p:cNvGrpSpPr/>
            <p:nvPr/>
          </p:nvGrpSpPr>
          <p:grpSpPr>
            <a:xfrm rot="0">
              <a:off x="5023" y="8462"/>
              <a:ext cx="2956" cy="1112"/>
              <a:chOff x="8727" y="1831"/>
              <a:chExt cx="5844" cy="2198"/>
            </a:xfrm>
          </p:grpSpPr>
          <p:pic>
            <p:nvPicPr>
              <p:cNvPr id="28" name="图片 27" descr="icon-use-case-role"/>
              <p:cNvPicPr>
                <a:picLocks noChangeAspect="1"/>
              </p:cNvPicPr>
              <p:nvPr/>
            </p:nvPicPr>
            <p:blipFill>
              <a:blip r:embed="rId1"/>
              <a:stretch>
                <a:fillRect/>
              </a:stretch>
            </p:blipFill>
            <p:spPr>
              <a:xfrm>
                <a:off x="8727" y="1831"/>
                <a:ext cx="1435" cy="1435"/>
              </a:xfrm>
              <a:prstGeom prst="rect">
                <a:avLst/>
              </a:prstGeom>
            </p:spPr>
          </p:pic>
          <p:sp>
            <p:nvSpPr>
              <p:cNvPr id="29" name="椭圆 28"/>
              <p:cNvSpPr/>
              <p:nvPr/>
            </p:nvSpPr>
            <p:spPr>
              <a:xfrm>
                <a:off x="11304" y="1869"/>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删除病历</a:t>
                </a:r>
                <a:endParaRPr lang="zh-CN" altLang="en-US" sz="1000">
                  <a:solidFill>
                    <a:schemeClr val="tx1"/>
                  </a:solidFill>
                  <a:latin typeface="微软雅黑" panose="020B0503020204020204" charset="-122"/>
                  <a:ea typeface="微软雅黑" panose="020B0503020204020204" charset="-122"/>
                </a:endParaRPr>
              </a:p>
            </p:txBody>
          </p:sp>
          <p:cxnSp>
            <p:nvCxnSpPr>
              <p:cNvPr id="30" name="直接连接符 29"/>
              <p:cNvCxnSpPr>
                <a:stCxn id="28" idx="3"/>
                <a:endCxn id="29" idx="2"/>
              </p:cNvCxnSpPr>
              <p:nvPr/>
            </p:nvCxnSpPr>
            <p:spPr>
              <a:xfrm>
                <a:off x="10162" y="255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8727" y="3266"/>
                <a:ext cx="1435" cy="763"/>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医生</a:t>
                </a:r>
                <a:endParaRPr lang="zh-CN" altLang="en-US" sz="1000">
                  <a:latin typeface="微软雅黑" panose="020B0503020204020204" charset="-122"/>
                  <a:ea typeface="微软雅黑" panose="020B0503020204020204" charset="-122"/>
                </a:endParaRPr>
              </a:p>
            </p:txBody>
          </p:sp>
        </p:grpSp>
        <p:grpSp>
          <p:nvGrpSpPr>
            <p:cNvPr id="32" name="组合 31"/>
            <p:cNvGrpSpPr/>
            <p:nvPr/>
          </p:nvGrpSpPr>
          <p:grpSpPr>
            <a:xfrm rot="0">
              <a:off x="8413" y="7026"/>
              <a:ext cx="2956" cy="1112"/>
              <a:chOff x="8727" y="1831"/>
              <a:chExt cx="5844" cy="2198"/>
            </a:xfrm>
          </p:grpSpPr>
          <p:pic>
            <p:nvPicPr>
              <p:cNvPr id="33" name="图片 32" descr="icon-use-case-role"/>
              <p:cNvPicPr>
                <a:picLocks noChangeAspect="1"/>
              </p:cNvPicPr>
              <p:nvPr/>
            </p:nvPicPr>
            <p:blipFill>
              <a:blip r:embed="rId1"/>
              <a:stretch>
                <a:fillRect/>
              </a:stretch>
            </p:blipFill>
            <p:spPr>
              <a:xfrm>
                <a:off x="8727" y="1831"/>
                <a:ext cx="1435" cy="1435"/>
              </a:xfrm>
              <a:prstGeom prst="rect">
                <a:avLst/>
              </a:prstGeom>
            </p:spPr>
          </p:pic>
          <p:sp>
            <p:nvSpPr>
              <p:cNvPr id="34" name="椭圆 33"/>
              <p:cNvSpPr/>
              <p:nvPr/>
            </p:nvSpPr>
            <p:spPr>
              <a:xfrm>
                <a:off x="11304" y="1869"/>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修改病历</a:t>
                </a:r>
                <a:endParaRPr lang="zh-CN" altLang="en-US" sz="1000">
                  <a:solidFill>
                    <a:schemeClr val="tx1"/>
                  </a:solidFill>
                  <a:latin typeface="微软雅黑" panose="020B0503020204020204" charset="-122"/>
                  <a:ea typeface="微软雅黑" panose="020B0503020204020204" charset="-122"/>
                </a:endParaRPr>
              </a:p>
            </p:txBody>
          </p:sp>
          <p:cxnSp>
            <p:nvCxnSpPr>
              <p:cNvPr id="35" name="直接连接符 34"/>
              <p:cNvCxnSpPr>
                <a:stCxn id="33" idx="3"/>
                <a:endCxn id="34" idx="2"/>
              </p:cNvCxnSpPr>
              <p:nvPr/>
            </p:nvCxnSpPr>
            <p:spPr>
              <a:xfrm>
                <a:off x="10162" y="255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8727" y="3266"/>
                <a:ext cx="1435" cy="763"/>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医生</a:t>
                </a:r>
                <a:endParaRPr lang="zh-CN" altLang="en-US" sz="1000">
                  <a:latin typeface="微软雅黑" panose="020B0503020204020204" charset="-122"/>
                  <a:ea typeface="微软雅黑" panose="020B0503020204020204" charset="-122"/>
                </a:endParaRPr>
              </a:p>
            </p:txBody>
          </p:sp>
        </p:grpSp>
        <p:grpSp>
          <p:nvGrpSpPr>
            <p:cNvPr id="37" name="组合 36"/>
            <p:cNvGrpSpPr/>
            <p:nvPr/>
          </p:nvGrpSpPr>
          <p:grpSpPr>
            <a:xfrm rot="0">
              <a:off x="8413" y="8462"/>
              <a:ext cx="2956" cy="1112"/>
              <a:chOff x="8727" y="1831"/>
              <a:chExt cx="5844" cy="2198"/>
            </a:xfrm>
          </p:grpSpPr>
          <p:pic>
            <p:nvPicPr>
              <p:cNvPr id="38" name="图片 37" descr="icon-use-case-role"/>
              <p:cNvPicPr>
                <a:picLocks noChangeAspect="1"/>
              </p:cNvPicPr>
              <p:nvPr/>
            </p:nvPicPr>
            <p:blipFill>
              <a:blip r:embed="rId1"/>
              <a:stretch>
                <a:fillRect/>
              </a:stretch>
            </p:blipFill>
            <p:spPr>
              <a:xfrm>
                <a:off x="8727" y="1831"/>
                <a:ext cx="1435" cy="1435"/>
              </a:xfrm>
              <a:prstGeom prst="rect">
                <a:avLst/>
              </a:prstGeom>
            </p:spPr>
          </p:pic>
          <p:sp>
            <p:nvSpPr>
              <p:cNvPr id="39" name="椭圆 38"/>
              <p:cNvSpPr/>
              <p:nvPr/>
            </p:nvSpPr>
            <p:spPr>
              <a:xfrm>
                <a:off x="11304" y="1869"/>
                <a:ext cx="3267" cy="1360"/>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查询病历</a:t>
                </a:r>
                <a:endParaRPr lang="zh-CN" altLang="en-US" sz="1000">
                  <a:solidFill>
                    <a:schemeClr val="tx1"/>
                  </a:solidFill>
                  <a:latin typeface="微软雅黑" panose="020B0503020204020204" charset="-122"/>
                  <a:ea typeface="微软雅黑" panose="020B0503020204020204" charset="-122"/>
                </a:endParaRPr>
              </a:p>
            </p:txBody>
          </p:sp>
          <p:cxnSp>
            <p:nvCxnSpPr>
              <p:cNvPr id="40" name="直接连接符 39"/>
              <p:cNvCxnSpPr>
                <a:stCxn id="38" idx="3"/>
                <a:endCxn id="39" idx="2"/>
              </p:cNvCxnSpPr>
              <p:nvPr/>
            </p:nvCxnSpPr>
            <p:spPr>
              <a:xfrm>
                <a:off x="10162" y="2550"/>
                <a:ext cx="1142" cy="0"/>
              </a:xfrm>
              <a:prstGeom prst="line">
                <a:avLst/>
              </a:prstGeom>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8727" y="3266"/>
                <a:ext cx="1435" cy="763"/>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医生</a:t>
                </a:r>
                <a:endParaRPr lang="zh-CN" altLang="en-US" sz="1000">
                  <a:latin typeface="微软雅黑" panose="020B0503020204020204" charset="-122"/>
                  <a:ea typeface="微软雅黑" panose="020B0503020204020204" charset="-122"/>
                </a:endParaRPr>
              </a:p>
            </p:txBody>
          </p:sp>
        </p:grpSp>
      </p:grpSp>
      <p:grpSp>
        <p:nvGrpSpPr>
          <p:cNvPr id="67" name="组合 66"/>
          <p:cNvGrpSpPr/>
          <p:nvPr/>
        </p:nvGrpSpPr>
        <p:grpSpPr>
          <a:xfrm>
            <a:off x="7799705" y="3559175"/>
            <a:ext cx="3714750" cy="2861945"/>
            <a:chOff x="10408" y="5896"/>
            <a:chExt cx="5850" cy="4507"/>
          </a:xfrm>
        </p:grpSpPr>
        <p:pic>
          <p:nvPicPr>
            <p:cNvPr id="44" name="图片 43" descr="icon-use-case-role"/>
            <p:cNvPicPr>
              <a:picLocks noChangeAspect="1"/>
            </p:cNvPicPr>
            <p:nvPr/>
          </p:nvPicPr>
          <p:blipFill>
            <a:blip r:embed="rId1"/>
            <a:stretch>
              <a:fillRect/>
            </a:stretch>
          </p:blipFill>
          <p:spPr>
            <a:xfrm>
              <a:off x="10408" y="7902"/>
              <a:ext cx="726" cy="726"/>
            </a:xfrm>
            <a:prstGeom prst="rect">
              <a:avLst/>
            </a:prstGeom>
          </p:spPr>
        </p:pic>
        <p:sp>
          <p:nvSpPr>
            <p:cNvPr id="45" name="椭圆 44"/>
            <p:cNvSpPr/>
            <p:nvPr/>
          </p:nvSpPr>
          <p:spPr>
            <a:xfrm>
              <a:off x="11711" y="7921"/>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管理病历</a:t>
              </a:r>
              <a:endParaRPr lang="zh-CN" altLang="en-US" sz="1000">
                <a:solidFill>
                  <a:schemeClr val="tx1"/>
                </a:solidFill>
                <a:latin typeface="微软雅黑" panose="020B0503020204020204" charset="-122"/>
                <a:ea typeface="微软雅黑" panose="020B0503020204020204" charset="-122"/>
              </a:endParaRPr>
            </a:p>
          </p:txBody>
        </p:sp>
        <p:cxnSp>
          <p:nvCxnSpPr>
            <p:cNvPr id="46" name="直接连接符 45"/>
            <p:cNvCxnSpPr>
              <a:endCxn id="45" idx="2"/>
            </p:cNvCxnSpPr>
            <p:nvPr/>
          </p:nvCxnSpPr>
          <p:spPr>
            <a:xfrm>
              <a:off x="11134" y="8266"/>
              <a:ext cx="578" cy="0"/>
            </a:xfrm>
            <a:prstGeom prst="line">
              <a:avLst/>
            </a:prstGeom>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10408" y="8628"/>
              <a:ext cx="726" cy="386"/>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医生</a:t>
              </a:r>
              <a:endParaRPr lang="zh-CN" altLang="en-US" sz="1000">
                <a:latin typeface="微软雅黑" panose="020B0503020204020204" charset="-122"/>
                <a:ea typeface="微软雅黑" panose="020B0503020204020204" charset="-122"/>
              </a:endParaRPr>
            </a:p>
          </p:txBody>
        </p:sp>
        <p:sp>
          <p:nvSpPr>
            <p:cNvPr id="48" name="椭圆 47"/>
            <p:cNvSpPr/>
            <p:nvPr/>
          </p:nvSpPr>
          <p:spPr>
            <a:xfrm>
              <a:off x="14606" y="5896"/>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添加病历</a:t>
              </a:r>
              <a:endParaRPr lang="zh-CN" altLang="en-US" sz="1000">
                <a:solidFill>
                  <a:schemeClr val="tx1"/>
                </a:solidFill>
                <a:latin typeface="微软雅黑" panose="020B0503020204020204" charset="-122"/>
                <a:ea typeface="微软雅黑" panose="020B0503020204020204" charset="-122"/>
              </a:endParaRPr>
            </a:p>
          </p:txBody>
        </p:sp>
        <p:cxnSp>
          <p:nvCxnSpPr>
            <p:cNvPr id="49" name="直接连接符 48"/>
            <p:cNvCxnSpPr>
              <a:stCxn id="45" idx="6"/>
              <a:endCxn id="48" idx="2"/>
            </p:cNvCxnSpPr>
            <p:nvPr/>
          </p:nvCxnSpPr>
          <p:spPr>
            <a:xfrm flipV="1">
              <a:off x="13364" y="6240"/>
              <a:ext cx="1242" cy="2025"/>
            </a:xfrm>
            <a:prstGeom prst="line">
              <a:avLst/>
            </a:prstGeom>
            <a:ln>
              <a:prstDash val="dash"/>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2" name="文本框 51"/>
            <p:cNvSpPr txBox="1"/>
            <p:nvPr/>
          </p:nvSpPr>
          <p:spPr>
            <a:xfrm>
              <a:off x="12884" y="7146"/>
              <a:ext cx="1506" cy="386"/>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（包含）</a:t>
              </a:r>
              <a:endParaRPr lang="zh-CN" altLang="en-US" sz="1000">
                <a:latin typeface="微软雅黑" panose="020B0503020204020204" charset="-122"/>
                <a:ea typeface="微软雅黑" panose="020B0503020204020204" charset="-122"/>
              </a:endParaRPr>
            </a:p>
          </p:txBody>
        </p:sp>
        <p:sp>
          <p:nvSpPr>
            <p:cNvPr id="53" name="椭圆 52"/>
            <p:cNvSpPr/>
            <p:nvPr/>
          </p:nvSpPr>
          <p:spPr>
            <a:xfrm>
              <a:off x="14606" y="7169"/>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删除病历</a:t>
              </a:r>
              <a:endParaRPr lang="zh-CN" altLang="en-US" sz="1000">
                <a:solidFill>
                  <a:schemeClr val="tx1"/>
                </a:solidFill>
                <a:latin typeface="微软雅黑" panose="020B0503020204020204" charset="-122"/>
                <a:ea typeface="微软雅黑" panose="020B0503020204020204" charset="-122"/>
              </a:endParaRPr>
            </a:p>
          </p:txBody>
        </p:sp>
        <p:sp>
          <p:nvSpPr>
            <p:cNvPr id="54" name="椭圆 53"/>
            <p:cNvSpPr/>
            <p:nvPr/>
          </p:nvSpPr>
          <p:spPr>
            <a:xfrm>
              <a:off x="14606" y="8442"/>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编辑病历</a:t>
              </a:r>
              <a:endParaRPr lang="zh-CN" altLang="en-US" sz="1000">
                <a:solidFill>
                  <a:schemeClr val="tx1"/>
                </a:solidFill>
                <a:latin typeface="微软雅黑" panose="020B0503020204020204" charset="-122"/>
                <a:ea typeface="微软雅黑" panose="020B0503020204020204" charset="-122"/>
              </a:endParaRPr>
            </a:p>
          </p:txBody>
        </p:sp>
        <p:sp>
          <p:nvSpPr>
            <p:cNvPr id="55" name="椭圆 54"/>
            <p:cNvSpPr/>
            <p:nvPr/>
          </p:nvSpPr>
          <p:spPr>
            <a:xfrm>
              <a:off x="14606" y="9715"/>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搜索病历</a:t>
              </a:r>
              <a:endParaRPr lang="zh-CN" altLang="en-US" sz="1000">
                <a:solidFill>
                  <a:schemeClr val="tx1"/>
                </a:solidFill>
                <a:latin typeface="微软雅黑" panose="020B0503020204020204" charset="-122"/>
                <a:ea typeface="微软雅黑" panose="020B0503020204020204" charset="-122"/>
              </a:endParaRPr>
            </a:p>
          </p:txBody>
        </p:sp>
        <p:cxnSp>
          <p:nvCxnSpPr>
            <p:cNvPr id="56" name="直接连接符 55"/>
            <p:cNvCxnSpPr>
              <a:stCxn id="45" idx="6"/>
              <a:endCxn id="53" idx="2"/>
            </p:cNvCxnSpPr>
            <p:nvPr/>
          </p:nvCxnSpPr>
          <p:spPr>
            <a:xfrm flipV="1">
              <a:off x="13364" y="7513"/>
              <a:ext cx="1242" cy="752"/>
            </a:xfrm>
            <a:prstGeom prst="line">
              <a:avLst/>
            </a:prstGeom>
            <a:ln>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45" idx="6"/>
              <a:endCxn id="54" idx="2"/>
            </p:cNvCxnSpPr>
            <p:nvPr/>
          </p:nvCxnSpPr>
          <p:spPr>
            <a:xfrm>
              <a:off x="13364" y="8265"/>
              <a:ext cx="1242" cy="521"/>
            </a:xfrm>
            <a:prstGeom prst="line">
              <a:avLst/>
            </a:prstGeom>
            <a:ln>
              <a:prstDash val="dash"/>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58" name="直接连接符 57"/>
            <p:cNvCxnSpPr>
              <a:stCxn id="45" idx="6"/>
              <a:endCxn id="55" idx="2"/>
            </p:cNvCxnSpPr>
            <p:nvPr/>
          </p:nvCxnSpPr>
          <p:spPr>
            <a:xfrm>
              <a:off x="13364" y="8265"/>
              <a:ext cx="1242" cy="1794"/>
            </a:xfrm>
            <a:prstGeom prst="line">
              <a:avLst/>
            </a:prstGeom>
            <a:ln>
              <a:prstDash val="dash"/>
              <a:headEnd type="none"/>
              <a:tailEnd type="triangle" w="med" len="med"/>
            </a:ln>
          </p:spPr>
          <p:style>
            <a:lnRef idx="2">
              <a:schemeClr val="accent1"/>
            </a:lnRef>
            <a:fillRef idx="0">
              <a:srgbClr val="FFFFFF"/>
            </a:fillRef>
            <a:effectRef idx="0">
              <a:srgbClr val="FFFFFF"/>
            </a:effectRef>
            <a:fontRef idx="minor">
              <a:schemeClr val="tx1"/>
            </a:fontRef>
          </p:style>
        </p:cxnSp>
        <p:sp>
          <p:nvSpPr>
            <p:cNvPr id="59" name="文本框 58"/>
            <p:cNvSpPr txBox="1"/>
            <p:nvPr/>
          </p:nvSpPr>
          <p:spPr>
            <a:xfrm>
              <a:off x="13499" y="7756"/>
              <a:ext cx="1506" cy="386"/>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（包含）</a:t>
              </a:r>
              <a:endParaRPr lang="zh-CN" altLang="en-US" sz="1000">
                <a:latin typeface="微软雅黑" panose="020B0503020204020204" charset="-122"/>
                <a:ea typeface="微软雅黑" panose="020B0503020204020204" charset="-122"/>
              </a:endParaRPr>
            </a:p>
          </p:txBody>
        </p:sp>
        <p:sp>
          <p:nvSpPr>
            <p:cNvPr id="60" name="文本框 59"/>
            <p:cNvSpPr txBox="1"/>
            <p:nvPr/>
          </p:nvSpPr>
          <p:spPr>
            <a:xfrm>
              <a:off x="13514" y="8236"/>
              <a:ext cx="1506" cy="386"/>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（包含）</a:t>
              </a:r>
              <a:endParaRPr lang="zh-CN" altLang="en-US" sz="1000">
                <a:latin typeface="微软雅黑" panose="020B0503020204020204" charset="-122"/>
                <a:ea typeface="微软雅黑" panose="020B0503020204020204" charset="-122"/>
              </a:endParaRPr>
            </a:p>
          </p:txBody>
        </p:sp>
        <p:sp>
          <p:nvSpPr>
            <p:cNvPr id="61" name="文本框 60"/>
            <p:cNvSpPr txBox="1"/>
            <p:nvPr/>
          </p:nvSpPr>
          <p:spPr>
            <a:xfrm>
              <a:off x="12907" y="9118"/>
              <a:ext cx="1506" cy="386"/>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rPr>
                <a:t>（包含）</a:t>
              </a:r>
              <a:endParaRPr lang="zh-CN" altLang="en-US" sz="1000">
                <a:latin typeface="微软雅黑" panose="020B0503020204020204" charset="-122"/>
                <a:ea typeface="微软雅黑" panose="020B0503020204020204" charset="-122"/>
              </a:endParaRPr>
            </a:p>
          </p:txBody>
        </p:sp>
      </p:grpSp>
      <p:grpSp>
        <p:nvGrpSpPr>
          <p:cNvPr id="66" name="组合 65"/>
          <p:cNvGrpSpPr/>
          <p:nvPr/>
        </p:nvGrpSpPr>
        <p:grpSpPr>
          <a:xfrm>
            <a:off x="10465435" y="3554095"/>
            <a:ext cx="1049020" cy="2861945"/>
            <a:chOff x="16766" y="5780"/>
            <a:chExt cx="1652" cy="4507"/>
          </a:xfrm>
        </p:grpSpPr>
        <p:sp>
          <p:nvSpPr>
            <p:cNvPr id="62" name="椭圆 61"/>
            <p:cNvSpPr/>
            <p:nvPr/>
          </p:nvSpPr>
          <p:spPr>
            <a:xfrm>
              <a:off x="16766" y="5780"/>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新增病历</a:t>
              </a:r>
              <a:endParaRPr lang="zh-CN" altLang="en-US" sz="1000">
                <a:solidFill>
                  <a:schemeClr val="tx1"/>
                </a:solidFill>
                <a:latin typeface="微软雅黑" panose="020B0503020204020204" charset="-122"/>
                <a:ea typeface="微软雅黑" panose="020B0503020204020204" charset="-122"/>
              </a:endParaRPr>
            </a:p>
          </p:txBody>
        </p:sp>
        <p:sp>
          <p:nvSpPr>
            <p:cNvPr id="63" name="椭圆 62"/>
            <p:cNvSpPr/>
            <p:nvPr/>
          </p:nvSpPr>
          <p:spPr>
            <a:xfrm>
              <a:off x="16766" y="7053"/>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删除病历</a:t>
              </a:r>
              <a:endParaRPr lang="zh-CN" altLang="en-US" sz="1000">
                <a:solidFill>
                  <a:schemeClr val="tx1"/>
                </a:solidFill>
                <a:latin typeface="微软雅黑" panose="020B0503020204020204" charset="-122"/>
                <a:ea typeface="微软雅黑" panose="020B0503020204020204" charset="-122"/>
              </a:endParaRPr>
            </a:p>
          </p:txBody>
        </p:sp>
        <p:sp>
          <p:nvSpPr>
            <p:cNvPr id="64" name="椭圆 63"/>
            <p:cNvSpPr/>
            <p:nvPr/>
          </p:nvSpPr>
          <p:spPr>
            <a:xfrm>
              <a:off x="16766" y="8326"/>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修改病历</a:t>
              </a:r>
              <a:endParaRPr lang="zh-CN" altLang="en-US" sz="1000">
                <a:solidFill>
                  <a:schemeClr val="tx1"/>
                </a:solidFill>
                <a:latin typeface="微软雅黑" panose="020B0503020204020204" charset="-122"/>
                <a:ea typeface="微软雅黑" panose="020B0503020204020204" charset="-122"/>
              </a:endParaRPr>
            </a:p>
          </p:txBody>
        </p:sp>
        <p:sp>
          <p:nvSpPr>
            <p:cNvPr id="65" name="椭圆 64"/>
            <p:cNvSpPr/>
            <p:nvPr/>
          </p:nvSpPr>
          <p:spPr>
            <a:xfrm>
              <a:off x="16766" y="9599"/>
              <a:ext cx="1653" cy="688"/>
            </a:xfrm>
            <a:prstGeom prst="ellipse">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查询病历</a:t>
              </a:r>
              <a:endParaRPr lang="zh-CN" altLang="en-US" sz="1000">
                <a:solidFill>
                  <a:schemeClr val="tx1"/>
                </a:solidFill>
                <a:latin typeface="微软雅黑" panose="020B0503020204020204" charset="-122"/>
                <a:ea typeface="微软雅黑" panose="020B0503020204020204" charset="-122"/>
              </a:endParaRPr>
            </a:p>
          </p:txBody>
        </p:sp>
      </p:gr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p:cTn id="23" dur="500" fill="hold"/>
                                        <p:tgtEl>
                                          <p:spTgt spid="68"/>
                                        </p:tgtEl>
                                        <p:attrNameLst>
                                          <p:attrName>ppt_w</p:attrName>
                                        </p:attrNameLst>
                                      </p:cBhvr>
                                      <p:tavLst>
                                        <p:tav tm="0">
                                          <p:val>
                                            <p:fltVal val="0"/>
                                          </p:val>
                                        </p:tav>
                                        <p:tav tm="100000">
                                          <p:val>
                                            <p:strVal val="#ppt_w"/>
                                          </p:val>
                                        </p:tav>
                                      </p:tavLst>
                                    </p:anim>
                                    <p:anim calcmode="lin" valueType="num">
                                      <p:cBhvr>
                                        <p:cTn id="24" dur="500" fill="hold"/>
                                        <p:tgtEl>
                                          <p:spTgt spid="68"/>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67"/>
                                        </p:tgtEl>
                                        <p:attrNameLst>
                                          <p:attrName>style.visibility</p:attrName>
                                        </p:attrNameLst>
                                      </p:cBhvr>
                                      <p:to>
                                        <p:strVal val="visible"/>
                                      </p:to>
                                    </p:set>
                                    <p:anim calcmode="lin" valueType="num">
                                      <p:cBhvr>
                                        <p:cTn id="29" dur="500" fill="hold"/>
                                        <p:tgtEl>
                                          <p:spTgt spid="67"/>
                                        </p:tgtEl>
                                        <p:attrNameLst>
                                          <p:attrName>ppt_w</p:attrName>
                                        </p:attrNameLst>
                                      </p:cBhvr>
                                      <p:tavLst>
                                        <p:tav tm="0">
                                          <p:val>
                                            <p:fltVal val="0"/>
                                          </p:val>
                                        </p:tav>
                                        <p:tav tm="100000">
                                          <p:val>
                                            <p:strVal val="#ppt_w"/>
                                          </p:val>
                                        </p:tav>
                                      </p:tavLst>
                                    </p:anim>
                                    <p:anim calcmode="lin" valueType="num">
                                      <p:cBhvr>
                                        <p:cTn id="30" dur="500" fill="hold"/>
                                        <p:tgtEl>
                                          <p:spTgt spid="67"/>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系统顺序图</a:t>
            </a:r>
            <a:endParaRPr lang="zh-CN" altLang="en-US" smtClean="0"/>
          </a:p>
        </p:txBody>
      </p:sp>
      <p:sp>
        <p:nvSpPr>
          <p:cNvPr id="26627" name="内容占位符 2"/>
          <p:cNvSpPr>
            <a:spLocks noGrp="1"/>
          </p:cNvSpPr>
          <p:nvPr>
            <p:ph idx="1"/>
          </p:nvPr>
        </p:nvSpPr>
        <p:spPr>
          <a:xfrm>
            <a:off x="335280" y="861695"/>
            <a:ext cx="11058525" cy="4980940"/>
          </a:xfrm>
        </p:spPr>
        <p:txBody>
          <a:bodyPr/>
          <a:lstStyle/>
          <a:p>
            <a:r>
              <a:rPr lang="zh-CN" altLang="en-US" sz="2000" dirty="0"/>
              <a:t>在用例描述的基础上需要进一步确定角色与系统之间的交互信息，并以可编程的方式将其命名</a:t>
            </a:r>
            <a:endParaRPr lang="en-US" altLang="zh-CN" sz="2000" dirty="0"/>
          </a:p>
          <a:p>
            <a:r>
              <a:rPr lang="zh-CN" altLang="en-US" sz="2000" dirty="0"/>
              <a:t>系统顺序图中“一般”只需要三个</a:t>
            </a:r>
            <a:r>
              <a:rPr lang="en-US" altLang="zh-CN" sz="2000" dirty="0"/>
              <a:t>UML</a:t>
            </a:r>
            <a:r>
              <a:rPr lang="zh-CN" altLang="en-US" sz="2000" dirty="0"/>
              <a:t>的符号元素</a:t>
            </a:r>
            <a:endParaRPr lang="en-US" altLang="zh-CN" sz="2000" dirty="0"/>
          </a:p>
          <a:p>
            <a:pPr lvl="1"/>
            <a:r>
              <a:rPr lang="zh-CN" altLang="en-US" dirty="0"/>
              <a:t>角色</a:t>
            </a:r>
            <a:endParaRPr lang="en-US" altLang="zh-CN" dirty="0"/>
          </a:p>
          <a:p>
            <a:pPr lvl="1"/>
            <a:r>
              <a:rPr lang="zh-CN" altLang="en-US" dirty="0"/>
              <a:t>代表软件系统的对象，一般使用</a:t>
            </a:r>
            <a:r>
              <a:rPr lang="en-US" altLang="zh-CN" dirty="0"/>
              <a:t>system</a:t>
            </a:r>
            <a:r>
              <a:rPr lang="zh-CN" altLang="en-US" dirty="0"/>
              <a:t>或者系统命名</a:t>
            </a:r>
            <a:endParaRPr lang="en-US" altLang="zh-CN" dirty="0"/>
          </a:p>
          <a:p>
            <a:pPr lvl="1"/>
            <a:r>
              <a:rPr lang="zh-CN" altLang="en-US" dirty="0"/>
              <a:t>角色与</a:t>
            </a:r>
            <a:r>
              <a:rPr lang="en-US" altLang="zh-CN" dirty="0"/>
              <a:t>system</a:t>
            </a:r>
            <a:r>
              <a:rPr lang="zh-CN" altLang="en-US" dirty="0"/>
              <a:t>之间的交互信息，简称消息或操作</a:t>
            </a:r>
            <a:endParaRPr lang="zh-CN" altLang="en-US" dirty="0"/>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32220" y="3068955"/>
            <a:ext cx="5140960" cy="305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smtClean="0"/>
              <a:t>操作契约</a:t>
            </a:r>
            <a:endParaRPr lang="zh-CN" altLang="en-US" dirty="0" smtClean="0"/>
          </a:p>
        </p:txBody>
      </p:sp>
      <p:sp>
        <p:nvSpPr>
          <p:cNvPr id="91140" name="Rectangle 3"/>
          <p:cNvSpPr>
            <a:spLocks noGrp="1" noChangeArrowheads="1"/>
          </p:cNvSpPr>
          <p:nvPr>
            <p:ph type="body" sz="half" idx="4294967295"/>
          </p:nvPr>
        </p:nvSpPr>
        <p:spPr>
          <a:xfrm>
            <a:off x="982980" y="890905"/>
            <a:ext cx="10273030" cy="1875155"/>
          </a:xfrm>
        </p:spPr>
        <p:txBody>
          <a:bodyPr/>
          <a:lstStyle/>
          <a:p>
            <a:pPr marL="365125" indent="-365125"/>
            <a:r>
              <a:rPr lang="zh-CN" altLang="en-US" sz="2400" dirty="0">
                <a:solidFill>
                  <a:schemeClr val="bg1"/>
                </a:solidFill>
                <a:latin typeface="微软雅黑" panose="020B0503020204020204" charset="-122"/>
                <a:ea typeface="微软雅黑" panose="020B0503020204020204" charset="-122"/>
              </a:rPr>
              <a:t>如何基于用例图（用例说明）和系统顺序图开展</a:t>
            </a:r>
            <a:r>
              <a:rPr lang="zh-CN" altLang="en-US" sz="2400" dirty="0">
                <a:solidFill>
                  <a:schemeClr val="bg1"/>
                </a:solidFill>
                <a:latin typeface="微软雅黑" panose="020B0503020204020204" charset="-122"/>
                <a:ea typeface="微软雅黑" panose="020B0503020204020204" charset="-122"/>
              </a:rPr>
              <a:t>设计？</a:t>
            </a:r>
            <a:endParaRPr lang="zh-CN" altLang="en-US" sz="2400" dirty="0">
              <a:solidFill>
                <a:schemeClr val="bg1"/>
              </a:solidFill>
              <a:latin typeface="微软雅黑" panose="020B0503020204020204" charset="-122"/>
              <a:ea typeface="微软雅黑" panose="020B0503020204020204" charset="-122"/>
            </a:endParaRPr>
          </a:p>
        </p:txBody>
      </p:sp>
      <p:pic>
        <p:nvPicPr>
          <p:cNvPr id="2253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985" y="2248535"/>
            <a:ext cx="5497195" cy="305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795" y="2248535"/>
            <a:ext cx="5140960" cy="305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smtClean="0"/>
              <a:t>操作契约</a:t>
            </a:r>
            <a:endParaRPr lang="zh-CN" altLang="en-US" dirty="0" smtClean="0"/>
          </a:p>
        </p:txBody>
      </p:sp>
      <p:graphicFrame>
        <p:nvGraphicFramePr>
          <p:cNvPr id="17469" name="Group 61"/>
          <p:cNvGraphicFramePr>
            <a:graphicFrameLocks noGrp="1"/>
          </p:cNvGraphicFramePr>
          <p:nvPr>
            <p:ph idx="1"/>
          </p:nvPr>
        </p:nvGraphicFramePr>
        <p:xfrm>
          <a:off x="982980" y="2709545"/>
          <a:ext cx="10272395" cy="2526665"/>
        </p:xfrm>
        <a:graphic>
          <a:graphicData uri="http://schemas.openxmlformats.org/drawingml/2006/table">
            <a:tbl>
              <a:tblPr/>
              <a:tblGrid>
                <a:gridCol w="1821815"/>
                <a:gridCol w="8450580"/>
              </a:tblGrid>
              <a:tr h="39624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操作：</a:t>
                      </a:r>
                      <a:endPar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操作以及参数的名称</a:t>
                      </a:r>
                      <a:endPar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624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交叉引用：</a:t>
                      </a:r>
                      <a:endPar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（可选择）可能发生此操作的用例</a:t>
                      </a:r>
                      <a:endPar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2354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前置条件：</a:t>
                      </a:r>
                      <a:endPar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执行该操作之前系统或领域模型对象的状态</a:t>
                      </a:r>
                      <a:endPar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31064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rPr>
                        <a:t>后置条件：</a:t>
                      </a:r>
                      <a:endParaRPr kumimoji="0" lang="zh-CN" altLang="en-US" sz="2000" b="0" i="0" u="none" strike="noStrike" cap="none" normalizeH="0" baseline="0" smtClean="0">
                        <a:ln>
                          <a:noFill/>
                        </a:ln>
                        <a:solidFill>
                          <a:schemeClr val="bg1"/>
                        </a:solidFill>
                        <a:effectLst/>
                        <a:latin typeface="微软雅黑" panose="020B0503020204020204" charset="-122"/>
                        <a:ea typeface="微软雅黑" panose="020B0503020204020204"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微软雅黑" panose="020B0503020204020204" charset="-122"/>
                        </a:rPr>
                        <a:t>操作完成后领域模型中对象的状态：</a:t>
                      </a:r>
                      <a:endParaRPr kumimoji="0" lang="en-US" altLang="zh-CN" sz="2000" b="0" i="0" u="none" strike="noStrike" cap="none" normalizeH="0" baseline="0" dirty="0" smtClean="0">
                        <a:ln>
                          <a:noFill/>
                        </a:ln>
                        <a:solidFill>
                          <a:schemeClr val="bg1"/>
                        </a:solidFill>
                        <a:effectLst/>
                        <a:latin typeface="微软雅黑" panose="020B0503020204020204" charset="-122"/>
                        <a:ea typeface="微软雅黑" panose="020B0503020204020204" charset="-122"/>
                        <a:cs typeface="微软雅黑" panose="020B0503020204020204" charset="-122"/>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  1</a:t>
                      </a:r>
                      <a:r>
                        <a:rPr kumimoji="0" lang="zh-CN" altLang="en-US"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、对象的创建和删除；</a:t>
                      </a:r>
                      <a:endParaRPr kumimoji="0" lang="en-US" altLang="zh-CN"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  2</a:t>
                      </a:r>
                      <a:r>
                        <a:rPr kumimoji="0" lang="zh-CN" altLang="en-US"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、对象之间“关联”的建立或消除；</a:t>
                      </a:r>
                      <a:endParaRPr kumimoji="0" lang="en-US" altLang="zh-CN"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  3</a:t>
                      </a:r>
                      <a:r>
                        <a:rPr kumimoji="0" lang="zh-CN" altLang="en-US"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rPr>
                        <a:t>、对象属性值的修改；</a:t>
                      </a:r>
                      <a:endParaRPr kumimoji="0" lang="zh-CN" altLang="en-US" sz="2000" b="0" i="0" u="none" strike="noStrike" cap="none" normalizeH="0" baseline="0" dirty="0" smtClean="0">
                        <a:ln>
                          <a:noFill/>
                        </a:ln>
                        <a:solidFill>
                          <a:srgbClr val="FFFF00"/>
                        </a:solidFill>
                        <a:effectLst/>
                        <a:latin typeface="微软雅黑" panose="020B0503020204020204" charset="-122"/>
                        <a:ea typeface="微软雅黑" panose="020B0503020204020204" charset="-122"/>
                        <a:cs typeface="微软雅黑" panose="020B0503020204020204" charset="-122"/>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91140" name="Rectangle 3"/>
          <p:cNvSpPr>
            <a:spLocks noGrp="1" noChangeArrowheads="1"/>
          </p:cNvSpPr>
          <p:nvPr>
            <p:ph type="body" sz="half" idx="4294967295"/>
          </p:nvPr>
        </p:nvSpPr>
        <p:spPr>
          <a:xfrm>
            <a:off x="982980" y="890905"/>
            <a:ext cx="10273030" cy="1875155"/>
          </a:xfrm>
        </p:spPr>
        <p:txBody>
          <a:bodyPr/>
          <a:lstStyle/>
          <a:p>
            <a:pPr marL="365125" indent="-365125"/>
            <a:r>
              <a:rPr lang="zh-CN" altLang="en-US" sz="2400" dirty="0">
                <a:solidFill>
                  <a:schemeClr val="bg1"/>
                </a:solidFill>
                <a:latin typeface="微软雅黑" panose="020B0503020204020204" charset="-122"/>
                <a:ea typeface="微软雅黑" panose="020B0503020204020204" charset="-122"/>
              </a:rPr>
              <a:t>系统操作：处理系统事件的</a:t>
            </a:r>
            <a:r>
              <a:rPr lang="zh-CN" altLang="en-US" sz="2400" dirty="0" smtClean="0">
                <a:solidFill>
                  <a:schemeClr val="bg1"/>
                </a:solidFill>
                <a:latin typeface="微软雅黑" panose="020B0503020204020204" charset="-122"/>
                <a:ea typeface="微软雅黑" panose="020B0503020204020204" charset="-122"/>
              </a:rPr>
              <a:t>操作，也称为系统事件；</a:t>
            </a:r>
            <a:endParaRPr lang="zh-CN" altLang="en-US" sz="2400" dirty="0">
              <a:solidFill>
                <a:schemeClr val="bg1"/>
              </a:solidFill>
              <a:latin typeface="微软雅黑" panose="020B0503020204020204" charset="-122"/>
              <a:ea typeface="微软雅黑" panose="020B0503020204020204" charset="-122"/>
            </a:endParaRPr>
          </a:p>
          <a:p>
            <a:pPr marL="365125" indent="-365125">
              <a:lnSpc>
                <a:spcPct val="100000"/>
              </a:lnSpc>
            </a:pPr>
            <a:r>
              <a:rPr lang="zh-CN" altLang="en-US" sz="2400" dirty="0">
                <a:solidFill>
                  <a:schemeClr val="bg1"/>
                </a:solidFill>
                <a:latin typeface="微软雅黑" panose="020B0503020204020204" charset="-122"/>
                <a:ea typeface="微软雅黑" panose="020B0503020204020204" charset="-122"/>
              </a:rPr>
              <a:t>操作契约是为系统操作而定义的</a:t>
            </a:r>
            <a:r>
              <a:rPr lang="zh-CN" altLang="en-US" sz="2400" dirty="0" smtClean="0">
                <a:solidFill>
                  <a:schemeClr val="bg1"/>
                </a:solidFill>
                <a:latin typeface="微软雅黑" panose="020B0503020204020204" charset="-122"/>
                <a:ea typeface="微软雅黑" panose="020B0503020204020204" charset="-122"/>
              </a:rPr>
              <a:t>，参考领域模型中业务对象接收到相同的系统事件后，执行必须的业务处理时各业务对象的状态以及系统</a:t>
            </a:r>
            <a:r>
              <a:rPr lang="zh-CN" altLang="en-US" sz="2400" dirty="0">
                <a:solidFill>
                  <a:schemeClr val="bg1"/>
                </a:solidFill>
                <a:latin typeface="微软雅黑" panose="020B0503020204020204" charset="-122"/>
                <a:ea typeface="微软雅黑" panose="020B0503020204020204" charset="-122"/>
              </a:rPr>
              <a:t>操作执行的结果</a:t>
            </a:r>
            <a:r>
              <a:rPr lang="zh-CN" altLang="en-US" sz="2400" dirty="0" smtClean="0">
                <a:solidFill>
                  <a:schemeClr val="bg1"/>
                </a:solidFill>
                <a:latin typeface="微软雅黑" panose="020B0503020204020204" charset="-122"/>
                <a:ea typeface="微软雅黑" panose="020B0503020204020204" charset="-122"/>
              </a:rPr>
              <a:t>，以便软件设计时进行参考。模板</a:t>
            </a:r>
            <a:r>
              <a:rPr lang="zh-CN" altLang="en-US" sz="2400" dirty="0">
                <a:solidFill>
                  <a:schemeClr val="bg1"/>
                </a:solidFill>
                <a:latin typeface="微软雅黑" panose="020B0503020204020204" charset="-122"/>
                <a:ea typeface="微软雅黑" panose="020B0503020204020204" charset="-122"/>
              </a:rPr>
              <a:t>如下表所示：</a:t>
            </a:r>
            <a:endParaRPr lang="zh-CN" altLang="en-US" sz="2400" dirty="0">
              <a:solidFill>
                <a:schemeClr val="bg1"/>
              </a:solidFill>
              <a:latin typeface="微软雅黑" panose="020B0503020204020204" charset="-122"/>
              <a:ea typeface="微软雅黑" panose="020B0503020204020204" charset="-122"/>
            </a:endParaRPr>
          </a:p>
        </p:txBody>
      </p:sp>
      <p:sp>
        <p:nvSpPr>
          <p:cNvPr id="9" name="矩形 8"/>
          <p:cNvSpPr/>
          <p:nvPr/>
        </p:nvSpPr>
        <p:spPr>
          <a:xfrm>
            <a:off x="982980" y="5323205"/>
            <a:ext cx="10272395" cy="1070610"/>
          </a:xfrm>
          <a:prstGeom prst="rect">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lnSpc>
                <a:spcPct val="100000"/>
              </a:lnSpc>
            </a:pPr>
            <a:r>
              <a:rPr lang="zh-CN" altLang="en-US" sz="2400" dirty="0">
                <a:solidFill>
                  <a:schemeClr val="bg1"/>
                </a:solidFill>
                <a:latin typeface="微软雅黑" panose="020B0503020204020204" charset="-122"/>
                <a:ea typeface="微软雅黑" panose="020B0503020204020204" charset="-122"/>
                <a:sym typeface="+mn-ea"/>
              </a:rPr>
              <a:t>后置条件的陈述应该是声明性的，以</a:t>
            </a:r>
            <a:r>
              <a:rPr lang="zh-CN" altLang="en-US" sz="2400" b="1" dirty="0">
                <a:solidFill>
                  <a:schemeClr val="bg1"/>
                </a:solidFill>
                <a:latin typeface="微软雅黑" panose="020B0503020204020204" charset="-122"/>
                <a:ea typeface="微软雅黑" panose="020B0503020204020204" charset="-122"/>
                <a:sym typeface="+mn-ea"/>
              </a:rPr>
              <a:t>强调系统状态所发生的变化</a:t>
            </a:r>
            <a:r>
              <a:rPr lang="zh-CN" altLang="en-US" sz="2400" dirty="0">
                <a:solidFill>
                  <a:schemeClr val="bg1"/>
                </a:solidFill>
                <a:latin typeface="微软雅黑" panose="020B0503020204020204" charset="-122"/>
                <a:ea typeface="微软雅黑" panose="020B0503020204020204" charset="-122"/>
                <a:sym typeface="+mn-ea"/>
              </a:rPr>
              <a:t>，</a:t>
            </a:r>
            <a:br>
              <a:rPr lang="zh-CN" altLang="en-US" sz="2400" dirty="0">
                <a:solidFill>
                  <a:schemeClr val="bg1"/>
                </a:solidFill>
                <a:latin typeface="微软雅黑" panose="020B0503020204020204" charset="-122"/>
                <a:ea typeface="微软雅黑" panose="020B0503020204020204" charset="-122"/>
                <a:sym typeface="+mn-ea"/>
              </a:rPr>
            </a:br>
            <a:r>
              <a:rPr lang="zh-CN" altLang="en-US" sz="2400" dirty="0">
                <a:solidFill>
                  <a:schemeClr val="bg1"/>
                </a:solidFill>
                <a:latin typeface="微软雅黑" panose="020B0503020204020204" charset="-122"/>
                <a:ea typeface="微软雅黑" panose="020B0503020204020204" charset="-122"/>
                <a:sym typeface="+mn-ea"/>
              </a:rPr>
              <a:t>而</a:t>
            </a:r>
            <a:r>
              <a:rPr lang="zh-CN" altLang="en-US" sz="2400" b="1" dirty="0">
                <a:solidFill>
                  <a:schemeClr val="bg1"/>
                </a:solidFill>
                <a:latin typeface="微软雅黑" panose="020B0503020204020204" charset="-122"/>
                <a:ea typeface="微软雅黑" panose="020B0503020204020204" charset="-122"/>
                <a:sym typeface="+mn-ea"/>
              </a:rPr>
              <a:t>非强调这种变化是如何设计实现</a:t>
            </a:r>
            <a:r>
              <a:rPr lang="zh-CN" altLang="en-US" sz="2400" dirty="0">
                <a:solidFill>
                  <a:schemeClr val="bg1"/>
                </a:solidFill>
                <a:latin typeface="微软雅黑" panose="020B0503020204020204" charset="-122"/>
                <a:ea typeface="微软雅黑" panose="020B0503020204020204" charset="-122"/>
                <a:sym typeface="+mn-ea"/>
              </a:rPr>
              <a:t>的</a:t>
            </a:r>
            <a:endParaRPr lang="zh-CN" altLang="en-US" sz="2000" b="1" smtClea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push/>
  </p:transition>
  <p:timing>
    <p:tnLst>
      <p:par>
        <p:cTn id="1" dur="indefinite" restart="never" nodeType="tmRoot"/>
      </p:par>
    </p:tnLst>
    <p:bldLst>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r>
              <a:rPr lang="zh-CN" altLang="en-US"/>
              <a:t>操作</a:t>
            </a:r>
            <a:r>
              <a:rPr lang="zh-CN" altLang="en-US"/>
              <a:t>契约</a:t>
            </a:r>
            <a:endParaRPr lang="zh-CN" altLang="en-US"/>
          </a:p>
        </p:txBody>
      </p:sp>
      <p:sp>
        <p:nvSpPr>
          <p:cNvPr id="96259" name="内容占位符 2"/>
          <p:cNvSpPr>
            <a:spLocks noGrp="1"/>
          </p:cNvSpPr>
          <p:nvPr>
            <p:ph idx="1"/>
          </p:nvPr>
        </p:nvSpPr>
        <p:spPr/>
        <p:txBody>
          <a:bodyPr/>
          <a:lstStyle/>
          <a:p>
            <a:r>
              <a:rPr lang="zh-CN" altLang="zh-CN" sz="2400" dirty="0"/>
              <a:t>开始一次点菜服务，说明要创建一个新的订单。</a:t>
            </a:r>
            <a:endParaRPr lang="zh-CN" altLang="zh-CN" sz="2400" dirty="0"/>
          </a:p>
          <a:p>
            <a:pPr lvl="1"/>
            <a:r>
              <a:rPr lang="zh-CN" altLang="zh-CN" sz="2000" dirty="0"/>
              <a:t>根据领域模型，该订单必须与台面相关联；</a:t>
            </a:r>
            <a:endParaRPr lang="zh-CN" altLang="zh-CN" sz="2000" dirty="0"/>
          </a:p>
          <a:p>
            <a:pPr lvl="1"/>
            <a:r>
              <a:rPr lang="zh-CN" altLang="zh-CN" sz="2000" dirty="0"/>
              <a:t>还必须与管理该台面的服务员相关联；</a:t>
            </a:r>
            <a:endParaRPr lang="zh-CN" altLang="zh-CN" sz="2000" dirty="0"/>
          </a:p>
          <a:p>
            <a:pPr lvl="1"/>
            <a:r>
              <a:rPr lang="zh-CN" altLang="zh-CN" sz="2000" dirty="0"/>
              <a:t>除此之外，该订单流水号、订单创建时间必须被动态创建；</a:t>
            </a:r>
            <a:endParaRPr lang="zh-CN" altLang="zh-CN" sz="2000" dirty="0"/>
          </a:p>
          <a:p>
            <a:pPr lvl="1"/>
            <a:r>
              <a:rPr lang="zh-CN" altLang="zh-CN" sz="2000" dirty="0"/>
              <a:t>为了能够记录多项菜品信息，还必须初始化一个“集合”项来添加多个菜品；</a:t>
            </a:r>
            <a:endParaRPr lang="zh-CN" altLang="zh-CN" sz="2000" dirty="0"/>
          </a:p>
          <a:p>
            <a:endParaRPr lang="zh-CN" altLang="en-US" dirty="0" smtClean="0"/>
          </a:p>
        </p:txBody>
      </p:sp>
      <p:graphicFrame>
        <p:nvGraphicFramePr>
          <p:cNvPr id="5" name="表格 4"/>
          <p:cNvGraphicFramePr>
            <a:graphicFrameLocks noGrp="1"/>
          </p:cNvGraphicFramePr>
          <p:nvPr/>
        </p:nvGraphicFramePr>
        <p:xfrm>
          <a:off x="1271464" y="3573016"/>
          <a:ext cx="8496944" cy="2448271"/>
        </p:xfrm>
        <a:graphic>
          <a:graphicData uri="http://schemas.openxmlformats.org/drawingml/2006/table">
            <a:tbl>
              <a:tblPr firstRow="1" firstCol="1" lastRow="1" lastCol="1" bandRow="1" bandCol="1">
                <a:tableStyleId>{5C22544A-7EE6-4342-B048-85BDC9FD1C3A}</a:tableStyleId>
              </a:tblPr>
              <a:tblGrid>
                <a:gridCol w="2081863"/>
                <a:gridCol w="6415081"/>
              </a:tblGrid>
              <a:tr h="379984">
                <a:tc>
                  <a:txBody>
                    <a:bodyPr/>
                    <a:lstStyle/>
                    <a:p>
                      <a:pPr algn="just">
                        <a:spcAft>
                          <a:spcPts val="0"/>
                        </a:spcAft>
                      </a:pPr>
                      <a:r>
                        <a:rPr lang="zh-CN" sz="1600" kern="100" dirty="0">
                          <a:solidFill>
                            <a:schemeClr val="bg1"/>
                          </a:solidFill>
                          <a:effectLst/>
                          <a:latin typeface="微软雅黑" panose="020B0503020204020204" charset="-122"/>
                          <a:ea typeface="微软雅黑" panose="020B0503020204020204" charset="-122"/>
                        </a:rPr>
                        <a:t>系统事件</a:t>
                      </a:r>
                      <a:endParaRPr lang="zh-CN" sz="1600" kern="100" dirty="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en-US" sz="1600" kern="100">
                          <a:solidFill>
                            <a:schemeClr val="bg1"/>
                          </a:solidFill>
                          <a:effectLst/>
                          <a:latin typeface="微软雅黑" panose="020B0503020204020204" charset="-122"/>
                          <a:ea typeface="微软雅黑" panose="020B0503020204020204" charset="-122"/>
                        </a:rPr>
                        <a:t>MakeNewOrder</a:t>
                      </a:r>
                      <a:r>
                        <a:rPr lang="zh-CN" sz="1600" kern="100">
                          <a:solidFill>
                            <a:schemeClr val="bg1"/>
                          </a:solidFill>
                          <a:effectLst/>
                          <a:latin typeface="微软雅黑" panose="020B0503020204020204" charset="-122"/>
                          <a:ea typeface="微软雅黑" panose="020B0503020204020204" charset="-122"/>
                        </a:rPr>
                        <a:t>（</a:t>
                      </a:r>
                      <a:r>
                        <a:rPr lang="en-US" sz="1600" kern="100">
                          <a:solidFill>
                            <a:schemeClr val="bg1"/>
                          </a:solidFill>
                          <a:effectLst/>
                          <a:latin typeface="微软雅黑" panose="020B0503020204020204" charset="-122"/>
                          <a:ea typeface="微软雅黑" panose="020B0503020204020204" charset="-122"/>
                        </a:rPr>
                        <a:t>TableId</a:t>
                      </a:r>
                      <a:r>
                        <a:rPr lang="zh-CN" sz="1600" kern="100">
                          <a:solidFill>
                            <a:schemeClr val="bg1"/>
                          </a:solidFill>
                          <a:effectLst/>
                          <a:latin typeface="微软雅黑" panose="020B0503020204020204" charset="-122"/>
                          <a:ea typeface="微软雅黑" panose="020B0503020204020204" charset="-122"/>
                        </a:rPr>
                        <a:t>）</a:t>
                      </a:r>
                      <a:endParaRPr lang="zh-CN" sz="1600" kern="10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a:solidFill>
                            <a:schemeClr val="bg1"/>
                          </a:solidFill>
                          <a:effectLst/>
                          <a:latin typeface="微软雅黑" panose="020B0503020204020204" charset="-122"/>
                          <a:ea typeface="微软雅黑" panose="020B0503020204020204" charset="-122"/>
                        </a:rPr>
                        <a:t>交叉引用</a:t>
                      </a:r>
                      <a:endParaRPr lang="zh-CN" sz="1600" kern="10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a:solidFill>
                            <a:schemeClr val="bg1"/>
                          </a:solidFill>
                          <a:effectLst/>
                          <a:latin typeface="微软雅黑" panose="020B0503020204020204" charset="-122"/>
                          <a:ea typeface="微软雅黑" panose="020B0503020204020204" charset="-122"/>
                        </a:rPr>
                        <a:t>订单处理</a:t>
                      </a:r>
                      <a:endParaRPr lang="zh-CN" sz="1600" kern="10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dirty="0">
                          <a:solidFill>
                            <a:schemeClr val="bg1"/>
                          </a:solidFill>
                          <a:effectLst/>
                          <a:latin typeface="微软雅黑" panose="020B0503020204020204" charset="-122"/>
                          <a:ea typeface="微软雅黑" panose="020B0503020204020204" charset="-122"/>
                        </a:rPr>
                        <a:t>前置条件</a:t>
                      </a:r>
                      <a:endParaRPr lang="zh-CN" sz="1600" kern="100" dirty="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dirty="0">
                          <a:solidFill>
                            <a:schemeClr val="bg1"/>
                          </a:solidFill>
                          <a:effectLst/>
                          <a:latin typeface="微软雅黑" panose="020B0503020204020204" charset="-122"/>
                          <a:ea typeface="微软雅黑" panose="020B0503020204020204" charset="-122"/>
                        </a:rPr>
                        <a:t>服务员身份验证通过，开始订单处理</a:t>
                      </a:r>
                      <a:endParaRPr lang="zh-CN" sz="1600" kern="100" dirty="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308319">
                <a:tc>
                  <a:txBody>
                    <a:bodyPr/>
                    <a:lstStyle/>
                    <a:p>
                      <a:pPr algn="just">
                        <a:spcAft>
                          <a:spcPts val="0"/>
                        </a:spcAft>
                      </a:pPr>
                      <a:r>
                        <a:rPr lang="zh-CN" sz="1600" kern="100" dirty="0">
                          <a:solidFill>
                            <a:schemeClr val="bg1"/>
                          </a:solidFill>
                          <a:effectLst/>
                          <a:latin typeface="微软雅黑" panose="020B0503020204020204" charset="-122"/>
                          <a:ea typeface="微软雅黑" panose="020B0503020204020204" charset="-122"/>
                        </a:rPr>
                        <a:t>后置条件</a:t>
                      </a:r>
                      <a:endParaRPr lang="zh-CN" sz="1600" kern="100" dirty="0">
                        <a:solidFill>
                          <a:schemeClr val="bg1"/>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charset="-122"/>
                          <a:ea typeface="微软雅黑" panose="020B0503020204020204" charset="-122"/>
                        </a:rPr>
                        <a:t>一个新的（概念类）订单被创建；</a:t>
                      </a:r>
                      <a:endParaRPr lang="zh-CN" sz="1600" kern="100" dirty="0">
                        <a:solidFill>
                          <a:srgbClr val="FFFF00"/>
                        </a:solidFill>
                        <a:effectLst/>
                        <a:latin typeface="微软雅黑" panose="020B0503020204020204" charset="-122"/>
                        <a:ea typeface="微软雅黑" panose="020B050302020402020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charset="-122"/>
                          <a:ea typeface="微软雅黑" panose="020B0503020204020204" charset="-122"/>
                        </a:rPr>
                        <a:t>订单与（概念类）台面建立关联；</a:t>
                      </a:r>
                      <a:endParaRPr lang="zh-CN" sz="1600" kern="100" dirty="0">
                        <a:solidFill>
                          <a:srgbClr val="FFFF00"/>
                        </a:solidFill>
                        <a:effectLst/>
                        <a:latin typeface="微软雅黑" panose="020B0503020204020204" charset="-122"/>
                        <a:ea typeface="微软雅黑" panose="020B050302020402020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charset="-122"/>
                          <a:ea typeface="微软雅黑" panose="020B0503020204020204" charset="-122"/>
                        </a:rPr>
                        <a:t>订单与（概念类）台面服务员建立关联；</a:t>
                      </a:r>
                      <a:endParaRPr lang="zh-CN" sz="1600" kern="100" dirty="0">
                        <a:solidFill>
                          <a:srgbClr val="FFFF00"/>
                        </a:solidFill>
                        <a:effectLst/>
                        <a:latin typeface="微软雅黑" panose="020B0503020204020204" charset="-122"/>
                        <a:ea typeface="微软雅黑" panose="020B050302020402020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charset="-122"/>
                          <a:ea typeface="微软雅黑" panose="020B0503020204020204" charset="-122"/>
                        </a:rPr>
                        <a:t>订单的属性初始化：订单流水号、订单时间、存储菜品的数组</a:t>
                      </a:r>
                      <a:r>
                        <a:rPr lang="zh-CN" sz="1600" kern="100" dirty="0" smtClean="0">
                          <a:solidFill>
                            <a:srgbClr val="FFFF00"/>
                          </a:solidFill>
                          <a:effectLst/>
                          <a:latin typeface="微软雅黑" panose="020B0503020204020204" charset="-122"/>
                          <a:ea typeface="微软雅黑" panose="020B0503020204020204" charset="-122"/>
                        </a:rPr>
                        <a:t>等</a:t>
                      </a:r>
                      <a:endParaRPr lang="zh-CN" sz="1600" kern="100" dirty="0">
                        <a:solidFill>
                          <a:srgbClr val="FFFF00"/>
                        </a:solidFill>
                        <a:effectLst/>
                        <a:latin typeface="微软雅黑" panose="020B0503020204020204" charset="-122"/>
                        <a:ea typeface="微软雅黑" panose="020B050302020402020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67995" y="258445"/>
            <a:ext cx="10695305" cy="637540"/>
          </a:xfrm>
        </p:spPr>
        <p:txBody>
          <a:bodyPr/>
          <a:lstStyle/>
          <a:p>
            <a:r>
              <a:rPr lang="zh-CN" altLang="en-US" sz="2800" dirty="0">
                <a:solidFill>
                  <a:schemeClr val="tx1"/>
                </a:solidFill>
                <a:effectLst/>
              </a:rPr>
              <a:t>面向对象的需求分析建模</a:t>
            </a:r>
            <a:endParaRPr lang="zh-CN" altLang="en-US" sz="2800" dirty="0" smtClean="0">
              <a:solidFill>
                <a:schemeClr val="tx1"/>
              </a:solidFill>
              <a:effectLst/>
            </a:endParaRPr>
          </a:p>
        </p:txBody>
      </p:sp>
      <p:sp>
        <p:nvSpPr>
          <p:cNvPr id="16387" name="内容占位符 2"/>
          <p:cNvSpPr>
            <a:spLocks noGrp="1"/>
          </p:cNvSpPr>
          <p:nvPr>
            <p:ph idx="1"/>
          </p:nvPr>
        </p:nvSpPr>
        <p:spPr>
          <a:xfrm>
            <a:off x="468000" y="972735"/>
            <a:ext cx="11160000" cy="4980840"/>
          </a:xfrm>
        </p:spPr>
        <p:txBody>
          <a:bodyPr/>
          <a:lstStyle/>
          <a:p>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面向对象分析方法中的需求分析包含两个</a:t>
            </a:r>
            <a:r>
              <a:rPr lang="zh-CN" altLang="en-US" sz="2400" dirty="0" smtClean="0">
                <a:solidFill>
                  <a:schemeClr val="tx1"/>
                </a:solidFill>
                <a:latin typeface="微软雅黑" panose="020B0503020204020204" charset="-122"/>
                <a:ea typeface="微软雅黑" panose="020B0503020204020204" charset="-122"/>
                <a:cs typeface="微软雅黑" panose="020B0503020204020204" charset="-122"/>
              </a:rPr>
              <a:t>模型：领域</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模型和用例模型。</a:t>
            </a:r>
            <a:endParaRPr lang="en-US" altLang="zh-CN" sz="2400" dirty="0">
              <a:solidFill>
                <a:schemeClr val="tx1"/>
              </a:solidFill>
              <a:latin typeface="微软雅黑" panose="020B0503020204020204" charset="-122"/>
              <a:ea typeface="微软雅黑" panose="020B0503020204020204" charset="-122"/>
              <a:cs typeface="微软雅黑" panose="020B0503020204020204" charset="-122"/>
            </a:endParaRPr>
          </a:p>
          <a:p>
            <a:pPr lvl="1"/>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领域模型表示了需求分析阶段“当前系统”逻辑模型的静态结构及业务</a:t>
            </a:r>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流程；</a:t>
            </a:r>
            <a:endParaRPr lang="en-US" altLang="zh-CN" sz="2000" dirty="0" smtClean="0">
              <a:solidFill>
                <a:schemeClr val="tx1"/>
              </a:solidFill>
              <a:latin typeface="微软雅黑" panose="020B0503020204020204" charset="-122"/>
              <a:ea typeface="微软雅黑" panose="020B0503020204020204" charset="-122"/>
              <a:cs typeface="微软雅黑" panose="020B0503020204020204" charset="-122"/>
            </a:endParaRPr>
          </a:p>
          <a:p>
            <a:pPr lvl="1"/>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用例</a:t>
            </a:r>
            <a:r>
              <a:rPr lang="zh-CN" altLang="en-US" sz="2000" dirty="0">
                <a:solidFill>
                  <a:schemeClr val="tx1"/>
                </a:solidFill>
                <a:latin typeface="微软雅黑" panose="020B0503020204020204" charset="-122"/>
                <a:ea typeface="微软雅黑" panose="020B0503020204020204" charset="-122"/>
                <a:cs typeface="微软雅黑" panose="020B0503020204020204" charset="-122"/>
              </a:rPr>
              <a:t>模型是“目标系统”的逻辑模型，定义了“目标系统”做什么的需求</a:t>
            </a:r>
            <a:r>
              <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000" dirty="0" smtClean="0">
              <a:solidFill>
                <a:schemeClr val="tx1"/>
              </a:solidFill>
              <a:latin typeface="微软雅黑" panose="020B0503020204020204" charset="-122"/>
              <a:ea typeface="微软雅黑" panose="020B0503020204020204" charset="-122"/>
              <a:cs typeface="微软雅黑" panose="020B0503020204020204" charset="-122"/>
            </a:endParaRPr>
          </a:p>
          <a:p>
            <a:pPr lvl="1"/>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p:txBody>
      </p:sp>
      <p:graphicFrame>
        <p:nvGraphicFramePr>
          <p:cNvPr id="16389" name="对象 4"/>
          <p:cNvGraphicFramePr>
            <a:graphicFrameLocks noChangeAspect="1"/>
          </p:cNvGraphicFramePr>
          <p:nvPr/>
        </p:nvGraphicFramePr>
        <p:xfrm>
          <a:off x="1489710" y="2952115"/>
          <a:ext cx="9250045" cy="3001645"/>
        </p:xfrm>
        <a:graphic>
          <a:graphicData uri="http://schemas.openxmlformats.org/presentationml/2006/ole">
            <mc:AlternateContent xmlns:mc="http://schemas.openxmlformats.org/markup-compatibility/2006">
              <mc:Choice xmlns:v="urn:schemas-microsoft-com:vml" Requires="v">
                <p:oleObj spid="_x0000_s91181" name="Visio" r:id="rId1" imgW="4813935" imgH="1569085" progId="Visio.Drawing.11">
                  <p:embed/>
                </p:oleObj>
              </mc:Choice>
              <mc:Fallback>
                <p:oleObj name="Visio" r:id="rId1" imgW="4813935" imgH="1569085" progId="Visio.Drawing.11">
                  <p:embed/>
                  <p:pic>
                    <p:nvPicPr>
                      <p:cNvPr id="0" name="图片 91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710" y="2952115"/>
                        <a:ext cx="9250045" cy="3001645"/>
                      </a:xfrm>
                      <a:prstGeom prst="rect">
                        <a:avLst/>
                      </a:prstGeom>
                      <a:noFill/>
                      <a:ln>
                        <a:noFill/>
                      </a:ln>
                    </p:spPr>
                  </p:pic>
                </p:oleObj>
              </mc:Fallback>
            </mc:AlternateContent>
          </a:graphicData>
        </a:graphic>
      </p:graphicFrame>
      <p:sp>
        <p:nvSpPr>
          <p:cNvPr id="3" name="Rectangle 3"/>
          <p:cNvSpPr>
            <a:spLocks noGrp="1" noChangeArrowheads="1"/>
          </p:cNvSpPr>
          <p:nvPr/>
        </p:nvSpPr>
        <p:spPr>
          <a:xfrm>
            <a:off x="2745740" y="3958590"/>
            <a:ext cx="979170" cy="1047750"/>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altLang="zh-CN" sz="1800" b="1" dirty="0">
                <a:solidFill>
                  <a:schemeClr val="bg1"/>
                </a:solidFill>
              </a:rPr>
              <a:t>1</a:t>
            </a:r>
            <a:r>
              <a:rPr lang="zh-CN" altLang="en-US" sz="1800" b="1" dirty="0">
                <a:solidFill>
                  <a:schemeClr val="bg1"/>
                </a:solidFill>
              </a:rPr>
              <a:t>）</a:t>
            </a:r>
            <a:br>
              <a:rPr lang="zh-CN" altLang="en-US" sz="1800" b="1" dirty="0">
                <a:solidFill>
                  <a:schemeClr val="bg1"/>
                </a:solidFill>
              </a:rPr>
            </a:br>
            <a:r>
              <a:rPr lang="zh-CN" altLang="en-US" sz="1800" b="1" dirty="0">
                <a:solidFill>
                  <a:schemeClr val="bg1"/>
                </a:solidFill>
              </a:rPr>
              <a:t>业务</a:t>
            </a:r>
            <a:br>
              <a:rPr lang="zh-CN" altLang="en-US" sz="1800" b="1" dirty="0">
                <a:solidFill>
                  <a:schemeClr val="bg1"/>
                </a:solidFill>
              </a:rPr>
            </a:br>
            <a:r>
              <a:rPr lang="zh-CN" altLang="en-US" sz="1800" b="1" dirty="0">
                <a:solidFill>
                  <a:schemeClr val="bg1"/>
                </a:solidFill>
              </a:rPr>
              <a:t>概述</a:t>
            </a:r>
            <a:endParaRPr lang="zh-CN" altLang="en-US" sz="1800" b="1" dirty="0">
              <a:solidFill>
                <a:schemeClr val="bg1"/>
              </a:solidFill>
            </a:endParaRPr>
          </a:p>
        </p:txBody>
      </p:sp>
      <p:sp>
        <p:nvSpPr>
          <p:cNvPr id="5" name="Rectangle 3"/>
          <p:cNvSpPr>
            <a:spLocks noGrp="1" noChangeArrowheads="1"/>
          </p:cNvSpPr>
          <p:nvPr/>
        </p:nvSpPr>
        <p:spPr>
          <a:xfrm>
            <a:off x="4559935" y="3227070"/>
            <a:ext cx="2496820" cy="2684780"/>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altLang="zh-CN" sz="1800" b="1" dirty="0">
                <a:solidFill>
                  <a:schemeClr val="bg1"/>
                </a:solidFill>
              </a:rPr>
              <a:t>2</a:t>
            </a:r>
            <a:r>
              <a:rPr lang="zh-CN" altLang="en-US" sz="1800" b="1" dirty="0">
                <a:solidFill>
                  <a:schemeClr val="bg1"/>
                </a:solidFill>
              </a:rPr>
              <a:t>）领域模型</a:t>
            </a:r>
            <a:endParaRPr lang="zh-CN" altLang="en-US" sz="1800" b="1" dirty="0">
              <a:solidFill>
                <a:schemeClr val="bg1"/>
              </a:solidFill>
            </a:endParaRPr>
          </a:p>
          <a:p>
            <a:pPr marL="0" indent="0" algn="ctr">
              <a:buNone/>
            </a:pPr>
            <a:r>
              <a:rPr lang="zh-CN" altLang="en-US" sz="1800" b="1" dirty="0">
                <a:sym typeface="+mn-ea"/>
              </a:rPr>
              <a:t>业务对象</a:t>
            </a:r>
            <a:br>
              <a:rPr lang="zh-CN" altLang="en-US" sz="1800" b="1" dirty="0">
                <a:sym typeface="+mn-ea"/>
              </a:rPr>
            </a:br>
            <a:r>
              <a:rPr lang="zh-CN" altLang="en-US" sz="1800" b="1" dirty="0">
                <a:sym typeface="+mn-ea"/>
              </a:rPr>
              <a:t>业务流程</a:t>
            </a:r>
            <a:endParaRPr lang="zh-CN" altLang="en-US" sz="1800" b="1" dirty="0">
              <a:solidFill>
                <a:schemeClr val="bg1"/>
              </a:solidFill>
            </a:endParaRPr>
          </a:p>
        </p:txBody>
      </p:sp>
      <p:sp>
        <p:nvSpPr>
          <p:cNvPr id="6" name="Rectangle 3"/>
          <p:cNvSpPr>
            <a:spLocks noGrp="1" noChangeArrowheads="1"/>
          </p:cNvSpPr>
          <p:nvPr/>
        </p:nvSpPr>
        <p:spPr>
          <a:xfrm>
            <a:off x="7405370" y="3227070"/>
            <a:ext cx="3333750" cy="2685415"/>
          </a:xfrm>
          <a:prstGeom prst="rect">
            <a:avLst/>
          </a:prstGeom>
          <a:solidFill>
            <a:schemeClr val="accent1">
              <a:lumMod val="75000"/>
            </a:schemeClr>
          </a:solidFill>
        </p:spPr>
        <p:txBody>
          <a:bodyPr vert="horz" lIns="91440" tIns="45720" rIns="91440" bIns="45720" rtlCol="0" anchor="ctr" anchorCtr="0">
            <a:no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charset="-122"/>
                <a:ea typeface="微软雅黑" panose="020B050302020402020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charset="-122"/>
                <a:ea typeface="微软雅黑" panose="020B050302020402020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charset="-122"/>
                <a:ea typeface="微软雅黑" panose="020B050302020402020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altLang="zh-CN" sz="1800" b="1" dirty="0">
                <a:solidFill>
                  <a:schemeClr val="bg1"/>
                </a:solidFill>
              </a:rPr>
              <a:t>3</a:t>
            </a:r>
            <a:r>
              <a:rPr lang="zh-CN" altLang="en-US" sz="1800" b="1" dirty="0">
                <a:solidFill>
                  <a:schemeClr val="bg1"/>
                </a:solidFill>
              </a:rPr>
              <a:t>）</a:t>
            </a:r>
            <a:r>
              <a:rPr lang="zh-CN" altLang="en-US" sz="1800" b="1" dirty="0">
                <a:solidFill>
                  <a:schemeClr val="bg1"/>
                </a:solidFill>
              </a:rPr>
              <a:t>用例模型</a:t>
            </a:r>
            <a:endParaRPr lang="zh-CN" altLang="en-US" sz="1800" b="1" dirty="0">
              <a:solidFill>
                <a:schemeClr val="bg1"/>
              </a:solidFill>
            </a:endParaRPr>
          </a:p>
          <a:p>
            <a:pPr marL="0" indent="0" algn="ctr">
              <a:buNone/>
            </a:pPr>
            <a:r>
              <a:rPr lang="zh-CN" altLang="en-US" sz="1800" b="1" dirty="0">
                <a:sym typeface="+mn-ea"/>
              </a:rPr>
              <a:t>用例图（用例说明）</a:t>
            </a:r>
            <a:br>
              <a:rPr lang="zh-CN" altLang="en-US" sz="1800" b="1" dirty="0">
                <a:sym typeface="+mn-ea"/>
              </a:rPr>
            </a:br>
            <a:r>
              <a:rPr lang="zh-CN" altLang="en-US" sz="1800" b="1" dirty="0">
                <a:sym typeface="+mn-ea"/>
              </a:rPr>
              <a:t>顺序图</a:t>
            </a:r>
            <a:br>
              <a:rPr lang="zh-CN" altLang="en-US" sz="1800" b="1" dirty="0">
                <a:sym typeface="+mn-ea"/>
              </a:rPr>
            </a:br>
            <a:r>
              <a:rPr lang="zh-CN" altLang="en-US" sz="1800" b="1" dirty="0">
                <a:sym typeface="+mn-ea"/>
              </a:rPr>
              <a:t>操作契约</a:t>
            </a:r>
            <a:endParaRPr lang="en-US" altLang="zh-CN" sz="1800" b="1" dirty="0">
              <a:solidFill>
                <a:schemeClr val="bg1"/>
              </a:solidFill>
              <a:sym typeface="+mn-ea"/>
            </a:endParaRPr>
          </a:p>
        </p:txBody>
      </p:sp>
    </p:spTree>
  </p:cSld>
  <p:clrMapOvr>
    <a:masterClrMapping/>
  </p:clrMapOvr>
  <p:transition>
    <p:push/>
  </p:transition>
  <p:timing>
    <p:tnLst>
      <p:par>
        <p:cTn id="1" dur="indefinite" restart="never" nodeType="tmRoot"/>
      </p:par>
    </p:tnLst>
    <p:bldLst>
      <p:bldP spid="3" grpId="1" animBg="1"/>
      <p:bldP spid="5" grpId="1" animBg="1"/>
      <p:bldP spid="6"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Autofit/>
          </a:bodyPr>
          <a:p>
            <a:r>
              <a:rPr lang="en-US" altLang="zh-CN" sz="2800">
                <a:effectLst/>
                <a:latin typeface="微软雅黑" panose="020B0503020204020204" charset="-122"/>
                <a:ea typeface="微软雅黑" panose="020B0503020204020204" charset="-122"/>
                <a:cs typeface="微软雅黑" panose="020B0503020204020204" charset="-122"/>
              </a:rPr>
              <a:t>2026</a:t>
            </a:r>
            <a:r>
              <a:rPr lang="zh-CN" altLang="en-US" sz="2800">
                <a:effectLst/>
                <a:latin typeface="微软雅黑" panose="020B0503020204020204" charset="-122"/>
                <a:ea typeface="微软雅黑" panose="020B0503020204020204" charset="-122"/>
                <a:cs typeface="微软雅黑" panose="020B0503020204020204" charset="-122"/>
              </a:rPr>
              <a:t>软件工程</a:t>
            </a:r>
            <a:r>
              <a:rPr lang="en-US" altLang="zh-CN" sz="2800">
                <a:effectLst/>
                <a:latin typeface="微软雅黑" panose="020B0503020204020204" charset="-122"/>
                <a:ea typeface="微软雅黑" panose="020B0503020204020204" charset="-122"/>
                <a:cs typeface="微软雅黑" panose="020B0503020204020204" charset="-122"/>
              </a:rPr>
              <a:t>-</a:t>
            </a:r>
            <a:r>
              <a:rPr lang="zh-CN" altLang="en-US" sz="2800">
                <a:effectLst/>
                <a:latin typeface="微软雅黑" panose="020B0503020204020204" charset="-122"/>
                <a:ea typeface="微软雅黑" panose="020B0503020204020204" charset="-122"/>
                <a:cs typeface="微软雅黑" panose="020B0503020204020204" charset="-122"/>
              </a:rPr>
              <a:t>春</a:t>
            </a:r>
            <a:r>
              <a:rPr lang="en-US" altLang="zh-CN" sz="2800">
                <a:effectLst/>
                <a:latin typeface="微软雅黑" panose="020B0503020204020204" charset="-122"/>
                <a:ea typeface="微软雅黑" panose="020B0503020204020204" charset="-122"/>
                <a:cs typeface="微软雅黑" panose="020B0503020204020204" charset="-122"/>
              </a:rPr>
              <a:t>-</a:t>
            </a:r>
            <a:r>
              <a:rPr lang="zh-CN" altLang="en-US" sz="2800">
                <a:effectLst/>
                <a:latin typeface="微软雅黑" panose="020B0503020204020204" charset="-122"/>
                <a:ea typeface="微软雅黑" panose="020B0503020204020204" charset="-122"/>
                <a:cs typeface="微软雅黑" panose="020B0503020204020204" charset="-122"/>
              </a:rPr>
              <a:t>第</a:t>
            </a:r>
            <a:r>
              <a:rPr lang="en-US" altLang="zh-CN" sz="2800">
                <a:effectLst/>
                <a:latin typeface="微软雅黑" panose="020B0503020204020204" charset="-122"/>
                <a:ea typeface="微软雅黑" panose="020B0503020204020204" charset="-122"/>
                <a:cs typeface="微软雅黑" panose="020B0503020204020204" charset="-122"/>
              </a:rPr>
              <a:t>1</a:t>
            </a:r>
            <a:r>
              <a:rPr lang="zh-CN" altLang="en-US" sz="2800">
                <a:effectLst/>
                <a:latin typeface="微软雅黑" panose="020B0503020204020204" charset="-122"/>
                <a:ea typeface="微软雅黑" panose="020B0503020204020204" charset="-122"/>
                <a:cs typeface="微软雅黑" panose="020B0503020204020204" charset="-122"/>
              </a:rPr>
              <a:t>次作业模板</a:t>
            </a:r>
            <a:r>
              <a:rPr lang="en-US" altLang="zh-CN" sz="2800">
                <a:effectLst/>
                <a:latin typeface="微软雅黑" panose="020B0503020204020204" charset="-122"/>
                <a:ea typeface="微软雅黑" panose="020B0503020204020204" charset="-122"/>
                <a:cs typeface="微软雅黑" panose="020B0503020204020204" charset="-122"/>
              </a:rPr>
              <a:t>-</a:t>
            </a:r>
            <a:r>
              <a:rPr lang="zh-CN" altLang="en-US" sz="2800">
                <a:effectLst/>
                <a:latin typeface="微软雅黑" panose="020B0503020204020204" charset="-122"/>
                <a:ea typeface="微软雅黑" panose="020B0503020204020204" charset="-122"/>
                <a:cs typeface="微软雅黑" panose="020B0503020204020204" charset="-122"/>
              </a:rPr>
              <a:t>徐鹏</a:t>
            </a:r>
            <a:r>
              <a:rPr lang="en-US" altLang="zh-CN" sz="2800">
                <a:effectLst/>
                <a:latin typeface="微软雅黑" panose="020B0503020204020204" charset="-122"/>
                <a:ea typeface="微软雅黑" panose="020B0503020204020204" charset="-122"/>
                <a:cs typeface="微软雅黑" panose="020B0503020204020204" charset="-122"/>
              </a:rPr>
              <a:t>.docx</a:t>
            </a:r>
            <a:endParaRPr lang="en-US" altLang="zh-CN" sz="2800">
              <a:effectLst/>
              <a:latin typeface="微软雅黑" panose="020B0503020204020204" charset="-122"/>
              <a:ea typeface="微软雅黑" panose="020B0503020204020204" charset="-122"/>
              <a:cs typeface="微软雅黑" panose="020B0503020204020204" charset="-122"/>
            </a:endParaRPr>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2.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3.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4.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5.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6.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7.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8.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9.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0.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1.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2.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3.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4.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5.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6.xml><?xml version="1.0" encoding="utf-8"?>
<p:tagLst xmlns:p="http://schemas.openxmlformats.org/presentationml/2006/main">
  <p:tag name="KSO_WM_DIAGRAM_VIRTUALLY_FRAME" val="{&quot;height&quot;:294.78913385826775,&quot;left&quot;:109.09543307086615,&quot;top&quot;:192.47023622047243,&quot;width&quot;:734.2500787401575}"/>
</p:tagLst>
</file>

<file path=ppt/tags/tag17.xml><?xml version="1.0" encoding="utf-8"?>
<p:tagLst xmlns:p="http://schemas.openxmlformats.org/presentationml/2006/main">
  <p:tag name="TABLE_ENDDRAG_ORIGIN_RECT" val="379*327"/>
  <p:tag name="TABLE_ENDDRAG_RECT" val="540*134*379*327"/>
</p:tagLst>
</file>

<file path=ppt/tags/tag18.xml><?xml version="1.0" encoding="utf-8"?>
<p:tagLst xmlns:p="http://schemas.openxmlformats.org/presentationml/2006/main">
  <p:tag name="TABLE_ENDDRAG_ORIGIN_RECT" val="173*197"/>
  <p:tag name="TABLE_ENDDRAG_RECT" val="752*79*173*197"/>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5225</Words>
  <Application>WPS 演示</Application>
  <PresentationFormat>宽屏</PresentationFormat>
  <Paragraphs>466</Paragraphs>
  <Slides>28</Slides>
  <Notes>0</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4</vt:i4>
      </vt:variant>
      <vt:variant>
        <vt:lpstr>幻灯片标题</vt:lpstr>
      </vt:variant>
      <vt:variant>
        <vt:i4>28</vt:i4>
      </vt:variant>
    </vt:vector>
  </HeadingPairs>
  <TitlesOfParts>
    <vt:vector size="50" baseType="lpstr">
      <vt:lpstr>Arial</vt:lpstr>
      <vt:lpstr>宋体</vt:lpstr>
      <vt:lpstr>Wingdings</vt:lpstr>
      <vt:lpstr>微软雅黑</vt:lpstr>
      <vt:lpstr>MV Boli</vt:lpstr>
      <vt:lpstr>Segoe UI</vt:lpstr>
      <vt:lpstr>Impact</vt:lpstr>
      <vt:lpstr>Times New Roman</vt:lpstr>
      <vt:lpstr>黑体</vt:lpstr>
      <vt:lpstr>华文中宋</vt:lpstr>
      <vt:lpstr>华文细黑</vt:lpstr>
      <vt:lpstr>Arial Black</vt:lpstr>
      <vt:lpstr>Arial Unicode MS</vt:lpstr>
      <vt:lpstr>Calibri Light</vt:lpstr>
      <vt:lpstr>Calibri</vt:lpstr>
      <vt:lpstr>WPS​​</vt:lpstr>
      <vt:lpstr>2015SE</vt:lpstr>
      <vt:lpstr>1_2015SE</vt:lpstr>
      <vt:lpstr>Visio.Drawing.11</vt:lpstr>
      <vt:lpstr>Visio.Drawing.11</vt:lpstr>
      <vt:lpstr>Visio.Drawing.11</vt:lpstr>
      <vt:lpstr>Visio.Drawing.11</vt:lpstr>
      <vt:lpstr>如何开展 面向对象需求分析</vt:lpstr>
      <vt:lpstr>需求分析之前的活动</vt:lpstr>
      <vt:lpstr>需求工程</vt:lpstr>
      <vt:lpstr>需求的定义</vt:lpstr>
      <vt:lpstr>面向对象的需求分析建模</vt:lpstr>
      <vt:lpstr>业务需求描述</vt:lpstr>
      <vt:lpstr>课程大作业基本说明</vt:lpstr>
      <vt:lpstr>课程作业-注意事项（1）</vt:lpstr>
      <vt:lpstr>课程作业-注意事项（2）</vt:lpstr>
      <vt:lpstr>课程作业-补充需求</vt:lpstr>
      <vt:lpstr>课程作业-空调服务的理解</vt:lpstr>
      <vt:lpstr>课程作业-调度策略</vt:lpstr>
      <vt:lpstr>课程作业-调度策略</vt:lpstr>
      <vt:lpstr>领域模型</vt:lpstr>
      <vt:lpstr>领域模型</vt:lpstr>
      <vt:lpstr>创建领域模型的步骤</vt:lpstr>
      <vt:lpstr>领域模型（业务对象）</vt:lpstr>
      <vt:lpstr>用例模型</vt:lpstr>
      <vt:lpstr>用例模型</vt:lpstr>
      <vt:lpstr>用例模型</vt:lpstr>
      <vt:lpstr>用例图</vt:lpstr>
      <vt:lpstr>用例图</vt:lpstr>
      <vt:lpstr>系统顺序图</vt:lpstr>
      <vt:lpstr>操作契约</vt:lpstr>
      <vt:lpstr>操作契约</vt:lpstr>
      <vt:lpstr>操作契约（）</vt:lpstr>
      <vt:lpstr>面向对象的需求分析建模</vt:lpstr>
      <vt:lpstr>2026软件工程-春-第1次作业模板-徐鹏.docx</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xupen</dc:creator>
  <cp:lastModifiedBy>徐鹏</cp:lastModifiedBy>
  <cp:revision>20</cp:revision>
  <dcterms:created xsi:type="dcterms:W3CDTF">2023-07-11T07:43:00Z</dcterms:created>
  <dcterms:modified xsi:type="dcterms:W3CDTF">2026-04-16T07:30:27Z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3B6D4A33445E409A97EA010CAA51A745_11</vt:lpwstr>
  </property>
</Properties>
</file>