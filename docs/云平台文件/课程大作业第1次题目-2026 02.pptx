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3"/>
  </p:sldMasterIdLst>
  <p:notesMasterIdLst>
    <p:notesMasterId r:id="rId5"/>
  </p:notesMasterIdLst>
  <p:handoutMasterIdLst>
    <p:handoutMasterId r:id="rId10"/>
  </p:handoutMasterIdLst>
  <p:sldIdLst>
    <p:sldId id="342" r:id="rId4"/>
    <p:sldId id="346" r:id="rId6"/>
    <p:sldId id="369" r:id="rId7"/>
    <p:sldId id="370" r:id="rId8"/>
    <p:sldId id="371" r:id="rId9"/>
  </p:sldIdLst>
  <p:sldSz cx="12192000" cy="6858000"/>
  <p:notesSz cx="6858000" cy="9144000"/>
  <p:custDataLst>
    <p:tags r:id="rId14"/>
  </p:custDataLst>
  <p:defaultTextStyle>
    <a:defPPr>
      <a:defRPr lang="zh-CN"/>
    </a:defPPr>
    <a:lvl1pPr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1pPr>
    <a:lvl2pPr marL="4572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2pPr>
    <a:lvl3pPr marL="9144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3pPr>
    <a:lvl4pPr marL="13716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4pPr>
    <a:lvl5pPr marL="18288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9pPr>
  </p:defaultTextStyle>
  <p:extLst>
    <p:ext uri="{EFAFB233-063F-42B5-8137-9DF3F51BA10A}">
      <p15:sldGuideLst xmlns:p15="http://schemas.microsoft.com/office/powerpoint/2012/main">
        <p15:guide id="1" orient="horz" pos="2231" userDrawn="1">
          <p15:clr>
            <a:srgbClr val="A4A3A4"/>
          </p15:clr>
        </p15:guide>
        <p15:guide id="2" pos="38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32575"/>
    <a:srgbClr val="34599B"/>
    <a:srgbClr val="C3C4BE"/>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20" autoAdjust="0"/>
    <p:restoredTop sz="94235" autoAdjust="0"/>
  </p:normalViewPr>
  <p:slideViewPr>
    <p:cSldViewPr showGuides="1">
      <p:cViewPr varScale="1">
        <p:scale>
          <a:sx n="73" d="100"/>
          <a:sy n="73" d="100"/>
        </p:scale>
        <p:origin x="294" y="60"/>
      </p:cViewPr>
      <p:guideLst>
        <p:guide orient="horz" pos="2231"/>
        <p:guide pos="3813"/>
      </p:guideLst>
    </p:cSldViewPr>
  </p:slideViewPr>
  <p:notesTextViewPr>
    <p:cViewPr>
      <p:scale>
        <a:sx n="100" d="100"/>
        <a:sy n="100" d="100"/>
      </p:scale>
      <p:origin x="0" y="0"/>
    </p:cViewPr>
  </p:notesTextViewPr>
  <p:notesViewPr>
    <p:cSldViewPr>
      <p:cViewPr varScale="1">
        <p:scale>
          <a:sx n="55" d="100"/>
          <a:sy n="55" d="100"/>
        </p:scale>
        <p:origin x="-1404" y="-90"/>
      </p:cViewPr>
      <p:guideLst>
        <p:guide orient="horz" pos="2975"/>
        <p:guide pos="2144"/>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4" Type="http://schemas.openxmlformats.org/officeDocument/2006/relationships/tags" Target="tags/tag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handoutMaster" Target="handoutMasters/handout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lnSpc>
                <a:spcPct val="100000"/>
              </a:lnSpc>
              <a:defRPr sz="1200">
                <a:ea typeface="宋体" panose="02010600030101010101" pitchFamily="2" charset="-122"/>
              </a:defRPr>
            </a:lvl1pPr>
          </a:lstStyle>
          <a:p>
            <a:fld id="{53F6B452-40E6-4E37-9A81-108D144B6CD4}"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584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7782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84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3584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584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lnSpc>
                <a:spcPct val="100000"/>
              </a:lnSpc>
              <a:defRPr sz="1200">
                <a:ea typeface="宋体" panose="02010600030101010101" pitchFamily="2" charset="-122"/>
              </a:defRPr>
            </a:lvl1pPr>
          </a:lstStyle>
          <a:p>
            <a:fld id="{BD5801C1-3443-4A2B-806F-C236F1D06393}"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44400" y="93600"/>
            <a:ext cx="10335600" cy="645258"/>
          </a:xfrm>
        </p:spPr>
        <p:txBody>
          <a:bodyPr>
            <a:normAutofit/>
          </a:bodyPr>
          <a:lstStyle>
            <a:lvl1pPr algn="r">
              <a:defRPr sz="3200" b="1" baseline="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79376" y="1196123"/>
            <a:ext cx="11161239" cy="4980840"/>
          </a:xfrm>
        </p:spPr>
        <p:txBody>
          <a:bodyPr/>
          <a:lstStyle>
            <a:lvl1pPr marL="230505" indent="-230505">
              <a:lnSpc>
                <a:spcPct val="100000"/>
              </a:lnSpc>
              <a:spcBef>
                <a:spcPts val="1000"/>
              </a:spcBef>
              <a:spcAft>
                <a:spcPts val="600"/>
              </a:spcAft>
              <a:defRPr sz="2800" baseline="0">
                <a:solidFill>
                  <a:schemeClr val="bg1"/>
                </a:solidFill>
                <a:latin typeface="微软雅黑" panose="020B0503020204020204" pitchFamily="34" charset="-122"/>
                <a:ea typeface="微软雅黑" panose="020B0503020204020204" pitchFamily="34" charset="-122"/>
              </a:defRPr>
            </a:lvl1pPr>
            <a:lvl2pPr marL="687705" indent="-230505">
              <a:lnSpc>
                <a:spcPct val="100000"/>
              </a:lnSpc>
              <a:spcBef>
                <a:spcPts val="500"/>
              </a:spcBef>
              <a:spcAft>
                <a:spcPts val="600"/>
              </a:spcAft>
              <a:defRPr sz="2400" baseline="0">
                <a:solidFill>
                  <a:schemeClr val="bg1"/>
                </a:solidFill>
                <a:latin typeface="微软雅黑" panose="020B0503020204020204" pitchFamily="34" charset="-122"/>
                <a:ea typeface="微软雅黑" panose="020B0503020204020204" pitchFamily="34" charset="-122"/>
              </a:defRPr>
            </a:lvl2pPr>
            <a:lvl3pPr marL="1144905" indent="-230505">
              <a:lnSpc>
                <a:spcPct val="100000"/>
              </a:lnSpc>
              <a:spcBef>
                <a:spcPts val="500"/>
              </a:spcBef>
              <a:spcAft>
                <a:spcPts val="600"/>
              </a:spcAft>
              <a:defRPr sz="2000" baseline="0">
                <a:solidFill>
                  <a:schemeClr val="bg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7" name="文本框 6"/>
          <p:cNvSpPr txBox="1"/>
          <p:nvPr/>
        </p:nvSpPr>
        <p:spPr>
          <a:xfrm>
            <a:off x="0" y="102554"/>
            <a:ext cx="1271464" cy="646331"/>
          </a:xfrm>
          <a:prstGeom prst="rect">
            <a:avLst/>
          </a:prstGeom>
          <a:noFill/>
        </p:spPr>
        <p:txBody>
          <a:bodyPr wrap="square" rtlCol="0">
            <a:spAutoFit/>
          </a:bodyPr>
          <a:lstStyle/>
          <a:p>
            <a:pPr algn="l"/>
            <a:r>
              <a:rPr lang="en-US" altLang="zh-CN" sz="2400" dirty="0" smtClean="0">
                <a:solidFill>
                  <a:schemeClr val="bg1"/>
                </a:solidFill>
                <a:latin typeface="MV Boli" panose="02000500030200090000" pitchFamily="2" charset="0"/>
                <a:ea typeface="Segoe UI" panose="020B0502040204020203" pitchFamily="34" charset="0"/>
                <a:cs typeface="MV Boli" panose="02000500030200090000" pitchFamily="2" charset="0"/>
              </a:rPr>
              <a:t>BUPT</a:t>
            </a:r>
            <a:r>
              <a:rPr lang="en-US" altLang="zh-CN" sz="2400" dirty="0" smtClean="0">
                <a:solidFill>
                  <a:schemeClr val="bg1"/>
                </a:solidFill>
                <a:latin typeface="Impact" panose="020B0806030902050204" pitchFamily="34" charset="0"/>
                <a:ea typeface="Segoe UI" panose="020B0502040204020203" pitchFamily="34" charset="0"/>
                <a:cs typeface="Segoe UI" panose="020B0502040204020203" pitchFamily="34" charset="0"/>
              </a:rPr>
              <a:t> </a:t>
            </a:r>
            <a:r>
              <a:rPr lang="en-US" altLang="zh-CN" sz="2400" dirty="0">
                <a:solidFill>
                  <a:schemeClr val="bg1"/>
                </a:solidFill>
                <a:latin typeface="MV Boli" panose="02000500030200090000" pitchFamily="2" charset="0"/>
                <a:ea typeface="Segoe UI" panose="020B0502040204020203" pitchFamily="34" charset="0"/>
                <a:cs typeface="MV Boli" panose="02000500030200090000" pitchFamily="2" charset="0"/>
              </a:rPr>
              <a:t>TSEG</a:t>
            </a:r>
            <a:endParaRPr lang="zh-CN" altLang="en-US" sz="2400" dirty="0">
              <a:solidFill>
                <a:schemeClr val="bg1"/>
              </a:solidFill>
              <a:latin typeface="MV Boli" panose="02000500030200090000" pitchFamily="2" charset="0"/>
              <a:ea typeface="Segoe UI" panose="020B0502040204020203" pitchFamily="34" charset="0"/>
              <a:cs typeface="MV Boli" panose="02000500030200090000" pitchFamily="2" charset="0"/>
            </a:endParaRPr>
          </a:p>
        </p:txBody>
      </p:sp>
    </p:spTree>
  </p:cSld>
  <p:clrMapOvr>
    <a:masterClrMapping/>
  </p:clrMapOvr>
  <p:transition>
    <p:push/>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9"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1"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timing>
    <p:tnLst>
      <p:par>
        <p:cTn id="1" dur="indefinite" restart="never" nodeType="tmRoot"/>
      </p:par>
    </p:tnLst>
  </p:timing>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43609" y="92869"/>
            <a:ext cx="10334625" cy="645258"/>
          </a:xfrm>
        </p:spPr>
        <p:txBody>
          <a:bodyPr>
            <a:normAutofit/>
          </a:bodyPr>
          <a:lstStyle>
            <a:lvl1pPr algn="r">
              <a:defRPr sz="3200" b="1" baseline="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1019174" y="1196123"/>
            <a:ext cx="10334626" cy="4980840"/>
          </a:xfrm>
        </p:spPr>
        <p:txBody>
          <a:bodyPr/>
          <a:lstStyle>
            <a:lvl1pPr>
              <a:lnSpc>
                <a:spcPct val="100000"/>
              </a:lnSpc>
              <a:spcAft>
                <a:spcPts val="600"/>
              </a:spcAft>
              <a:defRPr baseline="0">
                <a:solidFill>
                  <a:schemeClr val="bg1"/>
                </a:solidFill>
                <a:latin typeface="微软雅黑" panose="020B0503020204020204" pitchFamily="34" charset="-122"/>
                <a:ea typeface="微软雅黑" panose="020B0503020204020204" pitchFamily="34" charset="-122"/>
              </a:defRPr>
            </a:lvl1pPr>
            <a:lvl2pPr>
              <a:lnSpc>
                <a:spcPct val="100000"/>
              </a:lnSpc>
              <a:spcAft>
                <a:spcPts val="600"/>
              </a:spcAft>
              <a:defRPr baseline="0">
                <a:solidFill>
                  <a:schemeClr val="bg1"/>
                </a:solidFill>
                <a:latin typeface="微软雅黑" panose="020B0503020204020204" pitchFamily="34" charset="-122"/>
                <a:ea typeface="微软雅黑" panose="020B0503020204020204" pitchFamily="34" charset="-122"/>
              </a:defRPr>
            </a:lvl2pPr>
            <a:lvl3pPr>
              <a:lnSpc>
                <a:spcPct val="100000"/>
              </a:lnSpc>
              <a:spcAft>
                <a:spcPts val="600"/>
              </a:spcAft>
              <a:defRPr baseline="0">
                <a:solidFill>
                  <a:schemeClr val="bg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7" name="文本框 6"/>
          <p:cNvSpPr txBox="1"/>
          <p:nvPr userDrawn="1"/>
        </p:nvSpPr>
        <p:spPr>
          <a:xfrm>
            <a:off x="0" y="0"/>
            <a:ext cx="1019175" cy="830997"/>
          </a:xfrm>
          <a:prstGeom prst="rect">
            <a:avLst/>
          </a:prstGeom>
          <a:noFill/>
        </p:spPr>
        <p:txBody>
          <a:bodyPr wrap="square" rtlCol="0">
            <a:spAutoFit/>
          </a:bodyPr>
          <a:lstStyle/>
          <a:p>
            <a:pPr algn="l" eaLnBrk="1" fontAlgn="auto" hangingPunct="1">
              <a:lnSpc>
                <a:spcPct val="100000"/>
              </a:lnSpc>
              <a:spcBef>
                <a:spcPts val="0"/>
              </a:spcBef>
              <a:spcAft>
                <a:spcPts val="0"/>
              </a:spcAft>
            </a:pPr>
            <a:r>
              <a:rPr lang="en-US" altLang="zh-CN" dirty="0" smtClean="0">
                <a:solidFill>
                  <a:prstClr val="white"/>
                </a:solidFill>
                <a:latin typeface="MV Boli" panose="02000500030200090000" pitchFamily="2" charset="0"/>
                <a:ea typeface="Segoe UI" panose="020B0502040204020203" pitchFamily="34" charset="0"/>
                <a:cs typeface="MV Boli" panose="02000500030200090000" pitchFamily="2" charset="0"/>
              </a:rPr>
              <a:t>BUPT</a:t>
            </a:r>
            <a:r>
              <a:rPr lang="en-US" altLang="zh-CN" dirty="0" smtClean="0">
                <a:solidFill>
                  <a:prstClr val="white"/>
                </a:solidFill>
                <a:latin typeface="Impact" panose="020B0806030902050204" pitchFamily="34" charset="0"/>
                <a:ea typeface="Segoe UI" panose="020B0502040204020203" pitchFamily="34" charset="0"/>
                <a:cs typeface="Segoe UI" panose="020B0502040204020203" pitchFamily="34" charset="0"/>
              </a:rPr>
              <a:t> </a:t>
            </a:r>
            <a:r>
              <a:rPr lang="en-US" altLang="zh-CN" dirty="0">
                <a:solidFill>
                  <a:prstClr val="white"/>
                </a:solidFill>
                <a:latin typeface="MV Boli" panose="02000500030200090000" pitchFamily="2" charset="0"/>
                <a:ea typeface="Segoe UI" panose="020B0502040204020203" pitchFamily="34" charset="0"/>
                <a:cs typeface="MV Boli" panose="02000500030200090000" pitchFamily="2" charset="0"/>
              </a:rPr>
              <a:t>TSEG</a:t>
            </a:r>
            <a:endParaRPr lang="zh-CN" altLang="en-US" dirty="0">
              <a:solidFill>
                <a:prstClr val="white"/>
              </a:solidFill>
              <a:latin typeface="MV Boli" panose="02000500030200090000" pitchFamily="2" charset="0"/>
              <a:ea typeface="Segoe UI" panose="020B0502040204020203" pitchFamily="34" charset="0"/>
              <a:cs typeface="MV Boli" panose="02000500030200090000" pitchFamily="2" charset="0"/>
            </a:endParaRPr>
          </a:p>
        </p:txBody>
      </p:sp>
    </p:spTree>
  </p:cSld>
  <p:clrMapOvr>
    <a:masterClrMapping/>
  </p:clrMapOvr>
  <p:transition>
    <p:push/>
  </p:transition>
  <p:timing>
    <p:tnLst>
      <p:par>
        <p:cTn id="1" dur="indefinite" restart="never" nodeType="tmRoot"/>
      </p:par>
    </p:tnLst>
  </p:timing>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transition>
    <p:push/>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3706" y="130496"/>
            <a:ext cx="1408988" cy="1077218"/>
          </a:xfrm>
          <a:prstGeom prst="rect">
            <a:avLst/>
          </a:prstGeom>
          <a:noFill/>
        </p:spPr>
        <p:txBody>
          <a:bodyPr wrap="square" rtlCol="0">
            <a:spAutoFit/>
          </a:bodyPr>
          <a:lstStyle/>
          <a:p>
            <a:pPr algn="l" eaLnBrk="1" fontAlgn="auto" hangingPunct="1">
              <a:lnSpc>
                <a:spcPct val="100000"/>
              </a:lnSpc>
              <a:spcBef>
                <a:spcPts val="0"/>
              </a:spcBef>
              <a:spcAft>
                <a:spcPts val="0"/>
              </a:spcAft>
            </a:pPr>
            <a:r>
              <a:rPr lang="en-US" altLang="zh-CN" sz="3200" dirty="0" smtClean="0">
                <a:solidFill>
                  <a:prstClr val="white"/>
                </a:solidFill>
                <a:latin typeface="MV Boli" panose="02000500030200090000" pitchFamily="2" charset="0"/>
                <a:ea typeface="Segoe UI" panose="020B0502040204020203" pitchFamily="34" charset="0"/>
                <a:cs typeface="MV Boli" panose="02000500030200090000" pitchFamily="2" charset="0"/>
              </a:rPr>
              <a:t>BUPT</a:t>
            </a:r>
            <a:r>
              <a:rPr lang="en-US" altLang="zh-CN" sz="3200" dirty="0" smtClean="0">
                <a:solidFill>
                  <a:prstClr val="white"/>
                </a:solidFill>
                <a:latin typeface="Impact" panose="020B0806030902050204" pitchFamily="34" charset="0"/>
                <a:ea typeface="Segoe UI" panose="020B0502040204020203" pitchFamily="34" charset="0"/>
                <a:cs typeface="Segoe UI" panose="020B0502040204020203" pitchFamily="34" charset="0"/>
              </a:rPr>
              <a:t> </a:t>
            </a:r>
            <a:r>
              <a:rPr lang="en-US" altLang="zh-CN" sz="3200" dirty="0">
                <a:solidFill>
                  <a:prstClr val="white"/>
                </a:solidFill>
                <a:latin typeface="MV Boli" panose="02000500030200090000" pitchFamily="2" charset="0"/>
                <a:ea typeface="Segoe UI" panose="020B0502040204020203" pitchFamily="34" charset="0"/>
                <a:cs typeface="MV Boli" panose="02000500030200090000" pitchFamily="2" charset="0"/>
              </a:rPr>
              <a:t>TSEG</a:t>
            </a:r>
            <a:endParaRPr lang="zh-CN" altLang="en-US" sz="3200" dirty="0">
              <a:solidFill>
                <a:prstClr val="white"/>
              </a:solidFill>
              <a:latin typeface="MV Boli" panose="02000500030200090000" pitchFamily="2" charset="0"/>
              <a:ea typeface="Segoe UI" panose="020B0502040204020203" pitchFamily="34" charset="0"/>
              <a:cs typeface="MV Boli" panose="02000500030200090000" pitchFamily="2" charset="0"/>
            </a:endParaRPr>
          </a:p>
        </p:txBody>
      </p:sp>
      <p:sp>
        <p:nvSpPr>
          <p:cNvPr id="3" name="文本框 2"/>
          <p:cNvSpPr txBox="1"/>
          <p:nvPr/>
        </p:nvSpPr>
        <p:spPr>
          <a:xfrm>
            <a:off x="1812290" y="1207770"/>
            <a:ext cx="7271385" cy="1322070"/>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smtClean="0">
                <a:solidFill>
                  <a:prstClr val="white"/>
                </a:solidFill>
                <a:latin typeface="微软雅黑" panose="020B0503020204020204" pitchFamily="34" charset="-122"/>
                <a:ea typeface="微软雅黑" panose="020B0503020204020204" pitchFamily="34" charset="-122"/>
                <a:sym typeface="+mn-ea"/>
              </a:rPr>
              <a:t>软件工程 大作业说明</a:t>
            </a:r>
            <a:endParaRPr lang="en-US" altLang="zh-CN" sz="4000" b="1" dirty="0" smtClean="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4000" b="1" dirty="0" smtClean="0">
                <a:solidFill>
                  <a:prstClr val="white"/>
                </a:solidFill>
                <a:latin typeface="微软雅黑" panose="020B0503020204020204" pitchFamily="34" charset="-122"/>
                <a:ea typeface="微软雅黑" panose="020B0503020204020204" pitchFamily="34" charset="-122"/>
                <a:sym typeface="+mn-ea"/>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812569" y="3222755"/>
            <a:ext cx="5151120" cy="521970"/>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2800" b="1" dirty="0">
                <a:solidFill>
                  <a:prstClr val="white"/>
                </a:solidFill>
                <a:latin typeface="微软雅黑" panose="020B0503020204020204" pitchFamily="34" charset="-122"/>
                <a:ea typeface="微软雅黑" panose="020B0503020204020204" pitchFamily="34" charset="-122"/>
              </a:rPr>
              <a:t>课程大作业第</a:t>
            </a:r>
            <a:r>
              <a:rPr lang="en-US" altLang="zh-CN" sz="2800" b="1" dirty="0">
                <a:solidFill>
                  <a:prstClr val="white"/>
                </a:solidFill>
                <a:latin typeface="微软雅黑" panose="020B0503020204020204" pitchFamily="34" charset="-122"/>
                <a:ea typeface="微软雅黑" panose="020B0503020204020204" pitchFamily="34" charset="-122"/>
              </a:rPr>
              <a:t>1</a:t>
            </a:r>
            <a:r>
              <a:rPr lang="zh-CN" altLang="en-US" sz="2800" b="1" dirty="0">
                <a:solidFill>
                  <a:prstClr val="white"/>
                </a:solidFill>
                <a:latin typeface="微软雅黑" panose="020B0503020204020204" pitchFamily="34" charset="-122"/>
                <a:ea typeface="微软雅黑" panose="020B0503020204020204" pitchFamily="34" charset="-122"/>
              </a:rPr>
              <a:t>次</a:t>
            </a:r>
            <a:r>
              <a:rPr lang="zh-CN" altLang="en-US" sz="2800" b="1" dirty="0">
                <a:solidFill>
                  <a:prstClr val="white"/>
                </a:solidFill>
                <a:latin typeface="微软雅黑" panose="020B0503020204020204" pitchFamily="34" charset="-122"/>
                <a:ea typeface="微软雅黑" panose="020B0503020204020204" pitchFamily="34" charset="-122"/>
              </a:rPr>
              <a:t>题目</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dirty="0" smtClean="0"/>
              <a:t>作业基本</a:t>
            </a:r>
            <a:r>
              <a:rPr lang="zh-CN" altLang="en-US" dirty="0" smtClean="0"/>
              <a:t>需求</a:t>
            </a:r>
            <a:endParaRPr lang="zh-CN" altLang="en-US" dirty="0" smtClean="0"/>
          </a:p>
        </p:txBody>
      </p:sp>
      <p:sp>
        <p:nvSpPr>
          <p:cNvPr id="16393" name="Rectangle 5"/>
          <p:cNvSpPr>
            <a:spLocks noChangeArrowheads="1"/>
          </p:cNvSpPr>
          <p:nvPr/>
        </p:nvSpPr>
        <p:spPr bwMode="auto">
          <a:xfrm>
            <a:off x="1524001" y="41968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endParaRPr lang="zh-CN" altLang="zh-CN" sz="1800">
              <a:ea typeface="宋体" panose="02010600030101010101" pitchFamily="2" charset="-122"/>
            </a:endParaRPr>
          </a:p>
        </p:txBody>
      </p:sp>
      <p:sp>
        <p:nvSpPr>
          <p:cNvPr id="6" name="内容占位符 5"/>
          <p:cNvSpPr>
            <a:spLocks noGrp="1"/>
          </p:cNvSpPr>
          <p:nvPr>
            <p:ph idx="1"/>
          </p:nvPr>
        </p:nvSpPr>
        <p:spPr>
          <a:xfrm>
            <a:off x="479425" y="1052830"/>
            <a:ext cx="11243945" cy="5213350"/>
          </a:xfrm>
        </p:spPr>
        <p:txBody>
          <a:bodyPr>
            <a:noAutofit/>
          </a:bodyPr>
          <a:lstStyle/>
          <a:p>
            <a:pPr fontAlgn="auto">
              <a:lnSpc>
                <a:spcPct val="100000"/>
              </a:lnSpc>
              <a:defRPr/>
            </a:pPr>
            <a:r>
              <a:rPr lang="zh-CN" altLang="en-US" dirty="0" smtClean="0">
                <a:sym typeface="+mn-ea"/>
              </a:rPr>
              <a:t>题目</a:t>
            </a:r>
            <a:r>
              <a:rPr lang="zh-CN" altLang="en-US" dirty="0">
                <a:sym typeface="+mn-ea"/>
              </a:rPr>
              <a:t>：智能充电桩调度计费系统</a:t>
            </a:r>
            <a:endParaRPr lang="zh-CN" altLang="en-US" dirty="0"/>
          </a:p>
          <a:p>
            <a:pPr fontAlgn="auto">
              <a:lnSpc>
                <a:spcPct val="100000"/>
              </a:lnSpc>
              <a:defRPr/>
            </a:pPr>
            <a:r>
              <a:rPr lang="zh-CN" altLang="en-US" dirty="0" smtClean="0">
                <a:sym typeface="+mn-ea"/>
              </a:rPr>
              <a:t>课题基本要求</a:t>
            </a:r>
            <a:endParaRPr lang="en-US" altLang="zh-CN" dirty="0" smtClean="0"/>
          </a:p>
          <a:p>
            <a:pPr lvl="1" fontAlgn="auto">
              <a:lnSpc>
                <a:spcPct val="100000"/>
              </a:lnSpc>
              <a:defRPr/>
            </a:pPr>
            <a:r>
              <a:rPr lang="zh-CN" altLang="en-US" dirty="0">
                <a:sym typeface="+mn-ea"/>
              </a:rPr>
              <a:t>作为新型交通工具，电动汽车是未来汽车行业的发展趋势。在环境保护日益受到重视的今天，电动汽车越来越多，充电需求日益增大。充电桩作为重要基础设施，其运营管理水平直接影响着波普特大学电动汽车拥有者的使用体验以及车辆停放的管理，为此学校需要在校区设计一套智能充电桩调度计费系统，以便使得</a:t>
            </a:r>
            <a:r>
              <a:rPr lang="zh-CN" altLang="en-US" dirty="0" smtClean="0">
                <a:sym typeface="+mn-ea"/>
              </a:rPr>
              <a:t>电动车完成充电服务的时间（充电时间</a:t>
            </a:r>
            <a:r>
              <a:rPr lang="en-US" altLang="zh-CN" dirty="0" smtClean="0">
                <a:sym typeface="+mn-ea"/>
              </a:rPr>
              <a:t>+</a:t>
            </a:r>
            <a:r>
              <a:rPr lang="zh-CN" altLang="en-US" dirty="0" smtClean="0">
                <a:sym typeface="+mn-ea"/>
              </a:rPr>
              <a:t>排队时间）达到</a:t>
            </a:r>
            <a:r>
              <a:rPr lang="zh-CN" altLang="en-US" dirty="0">
                <a:sym typeface="+mn-ea"/>
              </a:rPr>
              <a:t>最短的效果。</a:t>
            </a:r>
            <a:endParaRPr lang="zh-CN" altLang="en-US" dirty="0" smtClean="0"/>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dirty="0" smtClean="0">
                <a:sym typeface="+mn-ea"/>
              </a:rPr>
              <a:t>系统需求补充说明（</a:t>
            </a:r>
            <a:r>
              <a:rPr lang="en-US" altLang="zh-CN" dirty="0" smtClean="0">
                <a:sym typeface="+mn-ea"/>
              </a:rPr>
              <a:t>1</a:t>
            </a:r>
            <a:r>
              <a:rPr lang="zh-CN" altLang="en-US" dirty="0" smtClean="0">
                <a:sym typeface="+mn-ea"/>
              </a:rPr>
              <a:t>）</a:t>
            </a:r>
            <a:endParaRPr lang="en-US" altLang="zh-CN" dirty="0" smtClean="0">
              <a:sym typeface="+mn-ea"/>
            </a:endParaRPr>
          </a:p>
        </p:txBody>
      </p:sp>
      <p:sp>
        <p:nvSpPr>
          <p:cNvPr id="16393" name="Rectangle 5"/>
          <p:cNvSpPr>
            <a:spLocks noChangeArrowheads="1"/>
          </p:cNvSpPr>
          <p:nvPr/>
        </p:nvSpPr>
        <p:spPr bwMode="auto">
          <a:xfrm>
            <a:off x="1524001" y="41968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endParaRPr lang="zh-CN" altLang="zh-CN" sz="1800">
              <a:ea typeface="宋体" panose="02010600030101010101" pitchFamily="2" charset="-122"/>
            </a:endParaRPr>
          </a:p>
        </p:txBody>
      </p:sp>
      <p:sp>
        <p:nvSpPr>
          <p:cNvPr id="6" name="内容占位符 5"/>
          <p:cNvSpPr>
            <a:spLocks noGrp="1"/>
          </p:cNvSpPr>
          <p:nvPr>
            <p:ph idx="1"/>
          </p:nvPr>
        </p:nvSpPr>
        <p:spPr>
          <a:xfrm>
            <a:off x="479425" y="1052830"/>
            <a:ext cx="6751955" cy="5213350"/>
          </a:xfrm>
        </p:spPr>
        <p:txBody>
          <a:bodyPr>
            <a:noAutofit/>
          </a:bodyPr>
          <a:lstStyle/>
          <a:p>
            <a:pPr fontAlgn="auto">
              <a:lnSpc>
                <a:spcPct val="100000"/>
              </a:lnSpc>
              <a:defRPr/>
            </a:pPr>
            <a:r>
              <a:rPr lang="zh-CN" altLang="en-US" sz="2400" dirty="0" smtClean="0"/>
              <a:t>充电站分为</a:t>
            </a:r>
            <a:r>
              <a:rPr lang="en-US" altLang="zh-CN" sz="2400" dirty="0" smtClean="0"/>
              <a:t>“</a:t>
            </a:r>
            <a:r>
              <a:rPr lang="zh-CN" altLang="en-US" sz="2400" dirty="0" smtClean="0"/>
              <a:t>等候区</a:t>
            </a:r>
            <a:r>
              <a:rPr lang="en-US" altLang="zh-CN" sz="2400" dirty="0" smtClean="0"/>
              <a:t>”</a:t>
            </a:r>
            <a:r>
              <a:rPr lang="zh-CN" altLang="en-US" sz="2400" dirty="0" smtClean="0"/>
              <a:t>和</a:t>
            </a:r>
            <a:r>
              <a:rPr lang="en-US" altLang="zh-CN" sz="2400" dirty="0" smtClean="0"/>
              <a:t>“</a:t>
            </a:r>
            <a:r>
              <a:rPr lang="zh-CN" altLang="en-US" sz="2400" dirty="0" smtClean="0"/>
              <a:t>充电区</a:t>
            </a:r>
            <a:r>
              <a:rPr lang="en-US" altLang="zh-CN" sz="2400" dirty="0" smtClean="0"/>
              <a:t>”</a:t>
            </a:r>
            <a:r>
              <a:rPr lang="zh-CN" altLang="en-US" sz="2400" dirty="0" smtClean="0"/>
              <a:t>两个部分。</a:t>
            </a:r>
            <a:endParaRPr lang="zh-CN" altLang="en-US" sz="2400" dirty="0" smtClean="0"/>
          </a:p>
          <a:p>
            <a:pPr lvl="1" fontAlgn="auto">
              <a:lnSpc>
                <a:spcPct val="100000"/>
              </a:lnSpc>
              <a:defRPr/>
            </a:pPr>
            <a:r>
              <a:rPr lang="zh-CN" altLang="en-US" sz="2000" dirty="0" smtClean="0"/>
              <a:t>假定车辆到达充电站后首先进入等候区，此时可以通过客户端软件发起充电请求（暂时不考虑等候区外的请求），等候区的容量待定（暂时考虑能容纳任意数量车辆）。用户在等候区发起充电请求后，将按照充电模式（快</a:t>
            </a:r>
            <a:r>
              <a:rPr lang="en-US" altLang="zh-CN" sz="2000" dirty="0" smtClean="0"/>
              <a:t>/</a:t>
            </a:r>
            <a:r>
              <a:rPr lang="zh-CN" altLang="en-US" sz="2000" dirty="0" smtClean="0"/>
              <a:t>慢）进入不同的等待队列，此后等待系统叫号进入充电区。</a:t>
            </a:r>
            <a:endParaRPr lang="zh-CN" altLang="en-US" sz="2000" dirty="0" smtClean="0"/>
          </a:p>
          <a:p>
            <a:pPr lvl="1" fontAlgn="auto">
              <a:lnSpc>
                <a:spcPct val="100000"/>
              </a:lnSpc>
              <a:defRPr/>
            </a:pPr>
            <a:r>
              <a:rPr lang="zh-CN" altLang="en-US" sz="2000" dirty="0" smtClean="0"/>
              <a:t>充电区安装有</a:t>
            </a:r>
            <a:r>
              <a:rPr lang="en-US" altLang="zh-CN" sz="2000" dirty="0" smtClean="0"/>
              <a:t>2</a:t>
            </a:r>
            <a:r>
              <a:rPr lang="zh-CN" altLang="en-US" sz="2000" dirty="0" smtClean="0"/>
              <a:t>个快充充电桩</a:t>
            </a:r>
            <a:r>
              <a:rPr lang="en-US" altLang="zh-CN" sz="2000" dirty="0" smtClean="0"/>
              <a:t>+3</a:t>
            </a:r>
            <a:r>
              <a:rPr lang="zh-CN" altLang="en-US" sz="2000" dirty="0" smtClean="0"/>
              <a:t>个慢充充电桩（验收时该数值可变更）。充电区面积有限，每个充电桩后仅设置</a:t>
            </a:r>
            <a:r>
              <a:rPr lang="en-US" altLang="zh-CN" sz="2000" dirty="0" smtClean="0"/>
              <a:t>4</a:t>
            </a:r>
            <a:r>
              <a:rPr lang="zh-CN" altLang="en-US" sz="2000" dirty="0" smtClean="0"/>
              <a:t>个停车位（验收时该数值可变更）供车辆等候充电。当充电区有空余车位时，系统将按照进入等候区的先后顺序从对应充电模式的等待队列中调入车辆，并根据调度策略分配充电桩，并加入对应充电桩的排队队列。</a:t>
            </a:r>
            <a:r>
              <a:rPr lang="en-US" altLang="zh-CN" sz="2000" dirty="0" smtClean="0"/>
              <a:t> </a:t>
            </a:r>
            <a:endParaRPr lang="en-US" altLang="zh-CN" sz="2000" dirty="0" smtClean="0"/>
          </a:p>
        </p:txBody>
      </p:sp>
      <p:pic>
        <p:nvPicPr>
          <p:cNvPr id="7" name="图片 6"/>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392035" y="1628775"/>
            <a:ext cx="4027805" cy="3004820"/>
          </a:xfrm>
          <a:prstGeom prst="rect">
            <a:avLst/>
          </a:prstGeom>
          <a:noFill/>
          <a:ln>
            <a:noFill/>
          </a:ln>
        </p:spPr>
      </p:pic>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dirty="0" smtClean="0">
                <a:sym typeface="+mn-ea"/>
              </a:rPr>
              <a:t>系统需求补充说明（</a:t>
            </a:r>
            <a:r>
              <a:rPr lang="en-US" altLang="zh-CN" dirty="0" smtClean="0">
                <a:sym typeface="+mn-ea"/>
              </a:rPr>
              <a:t>2</a:t>
            </a:r>
            <a:r>
              <a:rPr lang="zh-CN" altLang="en-US" dirty="0" smtClean="0">
                <a:sym typeface="+mn-ea"/>
              </a:rPr>
              <a:t>）</a:t>
            </a:r>
            <a:endParaRPr lang="en-US" altLang="zh-CN" dirty="0" smtClean="0">
              <a:sym typeface="+mn-ea"/>
            </a:endParaRPr>
          </a:p>
        </p:txBody>
      </p:sp>
      <p:sp>
        <p:nvSpPr>
          <p:cNvPr id="16393" name="Rectangle 5"/>
          <p:cNvSpPr>
            <a:spLocks noChangeArrowheads="1"/>
          </p:cNvSpPr>
          <p:nvPr/>
        </p:nvSpPr>
        <p:spPr bwMode="auto">
          <a:xfrm>
            <a:off x="1524001" y="41968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endParaRPr lang="zh-CN" altLang="zh-CN" sz="1800">
              <a:ea typeface="宋体" panose="02010600030101010101" pitchFamily="2" charset="-122"/>
            </a:endParaRPr>
          </a:p>
        </p:txBody>
      </p:sp>
      <p:sp>
        <p:nvSpPr>
          <p:cNvPr id="6" name="内容占位符 5"/>
          <p:cNvSpPr>
            <a:spLocks noGrp="1"/>
          </p:cNvSpPr>
          <p:nvPr>
            <p:ph idx="1"/>
          </p:nvPr>
        </p:nvSpPr>
        <p:spPr>
          <a:xfrm>
            <a:off x="479425" y="1052830"/>
            <a:ext cx="11148695" cy="5213350"/>
          </a:xfrm>
        </p:spPr>
        <p:txBody>
          <a:bodyPr>
            <a:noAutofit/>
          </a:bodyPr>
          <a:lstStyle/>
          <a:p>
            <a:pPr fontAlgn="auto">
              <a:lnSpc>
                <a:spcPct val="100000"/>
              </a:lnSpc>
              <a:defRPr/>
            </a:pPr>
            <a:r>
              <a:rPr lang="zh-CN" altLang="en-US" sz="2400" dirty="0">
                <a:sym typeface="+mn-ea"/>
              </a:rPr>
              <a:t>调度策略</a:t>
            </a:r>
            <a:endParaRPr lang="zh-CN" altLang="en-US" sz="2400" dirty="0">
              <a:sym typeface="+mn-ea"/>
            </a:endParaRPr>
          </a:p>
          <a:p>
            <a:pPr lvl="1" fontAlgn="auto">
              <a:lnSpc>
                <a:spcPct val="100000"/>
              </a:lnSpc>
              <a:defRPr/>
            </a:pPr>
            <a:r>
              <a:rPr lang="zh-CN" altLang="en-US" sz="2055" dirty="0">
                <a:sym typeface="+mn-ea"/>
              </a:rPr>
              <a:t>对应充电模式下被调度车辆完成充电所需时间（等待时长</a:t>
            </a:r>
            <a:r>
              <a:rPr lang="en-US" altLang="zh-CN" sz="2055" dirty="0">
                <a:sym typeface="+mn-ea"/>
              </a:rPr>
              <a:t>+</a:t>
            </a:r>
            <a:r>
              <a:rPr lang="zh-CN" altLang="en-US" sz="2055" dirty="0">
                <a:sym typeface="+mn-ea"/>
              </a:rPr>
              <a:t>自己充电时长）最短。</a:t>
            </a:r>
            <a:endParaRPr lang="en-US" altLang="zh-CN" sz="2055" dirty="0"/>
          </a:p>
          <a:p>
            <a:pPr fontAlgn="auto">
              <a:lnSpc>
                <a:spcPct val="100000"/>
              </a:lnSpc>
              <a:defRPr/>
            </a:pPr>
            <a:r>
              <a:rPr lang="zh-CN" altLang="en-US" sz="2400" dirty="0">
                <a:sym typeface="+mn-ea"/>
              </a:rPr>
              <a:t>计费规则</a:t>
            </a:r>
            <a:endParaRPr lang="zh-CN" altLang="en-US" sz="2400" dirty="0">
              <a:sym typeface="+mn-ea"/>
            </a:endParaRPr>
          </a:p>
          <a:p>
            <a:pPr lvl="1" fontAlgn="auto">
              <a:lnSpc>
                <a:spcPct val="100000"/>
              </a:lnSpc>
              <a:defRPr/>
            </a:pPr>
            <a:r>
              <a:rPr lang="zh-CN" altLang="en-US" sz="2055" dirty="0">
                <a:sym typeface="+mn-ea"/>
              </a:rPr>
              <a:t>总费用</a:t>
            </a:r>
            <a:r>
              <a:rPr lang="en-US" altLang="zh-CN" sz="2055" dirty="0">
                <a:sym typeface="+mn-ea"/>
              </a:rPr>
              <a:t>=</a:t>
            </a:r>
            <a:r>
              <a:rPr lang="zh-CN" altLang="en-US" sz="2055" dirty="0">
                <a:sym typeface="+mn-ea"/>
              </a:rPr>
              <a:t>充电费</a:t>
            </a:r>
            <a:r>
              <a:rPr lang="en-US" altLang="zh-CN" sz="2055" dirty="0">
                <a:sym typeface="+mn-ea"/>
              </a:rPr>
              <a:t>+</a:t>
            </a:r>
            <a:r>
              <a:rPr lang="zh-CN" altLang="en-US" sz="2055" dirty="0">
                <a:sym typeface="+mn-ea"/>
              </a:rPr>
              <a:t>服务费。电价随时间段变化。</a:t>
            </a:r>
            <a:endParaRPr lang="en-US" altLang="zh-CN" sz="2055" dirty="0"/>
          </a:p>
          <a:p>
            <a:pPr fontAlgn="auto">
              <a:lnSpc>
                <a:spcPct val="100000"/>
              </a:lnSpc>
              <a:defRPr/>
            </a:pPr>
            <a:r>
              <a:rPr lang="zh-CN" altLang="en-US" sz="2400" dirty="0">
                <a:sym typeface="+mn-ea"/>
              </a:rPr>
              <a:t>系统</a:t>
            </a:r>
            <a:r>
              <a:rPr lang="zh-CN" altLang="en-US" sz="2400" dirty="0">
                <a:sym typeface="+mn-ea"/>
              </a:rPr>
              <a:t>组成</a:t>
            </a:r>
            <a:endParaRPr lang="zh-CN" altLang="en-US" sz="2400" dirty="0">
              <a:sym typeface="+mn-ea"/>
            </a:endParaRPr>
          </a:p>
          <a:p>
            <a:pPr lvl="1" fontAlgn="auto">
              <a:lnSpc>
                <a:spcPct val="100000"/>
              </a:lnSpc>
              <a:defRPr/>
            </a:pPr>
            <a:r>
              <a:rPr lang="zh-CN" altLang="en-US" sz="2055" dirty="0">
                <a:sym typeface="+mn-ea"/>
              </a:rPr>
              <a:t>由服务器端、用户客户端、管理员客户端组成。</a:t>
            </a:r>
            <a:endParaRPr lang="en-US" altLang="zh-CN" sz="2055" dirty="0"/>
          </a:p>
          <a:p>
            <a:pPr lvl="2" fontAlgn="auto">
              <a:lnSpc>
                <a:spcPct val="100000"/>
              </a:lnSpc>
              <a:defRPr/>
            </a:pPr>
            <a:r>
              <a:rPr lang="zh-CN" altLang="en-US" sz="1710" dirty="0" smtClean="0">
                <a:sym typeface="+mn-ea"/>
              </a:rPr>
              <a:t>充电站配置一名管理员，负责管理、查看充电桩运行状态，并完成报表展示。</a:t>
            </a:r>
            <a:endParaRPr lang="en-US" altLang="zh-CN" sz="1710" dirty="0" smtClean="0"/>
          </a:p>
          <a:p>
            <a:pPr fontAlgn="auto">
              <a:lnSpc>
                <a:spcPct val="100000"/>
              </a:lnSpc>
              <a:defRPr/>
            </a:pPr>
            <a:r>
              <a:rPr lang="zh-CN" altLang="en-US" sz="2400" dirty="0" smtClean="0">
                <a:sym typeface="+mn-ea"/>
              </a:rPr>
              <a:t>其他</a:t>
            </a:r>
            <a:r>
              <a:rPr lang="zh-CN" altLang="en-US" sz="2400" dirty="0" smtClean="0">
                <a:sym typeface="+mn-ea"/>
              </a:rPr>
              <a:t>需求</a:t>
            </a:r>
            <a:endParaRPr lang="zh-CN" altLang="en-US" sz="2400" dirty="0" smtClean="0">
              <a:sym typeface="+mn-ea"/>
            </a:endParaRPr>
          </a:p>
          <a:p>
            <a:pPr lvl="1" fontAlgn="auto">
              <a:lnSpc>
                <a:spcPct val="100000"/>
              </a:lnSpc>
              <a:defRPr/>
            </a:pPr>
            <a:r>
              <a:rPr lang="zh-CN" altLang="en-US" sz="2055" dirty="0" smtClean="0">
                <a:sym typeface="+mn-ea"/>
              </a:rPr>
              <a:t>用户可能修改充电请求（充电模式</a:t>
            </a:r>
            <a:r>
              <a:rPr lang="en-US" altLang="zh-CN" sz="2055" dirty="0" smtClean="0">
                <a:sym typeface="+mn-ea"/>
              </a:rPr>
              <a:t>/</a:t>
            </a:r>
            <a:r>
              <a:rPr lang="zh-CN" altLang="en-US" sz="2055" dirty="0" smtClean="0">
                <a:sym typeface="+mn-ea"/>
              </a:rPr>
              <a:t>充电电量）甚至取消充电，需要软件设计</a:t>
            </a:r>
            <a:r>
              <a:rPr lang="zh-CN" altLang="en-US" sz="2055" smtClean="0">
                <a:sym typeface="+mn-ea"/>
              </a:rPr>
              <a:t>方设计合理的</a:t>
            </a:r>
            <a:r>
              <a:rPr lang="zh-CN" altLang="en-US" sz="2055" dirty="0" smtClean="0">
                <a:sym typeface="+mn-ea"/>
              </a:rPr>
              <a:t>策略；</a:t>
            </a:r>
            <a:endParaRPr lang="en-US" altLang="zh-CN" sz="2055" dirty="0" smtClean="0"/>
          </a:p>
          <a:p>
            <a:pPr lvl="1" fontAlgn="auto">
              <a:lnSpc>
                <a:spcPct val="100000"/>
              </a:lnSpc>
              <a:defRPr/>
            </a:pPr>
            <a:r>
              <a:rPr lang="zh-CN" altLang="en-US" sz="2055" dirty="0" smtClean="0">
                <a:sym typeface="+mn-ea"/>
              </a:rPr>
              <a:t>充电桩存在出现故障的可能，需要软件设计方设计合理的再调度策略，兼顾公平和效率。</a:t>
            </a:r>
            <a:endParaRPr lang="en-US" altLang="zh-CN" sz="1710" dirty="0" smtClean="0"/>
          </a:p>
        </p:txBody>
      </p:sp>
    </p:spTree>
  </p:cSld>
  <p:clrMapOvr>
    <a:masterClrMapping/>
  </p:clrMapOvr>
  <p:transition>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dirty="0" smtClean="0">
                <a:sym typeface="+mn-ea"/>
              </a:rPr>
              <a:t>第</a:t>
            </a:r>
            <a:r>
              <a:rPr lang="en-US" altLang="zh-CN" dirty="0" smtClean="0">
                <a:sym typeface="+mn-ea"/>
              </a:rPr>
              <a:t>1</a:t>
            </a:r>
            <a:r>
              <a:rPr lang="zh-CN" altLang="en-US" dirty="0" smtClean="0">
                <a:sym typeface="+mn-ea"/>
              </a:rPr>
              <a:t>次作业基本</a:t>
            </a:r>
            <a:r>
              <a:rPr lang="zh-CN" altLang="en-US" dirty="0">
                <a:sym typeface="+mn-ea"/>
              </a:rPr>
              <a:t>要求</a:t>
            </a:r>
            <a:endParaRPr lang="en-US" altLang="zh-CN" dirty="0" smtClean="0">
              <a:sym typeface="+mn-ea"/>
            </a:endParaRPr>
          </a:p>
        </p:txBody>
      </p:sp>
      <p:sp>
        <p:nvSpPr>
          <p:cNvPr id="16393" name="Rectangle 5"/>
          <p:cNvSpPr>
            <a:spLocks noChangeArrowheads="1"/>
          </p:cNvSpPr>
          <p:nvPr/>
        </p:nvSpPr>
        <p:spPr bwMode="auto">
          <a:xfrm>
            <a:off x="1524001" y="41968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endParaRPr lang="zh-CN" altLang="zh-CN" sz="1800">
              <a:ea typeface="宋体" panose="02010600030101010101" pitchFamily="2" charset="-122"/>
            </a:endParaRPr>
          </a:p>
        </p:txBody>
      </p:sp>
      <p:sp>
        <p:nvSpPr>
          <p:cNvPr id="6" name="内容占位符 5"/>
          <p:cNvSpPr>
            <a:spLocks noGrp="1"/>
          </p:cNvSpPr>
          <p:nvPr>
            <p:ph idx="1"/>
          </p:nvPr>
        </p:nvSpPr>
        <p:spPr>
          <a:xfrm>
            <a:off x="479425" y="837565"/>
            <a:ext cx="11148695" cy="5766435"/>
          </a:xfrm>
        </p:spPr>
        <p:txBody>
          <a:bodyPr>
            <a:noAutofit/>
          </a:bodyPr>
          <a:lstStyle/>
          <a:p>
            <a:pPr fontAlgn="auto">
              <a:lnSpc>
                <a:spcPct val="100000"/>
              </a:lnSpc>
              <a:defRPr/>
            </a:pPr>
            <a:r>
              <a:rPr lang="zh-CN" altLang="en-US" sz="1800" dirty="0" smtClean="0"/>
              <a:t>作业要求</a:t>
            </a:r>
            <a:endParaRPr lang="zh-CN" altLang="en-US" sz="1800" dirty="0" smtClean="0"/>
          </a:p>
          <a:p>
            <a:pPr lvl="1" fontAlgn="auto">
              <a:lnSpc>
                <a:spcPct val="100000"/>
              </a:lnSpc>
              <a:defRPr/>
            </a:pPr>
            <a:r>
              <a:rPr lang="zh-CN" altLang="en-US" sz="1600" dirty="0" smtClean="0"/>
              <a:t>以模拟的（虚构的或者真实的）波普特大学充电站为调研对象，深入了解（构思）其运营机制，并重点关注提供充电计费和调度服务的规则和要求，兼顾顾客的方便使用要求和充电站管理方提供服务的各种可能的要求，给出各小组对于充电站进行计费和调度服务的说明：业务介绍及业务流程，具体任务如下（占本次作业的</a:t>
            </a:r>
            <a:r>
              <a:rPr lang="en-US" altLang="zh-CN" sz="1600" dirty="0" smtClean="0"/>
              <a:t>25%</a:t>
            </a:r>
            <a:r>
              <a:rPr lang="zh-CN" altLang="en-US" sz="1600" dirty="0" smtClean="0"/>
              <a:t>）：</a:t>
            </a:r>
            <a:endParaRPr lang="zh-CN" altLang="en-US" sz="1600" dirty="0" smtClean="0"/>
          </a:p>
          <a:p>
            <a:pPr lvl="2" fontAlgn="auto">
              <a:lnSpc>
                <a:spcPct val="100000"/>
              </a:lnSpc>
              <a:defRPr/>
            </a:pPr>
            <a:r>
              <a:rPr lang="zh-CN" altLang="en-US" sz="1400" dirty="0" smtClean="0"/>
              <a:t>任务</a:t>
            </a:r>
            <a:r>
              <a:rPr lang="en-US" altLang="zh-CN" sz="1400" dirty="0" smtClean="0"/>
              <a:t>1</a:t>
            </a:r>
            <a:r>
              <a:rPr lang="zh-CN" altLang="en-US" sz="1400" dirty="0" smtClean="0"/>
              <a:t>：根据业务背景及业务流程的调研结果（不计分作业的内容）给出当前系统（充电站）的核心业务介绍（参照教材模板要求书写）；</a:t>
            </a:r>
            <a:r>
              <a:rPr lang="en-US" altLang="zh-CN" sz="1400" dirty="0" smtClean="0"/>
              <a:t>5%</a:t>
            </a:r>
            <a:endParaRPr lang="en-US" altLang="zh-CN" sz="1400" dirty="0" smtClean="0"/>
          </a:p>
          <a:p>
            <a:pPr lvl="2" fontAlgn="auto">
              <a:lnSpc>
                <a:spcPct val="100000"/>
              </a:lnSpc>
              <a:defRPr/>
            </a:pPr>
            <a:r>
              <a:rPr lang="zh-CN" altLang="en-US" sz="1400" dirty="0" smtClean="0"/>
              <a:t>任务</a:t>
            </a:r>
            <a:r>
              <a:rPr lang="en-US" altLang="zh-CN" sz="1400" dirty="0" smtClean="0"/>
              <a:t>2</a:t>
            </a:r>
            <a:r>
              <a:rPr lang="zh-CN" altLang="en-US" sz="1400" dirty="0" smtClean="0"/>
              <a:t>：使用</a:t>
            </a:r>
            <a:r>
              <a:rPr lang="en-US" altLang="zh-CN" sz="1400" dirty="0" smtClean="0"/>
              <a:t>UML</a:t>
            </a:r>
            <a:r>
              <a:rPr lang="zh-CN" altLang="en-US" sz="1400" dirty="0" smtClean="0"/>
              <a:t>的类图，对充电站业务背景进行领域模型的分析及构建；</a:t>
            </a:r>
            <a:r>
              <a:rPr lang="en-US" altLang="zh-CN" sz="1400" dirty="0" smtClean="0"/>
              <a:t>10%</a:t>
            </a:r>
            <a:endParaRPr lang="en-US" altLang="zh-CN" sz="1400" dirty="0" smtClean="0"/>
          </a:p>
          <a:p>
            <a:pPr lvl="2" fontAlgn="auto">
              <a:lnSpc>
                <a:spcPct val="100000"/>
              </a:lnSpc>
              <a:defRPr/>
            </a:pPr>
            <a:r>
              <a:rPr lang="zh-CN" altLang="en-US" sz="1400" dirty="0" smtClean="0"/>
              <a:t>任务</a:t>
            </a:r>
            <a:r>
              <a:rPr lang="en-US" altLang="zh-CN" sz="1400" dirty="0" smtClean="0"/>
              <a:t>3</a:t>
            </a:r>
            <a:r>
              <a:rPr lang="zh-CN" altLang="en-US" sz="1400" dirty="0" smtClean="0"/>
              <a:t>：使用</a:t>
            </a:r>
            <a:r>
              <a:rPr lang="en-US" altLang="zh-CN" sz="1400" dirty="0" smtClean="0"/>
              <a:t>UML </a:t>
            </a:r>
            <a:r>
              <a:rPr lang="zh-CN" altLang="en-US" sz="1400" dirty="0" smtClean="0"/>
              <a:t>活动图，给出当前系统的客户使用充电服务的业务流程：从申请服务开始，到结束一次充电服务，</a:t>
            </a:r>
            <a:r>
              <a:rPr lang="en-US" altLang="zh-CN" sz="1400" dirty="0" smtClean="0"/>
              <a:t>10%</a:t>
            </a:r>
            <a:r>
              <a:rPr lang="zh-CN" altLang="en-US" sz="1400" dirty="0" smtClean="0"/>
              <a:t>；</a:t>
            </a:r>
            <a:endParaRPr lang="zh-CN" altLang="en-US" sz="1400" dirty="0" smtClean="0"/>
          </a:p>
          <a:p>
            <a:pPr lvl="1" algn="l" fontAlgn="auto">
              <a:lnSpc>
                <a:spcPct val="100000"/>
              </a:lnSpc>
              <a:buClrTx/>
              <a:buSzTx/>
              <a:defRPr/>
            </a:pPr>
            <a:r>
              <a:rPr lang="zh-CN" altLang="en-US" sz="1600" dirty="0" smtClean="0"/>
              <a:t>给出充电站计费调度系统的用例模型，具体任务如下（占本次作业的65%）：</a:t>
            </a:r>
            <a:endParaRPr lang="zh-CN" altLang="en-US" sz="1600" dirty="0" smtClean="0"/>
          </a:p>
          <a:p>
            <a:pPr lvl="2" algn="l" fontAlgn="auto">
              <a:lnSpc>
                <a:spcPct val="100000"/>
              </a:lnSpc>
              <a:buClrTx/>
              <a:buSzTx/>
              <a:defRPr/>
            </a:pPr>
            <a:r>
              <a:rPr lang="zh-CN" altLang="en-US" sz="1400" dirty="0" smtClean="0"/>
              <a:t>任务：完成系统中各个角色对应的用例图（15%）、系统顺序图（SSD）（25%)以及操作契约(25%)；</a:t>
            </a:r>
            <a:endParaRPr lang="zh-CN" altLang="en-US" sz="1400" dirty="0" smtClean="0"/>
          </a:p>
          <a:p>
            <a:pPr lvl="1" algn="l" fontAlgn="auto">
              <a:lnSpc>
                <a:spcPct val="100000"/>
              </a:lnSpc>
              <a:buClrTx/>
              <a:buSzTx/>
              <a:defRPr/>
            </a:pPr>
            <a:r>
              <a:rPr lang="zh-CN" altLang="en-US" sz="1540" dirty="0" smtClean="0"/>
              <a:t>文档规范性要求，按照模板的要求书写文档，5%；</a:t>
            </a:r>
            <a:endParaRPr lang="zh-CN" altLang="en-US" sz="1540" dirty="0" smtClean="0"/>
          </a:p>
          <a:p>
            <a:pPr lvl="1" algn="l" fontAlgn="auto">
              <a:lnSpc>
                <a:spcPct val="100000"/>
              </a:lnSpc>
              <a:buClrTx/>
              <a:buSzTx/>
              <a:defRPr/>
            </a:pPr>
            <a:r>
              <a:rPr lang="zh-CN" altLang="en-US" sz="1540" dirty="0" smtClean="0"/>
              <a:t>工作量统计，按照文档模板中的表格说明填写，5%</a:t>
            </a:r>
            <a:endParaRPr lang="zh-CN" altLang="en-US" sz="1540" dirty="0" smtClean="0"/>
          </a:p>
          <a:p>
            <a:pPr algn="l" fontAlgn="auto">
              <a:lnSpc>
                <a:spcPct val="100000"/>
              </a:lnSpc>
              <a:buClrTx/>
              <a:buSzTx/>
              <a:defRPr/>
            </a:pPr>
            <a:r>
              <a:rPr lang="zh-CN" altLang="en-US" sz="1800" dirty="0" smtClean="0"/>
              <a:t>说明</a:t>
            </a:r>
            <a:endParaRPr lang="zh-CN" altLang="en-US" sz="1800" dirty="0" smtClean="0"/>
          </a:p>
          <a:p>
            <a:pPr lvl="1" algn="l" fontAlgn="auto">
              <a:lnSpc>
                <a:spcPct val="100000"/>
              </a:lnSpc>
              <a:buClrTx/>
              <a:buSzTx/>
              <a:defRPr/>
            </a:pPr>
            <a:r>
              <a:rPr lang="zh-CN" altLang="en-US" sz="1540" dirty="0" smtClean="0"/>
              <a:t>组长和组员协商分配每个组员（包含组长）的工作，每个同学的工作量尽量均等；</a:t>
            </a:r>
            <a:endParaRPr lang="zh-CN" altLang="en-US" sz="1540" dirty="0" smtClean="0"/>
          </a:p>
          <a:p>
            <a:pPr lvl="1" algn="l" fontAlgn="auto">
              <a:lnSpc>
                <a:spcPct val="100000"/>
              </a:lnSpc>
              <a:buClrTx/>
              <a:buSzTx/>
              <a:defRPr/>
            </a:pPr>
            <a:r>
              <a:rPr lang="zh-CN" altLang="en-US" sz="1540" dirty="0" smtClean="0"/>
              <a:t>组长负责检查并汇总组员作业内容，并形成一个完整的需求分析模型文档并提交；</a:t>
            </a:r>
            <a:endParaRPr lang="zh-CN" altLang="en-US" sz="1540" dirty="0" smtClean="0"/>
          </a:p>
          <a:p>
            <a:pPr lvl="1" algn="l" fontAlgn="auto">
              <a:lnSpc>
                <a:spcPct val="100000"/>
              </a:lnSpc>
              <a:buClrTx/>
              <a:buSzTx/>
              <a:defRPr/>
            </a:pPr>
            <a:r>
              <a:rPr lang="zh-CN" altLang="en-US" sz="1540" dirty="0" smtClean="0"/>
              <a:t>本次作业占本学期平时作业的比重：25%</a:t>
            </a:r>
            <a:endParaRPr lang="zh-CN" altLang="en-US" sz="1540" dirty="0" smtClean="0"/>
          </a:p>
        </p:txBody>
      </p:sp>
    </p:spTree>
  </p:cSld>
  <p:clrMapOvr>
    <a:masterClrMapping/>
  </p:clrMapOvr>
  <p:transition>
    <p:push/>
  </p:transition>
  <p:timing>
    <p:tnLst>
      <p:par>
        <p:cTn id="1" dur="indefinite" restart="never" nodeType="tmRoot"/>
      </p:par>
    </p:tnLst>
  </p:timing>
</p:sld>
</file>

<file path=ppt/tags/tag1.xml><?xml version="1.0" encoding="utf-8"?>
<p:tagLst xmlns:p="http://schemas.openxmlformats.org/presentationml/2006/main">
  <p:tag name="commondata" val="eyJoZGlkIjoiMjQ0ZTU5YmU0ZDZiN2JiMDdkNjJjNzRjNjQ5OGFmM2EifQ=="/>
</p:tagLst>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2015SE</Template>
  <TotalTime>0</TotalTime>
  <Words>1312</Words>
  <Application>WPS 演示</Application>
  <PresentationFormat>宽屏</PresentationFormat>
  <Paragraphs>48</Paragraphs>
  <Slides>5</Slides>
  <Notes>9</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5</vt:i4>
      </vt:variant>
    </vt:vector>
  </HeadingPairs>
  <TitlesOfParts>
    <vt:vector size="20" baseType="lpstr">
      <vt:lpstr>Arial</vt:lpstr>
      <vt:lpstr>宋体</vt:lpstr>
      <vt:lpstr>Wingdings</vt:lpstr>
      <vt:lpstr>华文细黑</vt:lpstr>
      <vt:lpstr>微软雅黑</vt:lpstr>
      <vt:lpstr>MV Boli</vt:lpstr>
      <vt:lpstr>Segoe UI</vt:lpstr>
      <vt:lpstr>Impact</vt:lpstr>
      <vt:lpstr>Times New Roman</vt:lpstr>
      <vt:lpstr>Arial Unicode MS</vt:lpstr>
      <vt:lpstr>Calibri Light</vt:lpstr>
      <vt:lpstr>Calibri</vt:lpstr>
      <vt:lpstr>Wingdings</vt:lpstr>
      <vt:lpstr>2015SE</vt:lpstr>
      <vt:lpstr>Office 主题</vt:lpstr>
      <vt:lpstr>PowerPoint 演示文稿</vt:lpstr>
      <vt:lpstr>工程过程</vt:lpstr>
      <vt:lpstr>作业基本需求</vt:lpstr>
      <vt:lpstr>系统需求补充说明（1）</vt:lpstr>
      <vt:lpstr>系统需求补充说明（2）</vt:lpstr>
    </vt:vector>
  </TitlesOfParts>
  <Company>bupt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 Software Engineering</dc:title>
  <dc:creator>xiao ding</dc:creator>
  <cp:lastModifiedBy>徐鹏</cp:lastModifiedBy>
  <cp:revision>225</cp:revision>
  <dcterms:created xsi:type="dcterms:W3CDTF">2008-02-20T09:21:00Z</dcterms:created>
  <dcterms:modified xsi:type="dcterms:W3CDTF">2026-04-01T09:51:33Z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2CFFBEA3CEC2459A9194B364BCF532E9_12</vt:lpwstr>
  </property>
  <property fmtid="{D5CDD505-2E9C-101B-9397-08002B2CF9AE}" pid="3" name="KSOProductBuildVer">
    <vt:lpwstr>2052-12.1.0.23542</vt:lpwstr>
  </property>
</Properties>
</file>